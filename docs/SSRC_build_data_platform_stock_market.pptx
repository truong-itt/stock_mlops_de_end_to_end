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Roboto" charset="1" panose="02000000000000000000"/>
      <p:regular r:id="rId38"/>
    </p:embeddedFont>
    <p:embeddedFont>
      <p:font typeface="Roboto Bold" charset="1" panose="02000000000000000000"/>
      <p:regular r:id="rId39"/>
    </p:embeddedFont>
    <p:embeddedFont>
      <p:font typeface="Times New Roman Bold" charset="1" panose="02020803070505020304"/>
      <p:regular r:id="rId44"/>
    </p:embeddedFont>
    <p:embeddedFont>
      <p:font typeface="Times New Roman" charset="1" panose="02020603050405020304"/>
      <p:regular r:id="rId45"/>
    </p:embeddedFont>
    <p:embeddedFont>
      <p:font typeface="Noto Sans" charset="1" panose="020B0502040504020204"/>
      <p:regular r:id="rId47"/>
    </p:embeddedFont>
    <p:embeddedFont>
      <p:font typeface="JetBrains Mono" charset="1" panose="020105090201020500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notesSlides/notesSlide2.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3.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4.xml" Type="http://schemas.openxmlformats.org/officeDocument/2006/relationships/notesSlide"/><Relationship Id="rId5" Target="tableStyles.xml" Type="http://schemas.openxmlformats.org/officeDocument/2006/relationships/tableStyles"/><Relationship Id="rId50" Target="notesSlides/notesSlide5.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3.jpe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3.jpe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3.jpeg" Type="http://schemas.openxmlformats.org/officeDocument/2006/relationships/image"/><Relationship Id="rId5" Target="../media/image10.png" Type="http://schemas.openxmlformats.org/officeDocument/2006/relationships/image"/><Relationship Id="rId6"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https://arxiv.org/abs/0710.3742"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15.png" Type="http://schemas.openxmlformats.org/officeDocument/2006/relationships/image"/><Relationship Id="rId7"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3.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23.png" Type="http://schemas.openxmlformats.org/officeDocument/2006/relationships/image"/><Relationship Id="rId5" Target="../media/image9.png" Type="http://schemas.openxmlformats.org/officeDocument/2006/relationships/image"/><Relationship Id="rId6" Target="../media/image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9.png" Type="http://schemas.openxmlformats.org/officeDocument/2006/relationships/image"/><Relationship Id="rId9" Target="../media/image3.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22.png" Type="http://schemas.openxmlformats.org/officeDocument/2006/relationships/image"/><Relationship Id="rId9" Target="../media/image3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9.png" Type="http://schemas.openxmlformats.org/officeDocument/2006/relationships/image"/><Relationship Id="rId7" Target="../media/image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9.png" Type="http://schemas.openxmlformats.org/officeDocument/2006/relationships/image"/><Relationship Id="rId9" Target="../media/image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8.jpeg" Type="http://schemas.openxmlformats.org/officeDocument/2006/relationships/image"/><Relationship Id="rId4" Target="../media/image9.png" Type="http://schemas.openxmlformats.org/officeDocument/2006/relationships/image"/><Relationship Id="rId5" Target="../media/image3.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3.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9.png" Type="http://schemas.openxmlformats.org/officeDocument/2006/relationships/image"/><Relationship Id="rId4" Target="../media/image3.jpeg" Type="http://schemas.openxmlformats.org/officeDocument/2006/relationships/image"/><Relationship Id="rId5" Target="../media/image3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9.png" Type="http://schemas.openxmlformats.org/officeDocument/2006/relationships/image"/><Relationship Id="rId4" Target="../media/image3.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66207" y="500005"/>
            <a:ext cx="3878227" cy="1105145"/>
            <a:chOff x="0" y="0"/>
            <a:chExt cx="4506036" cy="1284046"/>
          </a:xfrm>
        </p:grpSpPr>
        <p:sp>
          <p:nvSpPr>
            <p:cNvPr name="Freeform 4" id="4" descr="White text on a black background  AI-generated content may be incorrect."/>
            <p:cNvSpPr/>
            <p:nvPr/>
          </p:nvSpPr>
          <p:spPr>
            <a:xfrm flipH="false" flipV="false" rot="0">
              <a:off x="0" y="0"/>
              <a:ext cx="4506087" cy="1284097"/>
            </a:xfrm>
            <a:custGeom>
              <a:avLst/>
              <a:gdLst/>
              <a:ahLst/>
              <a:cxnLst/>
              <a:rect r="r" b="b" t="t" l="l"/>
              <a:pathLst>
                <a:path h="1284097" w="4506087">
                  <a:moveTo>
                    <a:pt x="0" y="0"/>
                  </a:moveTo>
                  <a:lnTo>
                    <a:pt x="4506087" y="0"/>
                  </a:lnTo>
                  <a:lnTo>
                    <a:pt x="4506087" y="1284097"/>
                  </a:lnTo>
                  <a:lnTo>
                    <a:pt x="0" y="1284097"/>
                  </a:lnTo>
                  <a:lnTo>
                    <a:pt x="0" y="0"/>
                  </a:lnTo>
                  <a:close/>
                </a:path>
              </a:pathLst>
            </a:custGeom>
            <a:blipFill>
              <a:blip r:embed="rId3"/>
              <a:stretch>
                <a:fillRect l="0" t="-4" r="1" b="-1"/>
              </a:stretch>
            </a:blipFill>
          </p:spPr>
        </p:sp>
      </p:grpSp>
      <p:sp>
        <p:nvSpPr>
          <p:cNvPr name="TextBox 5" id="5"/>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a:t>
            </a:r>
          </a:p>
        </p:txBody>
      </p:sp>
      <p:grpSp>
        <p:nvGrpSpPr>
          <p:cNvPr name="Group 6" id="6"/>
          <p:cNvGrpSpPr/>
          <p:nvPr/>
        </p:nvGrpSpPr>
        <p:grpSpPr>
          <a:xfrm rot="0">
            <a:off x="2101835" y="4568040"/>
            <a:ext cx="14717882" cy="1754944"/>
            <a:chOff x="0" y="0"/>
            <a:chExt cx="19623843" cy="2339925"/>
          </a:xfrm>
        </p:grpSpPr>
        <p:sp>
          <p:nvSpPr>
            <p:cNvPr name="Freeform 7" id="7"/>
            <p:cNvSpPr/>
            <p:nvPr/>
          </p:nvSpPr>
          <p:spPr>
            <a:xfrm flipH="false" flipV="false" rot="0">
              <a:off x="0" y="0"/>
              <a:ext cx="19623842" cy="2339924"/>
            </a:xfrm>
            <a:custGeom>
              <a:avLst/>
              <a:gdLst/>
              <a:ahLst/>
              <a:cxnLst/>
              <a:rect r="r" b="b" t="t" l="l"/>
              <a:pathLst>
                <a:path h="2339924" w="19623842">
                  <a:moveTo>
                    <a:pt x="0" y="0"/>
                  </a:moveTo>
                  <a:lnTo>
                    <a:pt x="19623842" y="0"/>
                  </a:lnTo>
                  <a:lnTo>
                    <a:pt x="19623842" y="2339924"/>
                  </a:lnTo>
                  <a:lnTo>
                    <a:pt x="0" y="2339924"/>
                  </a:lnTo>
                  <a:close/>
                </a:path>
              </a:pathLst>
            </a:custGeom>
            <a:blipFill>
              <a:blip r:embed="rId4">
                <a:alphaModFix amt="0"/>
              </a:blip>
              <a:stretch>
                <a:fillRect l="0" t="-154587" r="-8724" b="-100751"/>
              </a:stretch>
            </a:blipFill>
          </p:spPr>
        </p:sp>
        <p:sp>
          <p:nvSpPr>
            <p:cNvPr name="TextBox 8" id="8"/>
            <p:cNvSpPr txBox="true"/>
            <p:nvPr/>
          </p:nvSpPr>
          <p:spPr>
            <a:xfrm>
              <a:off x="0" y="-9525"/>
              <a:ext cx="19623843" cy="2349450"/>
            </a:xfrm>
            <a:prstGeom prst="rect">
              <a:avLst/>
            </a:prstGeom>
          </p:spPr>
          <p:txBody>
            <a:bodyPr anchor="ctr" rtlCol="false" tIns="0" lIns="0" bIns="0" rIns="0"/>
            <a:lstStyle/>
            <a:p>
              <a:pPr algn="ctr">
                <a:lnSpc>
                  <a:spcPts val="6120"/>
                </a:lnSpc>
              </a:pPr>
              <a:r>
                <a:rPr lang="en-US" b="true" sz="5100" spc="74">
                  <a:solidFill>
                    <a:srgbClr val="FFFFFF"/>
                  </a:solidFill>
                  <a:latin typeface="Roboto Bold"/>
                  <a:ea typeface="Roboto Bold"/>
                  <a:cs typeface="Roboto Bold"/>
                  <a:sym typeface="Roboto Bold"/>
                </a:rPr>
                <a:t> THEO DÕI GIÁ CỔ PHIẾU THEO THỜI GIAN THỰC TÍCH HỢP MLOPS</a:t>
              </a:r>
            </a:p>
          </p:txBody>
        </p:sp>
      </p:grpSp>
      <p:grpSp>
        <p:nvGrpSpPr>
          <p:cNvPr name="Group 9" id="9"/>
          <p:cNvGrpSpPr/>
          <p:nvPr/>
        </p:nvGrpSpPr>
        <p:grpSpPr>
          <a:xfrm rot="0">
            <a:off x="6676949" y="6381598"/>
            <a:ext cx="4934102" cy="457200"/>
            <a:chOff x="0" y="0"/>
            <a:chExt cx="6578803" cy="609600"/>
          </a:xfrm>
        </p:grpSpPr>
        <p:sp>
          <p:nvSpPr>
            <p:cNvPr name="Freeform 10" id="10"/>
            <p:cNvSpPr/>
            <p:nvPr/>
          </p:nvSpPr>
          <p:spPr>
            <a:xfrm flipH="false" flipV="false" rot="0">
              <a:off x="0" y="0"/>
              <a:ext cx="6578802" cy="609600"/>
            </a:xfrm>
            <a:custGeom>
              <a:avLst/>
              <a:gdLst/>
              <a:ahLst/>
              <a:cxnLst/>
              <a:rect r="r" b="b" t="t" l="l"/>
              <a:pathLst>
                <a:path h="609600" w="6578802">
                  <a:moveTo>
                    <a:pt x="0" y="0"/>
                  </a:moveTo>
                  <a:lnTo>
                    <a:pt x="6578802" y="0"/>
                  </a:lnTo>
                  <a:lnTo>
                    <a:pt x="6578802" y="609600"/>
                  </a:lnTo>
                  <a:lnTo>
                    <a:pt x="0" y="609600"/>
                  </a:lnTo>
                  <a:close/>
                </a:path>
              </a:pathLst>
            </a:custGeom>
            <a:blipFill>
              <a:blip r:embed="rId4">
                <a:alphaModFix amt="0"/>
              </a:blip>
              <a:stretch>
                <a:fillRect l="0" t="-160282" r="0" b="-160282"/>
              </a:stretch>
            </a:blipFill>
          </p:spPr>
        </p:sp>
        <p:sp>
          <p:nvSpPr>
            <p:cNvPr name="TextBox 11" id="11"/>
            <p:cNvSpPr txBox="true"/>
            <p:nvPr/>
          </p:nvSpPr>
          <p:spPr>
            <a:xfrm>
              <a:off x="0" y="-9525"/>
              <a:ext cx="6578803" cy="619125"/>
            </a:xfrm>
            <a:prstGeom prst="rect">
              <a:avLst/>
            </a:prstGeom>
          </p:spPr>
          <p:txBody>
            <a:bodyPr anchor="ctr" rtlCol="false" tIns="0" lIns="0" bIns="0" rIns="0"/>
            <a:lstStyle/>
            <a:p>
              <a:pPr algn="ctr">
                <a:lnSpc>
                  <a:spcPts val="2640"/>
                </a:lnSpc>
              </a:pPr>
              <a:r>
                <a:rPr lang="en-US" sz="2200" b="true">
                  <a:solidFill>
                    <a:srgbClr val="FFFFFF"/>
                  </a:solidFill>
                  <a:latin typeface="Roboto Bold"/>
                  <a:ea typeface="Roboto Bold"/>
                  <a:cs typeface="Roboto Bold"/>
                  <a:sym typeface="Roboto Bold"/>
                </a:rPr>
                <a:t>GVHD: ThS. TRƯƠNG VĨNH LINH</a:t>
              </a:r>
            </a:p>
          </p:txBody>
        </p:sp>
      </p:grpSp>
      <p:grpSp>
        <p:nvGrpSpPr>
          <p:cNvPr name="Group 12" id="12"/>
          <p:cNvGrpSpPr/>
          <p:nvPr/>
        </p:nvGrpSpPr>
        <p:grpSpPr>
          <a:xfrm rot="0">
            <a:off x="12382805" y="8287207"/>
            <a:ext cx="5143500" cy="457200"/>
            <a:chOff x="0" y="0"/>
            <a:chExt cx="6858000" cy="609600"/>
          </a:xfrm>
        </p:grpSpPr>
        <p:sp>
          <p:nvSpPr>
            <p:cNvPr name="Freeform 13" id="13"/>
            <p:cNvSpPr/>
            <p:nvPr/>
          </p:nvSpPr>
          <p:spPr>
            <a:xfrm flipH="false" flipV="false" rot="0">
              <a:off x="0" y="0"/>
              <a:ext cx="6858000" cy="609600"/>
            </a:xfrm>
            <a:custGeom>
              <a:avLst/>
              <a:gdLst/>
              <a:ahLst/>
              <a:cxnLst/>
              <a:rect r="r" b="b" t="t" l="l"/>
              <a:pathLst>
                <a:path h="609600" w="6858000">
                  <a:moveTo>
                    <a:pt x="0" y="0"/>
                  </a:moveTo>
                  <a:lnTo>
                    <a:pt x="6858000" y="0"/>
                  </a:lnTo>
                  <a:lnTo>
                    <a:pt x="6858000" y="609600"/>
                  </a:lnTo>
                  <a:lnTo>
                    <a:pt x="0" y="609600"/>
                  </a:lnTo>
                  <a:close/>
                </a:path>
              </a:pathLst>
            </a:custGeom>
            <a:blipFill>
              <a:blip r:embed="rId4">
                <a:alphaModFix amt="0"/>
              </a:blip>
              <a:stretch>
                <a:fillRect l="0" t="-169206" r="0" b="-169206"/>
              </a:stretch>
            </a:blipFill>
          </p:spPr>
        </p:sp>
        <p:sp>
          <p:nvSpPr>
            <p:cNvPr name="TextBox 14" id="14"/>
            <p:cNvSpPr txBox="true"/>
            <p:nvPr/>
          </p:nvSpPr>
          <p:spPr>
            <a:xfrm>
              <a:off x="0" y="-9525"/>
              <a:ext cx="6858000" cy="619125"/>
            </a:xfrm>
            <a:prstGeom prst="rect">
              <a:avLst/>
            </a:prstGeom>
          </p:spPr>
          <p:txBody>
            <a:bodyPr anchor="ctr" rtlCol="false" tIns="0" lIns="0" bIns="0" rIns="0"/>
            <a:lstStyle/>
            <a:p>
              <a:pPr algn="ctr">
                <a:lnSpc>
                  <a:spcPts val="2640"/>
                </a:lnSpc>
              </a:pPr>
              <a:r>
                <a:rPr lang="en-US" sz="2200" b="true">
                  <a:solidFill>
                    <a:srgbClr val="FFFFFF"/>
                  </a:solidFill>
                  <a:latin typeface="Roboto Bold"/>
                  <a:ea typeface="Roboto Bold"/>
                  <a:cs typeface="Roboto Bold"/>
                  <a:sym typeface="Roboto Bold"/>
                </a:rPr>
                <a:t>HỒ DUY TRƯỜNG 22671851</a:t>
              </a:r>
            </a:p>
          </p:txBody>
        </p:sp>
      </p:grpSp>
      <p:sp>
        <p:nvSpPr>
          <p:cNvPr name="TextBox 15" id="15"/>
          <p:cNvSpPr txBox="true"/>
          <p:nvPr/>
        </p:nvSpPr>
        <p:spPr>
          <a:xfrm rot="0">
            <a:off x="4777130" y="3728375"/>
            <a:ext cx="8957151" cy="781050"/>
          </a:xfrm>
          <a:prstGeom prst="rect">
            <a:avLst/>
          </a:prstGeom>
        </p:spPr>
        <p:txBody>
          <a:bodyPr anchor="t" rtlCol="false" tIns="0" lIns="0" bIns="0" rIns="0">
            <a:spAutoFit/>
          </a:bodyPr>
          <a:lstStyle/>
          <a:p>
            <a:pPr algn="ctr">
              <a:lnSpc>
                <a:spcPts val="6120"/>
              </a:lnSpc>
              <a:spcBef>
                <a:spcPct val="0"/>
              </a:spcBef>
            </a:pPr>
            <a:r>
              <a:rPr lang="en-US" b="true" sz="5100">
                <a:solidFill>
                  <a:srgbClr val="FFFFFF"/>
                </a:solidFill>
                <a:latin typeface="Roboto Bold"/>
                <a:ea typeface="Roboto Bold"/>
                <a:cs typeface="Roboto Bold"/>
                <a:sym typeface="Roboto Bold"/>
              </a:rPr>
              <a:t>XÂY DỰNG NỀN TẢNG DỮ LIỆU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53" y="-6353"/>
            <a:ext cx="18300697" cy="10299697"/>
            <a:chOff x="0" y="0"/>
            <a:chExt cx="24400929" cy="13732929"/>
          </a:xfrm>
        </p:grpSpPr>
        <p:sp>
          <p:nvSpPr>
            <p:cNvPr name="Freeform 3" id="3"/>
            <p:cNvSpPr/>
            <p:nvPr/>
          </p:nvSpPr>
          <p:spPr>
            <a:xfrm flipH="false" flipV="false" rot="0">
              <a:off x="8509" y="8509"/>
              <a:ext cx="24384001" cy="13716001"/>
            </a:xfrm>
            <a:custGeom>
              <a:avLst/>
              <a:gdLst/>
              <a:ahLst/>
              <a:cxnLst/>
              <a:rect r="r" b="b" t="t" l="l"/>
              <a:pathLst>
                <a:path h="13716001" w="24384001">
                  <a:moveTo>
                    <a:pt x="0" y="0"/>
                  </a:moveTo>
                  <a:lnTo>
                    <a:pt x="24384001" y="0"/>
                  </a:lnTo>
                  <a:lnTo>
                    <a:pt x="24384001" y="13716001"/>
                  </a:lnTo>
                  <a:lnTo>
                    <a:pt x="0" y="13716001"/>
                  </a:lnTo>
                  <a:close/>
                </a:path>
              </a:pathLst>
            </a:custGeom>
            <a:solidFill>
              <a:srgbClr val="FFFFFF"/>
            </a:solidFill>
          </p:spPr>
        </p:sp>
      </p:grpSp>
      <p:grpSp>
        <p:nvGrpSpPr>
          <p:cNvPr name="Group 4" id="4"/>
          <p:cNvGrpSpPr/>
          <p:nvPr/>
        </p:nvGrpSpPr>
        <p:grpSpPr>
          <a:xfrm rot="0">
            <a:off x="-79218" y="-6353"/>
            <a:ext cx="18288000" cy="10287000"/>
            <a:chOff x="0" y="0"/>
            <a:chExt cx="24384000" cy="13716000"/>
          </a:xfrm>
        </p:grpSpPr>
        <p:sp>
          <p:nvSpPr>
            <p:cNvPr name="Freeform 5" id="5" descr="gen-dedup-30e60e427f20ca5c648f5f877cdb2037.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54" b="0"/>
              </a:stretch>
            </a:blipFill>
          </p:spPr>
        </p:sp>
      </p:grpSp>
      <p:grpSp>
        <p:nvGrpSpPr>
          <p:cNvPr name="Group 6" id="6"/>
          <p:cNvGrpSpPr/>
          <p:nvPr/>
        </p:nvGrpSpPr>
        <p:grpSpPr>
          <a:xfrm rot="0">
            <a:off x="1028700" y="1261986"/>
            <a:ext cx="6415281" cy="766266"/>
            <a:chOff x="0" y="0"/>
            <a:chExt cx="8553708" cy="1021688"/>
          </a:xfrm>
        </p:grpSpPr>
        <p:sp>
          <p:nvSpPr>
            <p:cNvPr name="Freeform 7" id="7"/>
            <p:cNvSpPr/>
            <p:nvPr/>
          </p:nvSpPr>
          <p:spPr>
            <a:xfrm flipH="false" flipV="false" rot="0">
              <a:off x="0" y="0"/>
              <a:ext cx="8553707" cy="1021687"/>
            </a:xfrm>
            <a:custGeom>
              <a:avLst/>
              <a:gdLst/>
              <a:ahLst/>
              <a:cxnLst/>
              <a:rect r="r" b="b" t="t" l="l"/>
              <a:pathLst>
                <a:path h="1021687" w="8553707">
                  <a:moveTo>
                    <a:pt x="0" y="0"/>
                  </a:moveTo>
                  <a:lnTo>
                    <a:pt x="8553707" y="0"/>
                  </a:lnTo>
                  <a:lnTo>
                    <a:pt x="8553707" y="1021687"/>
                  </a:lnTo>
                  <a:lnTo>
                    <a:pt x="0" y="1021687"/>
                  </a:lnTo>
                  <a:close/>
                </a:path>
              </a:pathLst>
            </a:custGeom>
            <a:blipFill>
              <a:blip r:embed="rId4">
                <a:alphaModFix amt="0"/>
              </a:blip>
              <a:stretch>
                <a:fillRect l="0" t="-99145" r="15961" b="-75040"/>
              </a:stretch>
            </a:blipFill>
          </p:spPr>
        </p:sp>
        <p:sp>
          <p:nvSpPr>
            <p:cNvPr name="TextBox 8" id="8"/>
            <p:cNvSpPr txBox="true"/>
            <p:nvPr/>
          </p:nvSpPr>
          <p:spPr>
            <a:xfrm>
              <a:off x="0" y="0"/>
              <a:ext cx="8553708" cy="1021688"/>
            </a:xfrm>
            <a:prstGeom prst="rect">
              <a:avLst/>
            </a:prstGeom>
          </p:spPr>
          <p:txBody>
            <a:bodyPr anchor="ctr" rtlCol="false" tIns="0" lIns="0" bIns="0" rIns="0"/>
            <a:lstStyle/>
            <a:p>
              <a:pPr algn="l">
                <a:lnSpc>
                  <a:spcPts val="4799"/>
                </a:lnSpc>
              </a:pPr>
              <a:r>
                <a:rPr lang="en-US" sz="3999" b="true">
                  <a:solidFill>
                    <a:srgbClr val="000000"/>
                  </a:solidFill>
                  <a:latin typeface="Roboto Bold"/>
                  <a:ea typeface="Roboto Bold"/>
                  <a:cs typeface="Roboto Bold"/>
                  <a:sym typeface="Roboto Bold"/>
                </a:rPr>
                <a:t>TỔNG QUAN NỘI DUNG</a:t>
              </a:r>
            </a:p>
          </p:txBody>
        </p:sp>
      </p:grpSp>
      <p:grpSp>
        <p:nvGrpSpPr>
          <p:cNvPr name="Group 9" id="9"/>
          <p:cNvGrpSpPr/>
          <p:nvPr/>
        </p:nvGrpSpPr>
        <p:grpSpPr>
          <a:xfrm rot="0">
            <a:off x="1028700" y="3412269"/>
            <a:ext cx="4721455" cy="1029801"/>
            <a:chOff x="0" y="0"/>
            <a:chExt cx="5957220" cy="1299335"/>
          </a:xfrm>
        </p:grpSpPr>
        <p:sp>
          <p:nvSpPr>
            <p:cNvPr name="Freeform 10" id="10"/>
            <p:cNvSpPr/>
            <p:nvPr/>
          </p:nvSpPr>
          <p:spPr>
            <a:xfrm flipH="false" flipV="false" rot="0">
              <a:off x="0" y="0"/>
              <a:ext cx="5957220" cy="1299334"/>
            </a:xfrm>
            <a:custGeom>
              <a:avLst/>
              <a:gdLst/>
              <a:ahLst/>
              <a:cxnLst/>
              <a:rect r="r" b="b" t="t" l="l"/>
              <a:pathLst>
                <a:path h="1299334" w="5957220">
                  <a:moveTo>
                    <a:pt x="0" y="0"/>
                  </a:moveTo>
                  <a:lnTo>
                    <a:pt x="5957220" y="0"/>
                  </a:lnTo>
                  <a:lnTo>
                    <a:pt x="5957220" y="1299334"/>
                  </a:lnTo>
                  <a:lnTo>
                    <a:pt x="0" y="1299334"/>
                  </a:lnTo>
                  <a:close/>
                </a:path>
              </a:pathLst>
            </a:custGeom>
            <a:blipFill>
              <a:blip r:embed="rId4">
                <a:alphaModFix amt="0"/>
              </a:blip>
              <a:stretch>
                <a:fillRect l="0" t="-41938" r="32257" b="20903"/>
              </a:stretch>
            </a:blipFill>
          </p:spPr>
        </p:sp>
        <p:sp>
          <p:nvSpPr>
            <p:cNvPr name="TextBox 11" id="11"/>
            <p:cNvSpPr txBox="true"/>
            <p:nvPr/>
          </p:nvSpPr>
          <p:spPr>
            <a:xfrm>
              <a:off x="0" y="-9525"/>
              <a:ext cx="5957220" cy="13088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LÝ DO CHỌN ĐỀ TÀI</a:t>
              </a:r>
            </a:p>
          </p:txBody>
        </p:sp>
      </p:grpSp>
      <p:grpSp>
        <p:nvGrpSpPr>
          <p:cNvPr name="Group 12" id="12"/>
          <p:cNvGrpSpPr/>
          <p:nvPr/>
        </p:nvGrpSpPr>
        <p:grpSpPr>
          <a:xfrm rot="0">
            <a:off x="1028700" y="5037850"/>
            <a:ext cx="5004095" cy="1029801"/>
            <a:chOff x="0" y="0"/>
            <a:chExt cx="6313836" cy="1299335"/>
          </a:xfrm>
        </p:grpSpPr>
        <p:sp>
          <p:nvSpPr>
            <p:cNvPr name="Freeform 13" id="13"/>
            <p:cNvSpPr/>
            <p:nvPr/>
          </p:nvSpPr>
          <p:spPr>
            <a:xfrm flipH="false" flipV="false" rot="0">
              <a:off x="0" y="0"/>
              <a:ext cx="6313837" cy="1299334"/>
            </a:xfrm>
            <a:custGeom>
              <a:avLst/>
              <a:gdLst/>
              <a:ahLst/>
              <a:cxnLst/>
              <a:rect r="r" b="b" t="t" l="l"/>
              <a:pathLst>
                <a:path h="1299334" w="6313837">
                  <a:moveTo>
                    <a:pt x="0" y="0"/>
                  </a:moveTo>
                  <a:lnTo>
                    <a:pt x="6313837" y="0"/>
                  </a:lnTo>
                  <a:lnTo>
                    <a:pt x="6313837" y="1299334"/>
                  </a:lnTo>
                  <a:lnTo>
                    <a:pt x="0" y="1299334"/>
                  </a:lnTo>
                  <a:close/>
                </a:path>
              </a:pathLst>
            </a:custGeom>
            <a:blipFill>
              <a:blip r:embed="rId4">
                <a:alphaModFix amt="0"/>
              </a:blip>
              <a:stretch>
                <a:fillRect l="0" t="-33236" r="45275" b="29606"/>
              </a:stretch>
            </a:blipFill>
          </p:spPr>
        </p:sp>
        <p:sp>
          <p:nvSpPr>
            <p:cNvPr name="TextBox 14" id="14"/>
            <p:cNvSpPr txBox="true"/>
            <p:nvPr/>
          </p:nvSpPr>
          <p:spPr>
            <a:xfrm>
              <a:off x="0" y="-9525"/>
              <a:ext cx="6313836" cy="13088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CÔNG NGHỆ SỬ DỤNG</a:t>
              </a:r>
            </a:p>
          </p:txBody>
        </p:sp>
      </p:grpSp>
      <p:grpSp>
        <p:nvGrpSpPr>
          <p:cNvPr name="Group 15" id="15"/>
          <p:cNvGrpSpPr/>
          <p:nvPr/>
        </p:nvGrpSpPr>
        <p:grpSpPr>
          <a:xfrm rot="0">
            <a:off x="1028700" y="4265075"/>
            <a:ext cx="4721455" cy="1029801"/>
            <a:chOff x="0" y="0"/>
            <a:chExt cx="5957220" cy="1299335"/>
          </a:xfrm>
        </p:grpSpPr>
        <p:sp>
          <p:nvSpPr>
            <p:cNvPr name="Freeform 16" id="16"/>
            <p:cNvSpPr/>
            <p:nvPr/>
          </p:nvSpPr>
          <p:spPr>
            <a:xfrm flipH="false" flipV="false" rot="0">
              <a:off x="0" y="0"/>
              <a:ext cx="5957219" cy="1299334"/>
            </a:xfrm>
            <a:custGeom>
              <a:avLst/>
              <a:gdLst/>
              <a:ahLst/>
              <a:cxnLst/>
              <a:rect r="r" b="b" t="t" l="l"/>
              <a:pathLst>
                <a:path h="1299334" w="5957219">
                  <a:moveTo>
                    <a:pt x="0" y="0"/>
                  </a:moveTo>
                  <a:lnTo>
                    <a:pt x="5957219" y="0"/>
                  </a:lnTo>
                  <a:lnTo>
                    <a:pt x="5957219" y="1299334"/>
                  </a:lnTo>
                  <a:lnTo>
                    <a:pt x="0" y="1299334"/>
                  </a:lnTo>
                  <a:close/>
                </a:path>
              </a:pathLst>
            </a:custGeom>
            <a:blipFill>
              <a:blip r:embed="rId4">
                <a:alphaModFix amt="0"/>
              </a:blip>
              <a:stretch>
                <a:fillRect l="0" t="-41993" r="32196" b="20848"/>
              </a:stretch>
            </a:blipFill>
          </p:spPr>
        </p:sp>
        <p:sp>
          <p:nvSpPr>
            <p:cNvPr name="TextBox 17" id="17"/>
            <p:cNvSpPr txBox="true"/>
            <p:nvPr/>
          </p:nvSpPr>
          <p:spPr>
            <a:xfrm>
              <a:off x="0" y="-9525"/>
              <a:ext cx="5957220" cy="13088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THIẾT KẾ HỆ THỐNG</a:t>
              </a:r>
            </a:p>
          </p:txBody>
        </p:sp>
      </p:grpSp>
      <p:grpSp>
        <p:nvGrpSpPr>
          <p:cNvPr name="Group 18" id="18"/>
          <p:cNvGrpSpPr/>
          <p:nvPr/>
        </p:nvGrpSpPr>
        <p:grpSpPr>
          <a:xfrm rot="0">
            <a:off x="6725942" y="3412269"/>
            <a:ext cx="4523479" cy="1029801"/>
            <a:chOff x="0" y="0"/>
            <a:chExt cx="5707427" cy="1299335"/>
          </a:xfrm>
        </p:grpSpPr>
        <p:sp>
          <p:nvSpPr>
            <p:cNvPr name="Freeform 19" id="19"/>
            <p:cNvSpPr/>
            <p:nvPr/>
          </p:nvSpPr>
          <p:spPr>
            <a:xfrm flipH="false" flipV="false" rot="0">
              <a:off x="0" y="0"/>
              <a:ext cx="5707426" cy="1299334"/>
            </a:xfrm>
            <a:custGeom>
              <a:avLst/>
              <a:gdLst/>
              <a:ahLst/>
              <a:cxnLst/>
              <a:rect r="r" b="b" t="t" l="l"/>
              <a:pathLst>
                <a:path h="1299334" w="5707426">
                  <a:moveTo>
                    <a:pt x="0" y="0"/>
                  </a:moveTo>
                  <a:lnTo>
                    <a:pt x="5707426" y="0"/>
                  </a:lnTo>
                  <a:lnTo>
                    <a:pt x="5707426" y="1299334"/>
                  </a:lnTo>
                  <a:lnTo>
                    <a:pt x="0" y="1299334"/>
                  </a:lnTo>
                  <a:close/>
                </a:path>
              </a:pathLst>
            </a:custGeom>
            <a:blipFill>
              <a:blip r:embed="rId4">
                <a:alphaModFix amt="0"/>
              </a:blip>
              <a:stretch>
                <a:fillRect l="0" t="-30566" r="42579" b="32275"/>
              </a:stretch>
            </a:blipFill>
          </p:spPr>
        </p:sp>
        <p:sp>
          <p:nvSpPr>
            <p:cNvPr name="TextBox 20" id="20"/>
            <p:cNvSpPr txBox="true"/>
            <p:nvPr/>
          </p:nvSpPr>
          <p:spPr>
            <a:xfrm>
              <a:off x="0" y="-9525"/>
              <a:ext cx="5707427" cy="13088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KẾT QUẢ HIỆN THỰC</a:t>
              </a:r>
            </a:p>
          </p:txBody>
        </p:sp>
      </p:grpSp>
      <p:grpSp>
        <p:nvGrpSpPr>
          <p:cNvPr name="Group 21" id="21"/>
          <p:cNvGrpSpPr/>
          <p:nvPr/>
        </p:nvGrpSpPr>
        <p:grpSpPr>
          <a:xfrm rot="0">
            <a:off x="6725942" y="4358428"/>
            <a:ext cx="4366786" cy="586919"/>
            <a:chOff x="0" y="0"/>
            <a:chExt cx="5509721" cy="740535"/>
          </a:xfrm>
        </p:grpSpPr>
        <p:sp>
          <p:nvSpPr>
            <p:cNvPr name="Freeform 22" id="22"/>
            <p:cNvSpPr/>
            <p:nvPr/>
          </p:nvSpPr>
          <p:spPr>
            <a:xfrm flipH="false" flipV="false" rot="0">
              <a:off x="0" y="0"/>
              <a:ext cx="5509721" cy="740534"/>
            </a:xfrm>
            <a:custGeom>
              <a:avLst/>
              <a:gdLst/>
              <a:ahLst/>
              <a:cxnLst/>
              <a:rect r="r" b="b" t="t" l="l"/>
              <a:pathLst>
                <a:path h="740534" w="5509721">
                  <a:moveTo>
                    <a:pt x="0" y="0"/>
                  </a:moveTo>
                  <a:lnTo>
                    <a:pt x="5509721" y="0"/>
                  </a:lnTo>
                  <a:lnTo>
                    <a:pt x="5509721" y="740534"/>
                  </a:lnTo>
                  <a:lnTo>
                    <a:pt x="0" y="740534"/>
                  </a:lnTo>
                  <a:close/>
                </a:path>
              </a:pathLst>
            </a:custGeom>
            <a:blipFill>
              <a:blip r:embed="rId4">
                <a:alphaModFix amt="0"/>
              </a:blip>
              <a:stretch>
                <a:fillRect l="0" t="-91710" r="14253" b="-56907"/>
              </a:stretch>
            </a:blipFill>
          </p:spPr>
        </p:sp>
        <p:sp>
          <p:nvSpPr>
            <p:cNvPr name="TextBox 23" id="23"/>
            <p:cNvSpPr txBox="true"/>
            <p:nvPr/>
          </p:nvSpPr>
          <p:spPr>
            <a:xfrm>
              <a:off x="0" y="-9525"/>
              <a:ext cx="5509721" cy="7500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KẾT LUẬN</a:t>
              </a:r>
            </a:p>
          </p:txBody>
        </p:sp>
      </p:grpSp>
      <p:grpSp>
        <p:nvGrpSpPr>
          <p:cNvPr name="Group 24" id="24"/>
          <p:cNvGrpSpPr/>
          <p:nvPr/>
        </p:nvGrpSpPr>
        <p:grpSpPr>
          <a:xfrm rot="0">
            <a:off x="6725942" y="4867496"/>
            <a:ext cx="2964241" cy="1029801"/>
            <a:chOff x="0" y="0"/>
            <a:chExt cx="3740082" cy="1299335"/>
          </a:xfrm>
        </p:grpSpPr>
        <p:sp>
          <p:nvSpPr>
            <p:cNvPr name="Freeform 25" id="25"/>
            <p:cNvSpPr/>
            <p:nvPr/>
          </p:nvSpPr>
          <p:spPr>
            <a:xfrm flipH="false" flipV="false" rot="0">
              <a:off x="0" y="0"/>
              <a:ext cx="3740081" cy="1299334"/>
            </a:xfrm>
            <a:custGeom>
              <a:avLst/>
              <a:gdLst/>
              <a:ahLst/>
              <a:cxnLst/>
              <a:rect r="r" b="b" t="t" l="l"/>
              <a:pathLst>
                <a:path h="1299334" w="3740081">
                  <a:moveTo>
                    <a:pt x="0" y="0"/>
                  </a:moveTo>
                  <a:lnTo>
                    <a:pt x="3740081" y="0"/>
                  </a:lnTo>
                  <a:lnTo>
                    <a:pt x="3740081" y="1299334"/>
                  </a:lnTo>
                  <a:lnTo>
                    <a:pt x="0" y="1299334"/>
                  </a:lnTo>
                  <a:close/>
                </a:path>
              </a:pathLst>
            </a:custGeom>
            <a:blipFill>
              <a:blip r:embed="rId4">
                <a:alphaModFix amt="0"/>
              </a:blip>
              <a:stretch>
                <a:fillRect l="0" t="-11332" r="46669" b="51509"/>
              </a:stretch>
            </a:blipFill>
          </p:spPr>
        </p:sp>
        <p:sp>
          <p:nvSpPr>
            <p:cNvPr name="TextBox 26" id="26"/>
            <p:cNvSpPr txBox="true"/>
            <p:nvPr/>
          </p:nvSpPr>
          <p:spPr>
            <a:xfrm>
              <a:off x="0" y="-9525"/>
              <a:ext cx="3740082" cy="1308860"/>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000000"/>
                  </a:solidFill>
                  <a:latin typeface="Roboto"/>
                  <a:ea typeface="Roboto"/>
                  <a:cs typeface="Roboto"/>
                  <a:sym typeface="Roboto"/>
                </a:rPr>
                <a:t>TỔNG KẾT</a:t>
              </a:r>
            </a:p>
          </p:txBody>
        </p:sp>
      </p:grpSp>
      <p:grpSp>
        <p:nvGrpSpPr>
          <p:cNvPr name="Group 27" id="27"/>
          <p:cNvGrpSpPr/>
          <p:nvPr/>
        </p:nvGrpSpPr>
        <p:grpSpPr>
          <a:xfrm rot="0">
            <a:off x="14287500" y="9506102"/>
            <a:ext cx="3238805" cy="207628"/>
            <a:chOff x="0" y="0"/>
            <a:chExt cx="4318406" cy="276837"/>
          </a:xfrm>
        </p:grpSpPr>
        <p:sp>
          <p:nvSpPr>
            <p:cNvPr name="Freeform 28" id="28"/>
            <p:cNvSpPr/>
            <p:nvPr/>
          </p:nvSpPr>
          <p:spPr>
            <a:xfrm flipH="false" flipV="false" rot="0">
              <a:off x="0" y="0"/>
              <a:ext cx="4318407" cy="276837"/>
            </a:xfrm>
            <a:custGeom>
              <a:avLst/>
              <a:gdLst/>
              <a:ahLst/>
              <a:cxnLst/>
              <a:rect r="r" b="b" t="t" l="l"/>
              <a:pathLst>
                <a:path h="276837" w="4318407">
                  <a:moveTo>
                    <a:pt x="0" y="0"/>
                  </a:moveTo>
                  <a:lnTo>
                    <a:pt x="4318407" y="0"/>
                  </a:lnTo>
                  <a:lnTo>
                    <a:pt x="4318407" y="276837"/>
                  </a:lnTo>
                  <a:lnTo>
                    <a:pt x="0" y="276837"/>
                  </a:lnTo>
                  <a:close/>
                </a:path>
              </a:pathLst>
            </a:custGeom>
            <a:blipFill>
              <a:blip r:embed="rId4">
                <a:alphaModFix amt="0"/>
              </a:blip>
              <a:stretch>
                <a:fillRect l="0" t="-260349" r="0" b="-247549"/>
              </a:stretch>
            </a:blipFill>
          </p:spPr>
        </p:sp>
        <p:sp>
          <p:nvSpPr>
            <p:cNvPr name="TextBox 29" id="29"/>
            <p:cNvSpPr txBox="true"/>
            <p:nvPr/>
          </p:nvSpPr>
          <p:spPr>
            <a:xfrm>
              <a:off x="0" y="-9525"/>
              <a:ext cx="4318406" cy="286362"/>
            </a:xfrm>
            <a:prstGeom prst="rect">
              <a:avLst/>
            </a:prstGeom>
          </p:spPr>
          <p:txBody>
            <a:bodyPr anchor="ctr" rtlCol="false" tIns="0" lIns="0" bIns="0" rIns="0"/>
            <a:lstStyle/>
            <a:p>
              <a:pPr algn="r">
                <a:lnSpc>
                  <a:spcPts val="1320"/>
                </a:lnSpc>
              </a:pPr>
              <a:r>
                <a:rPr lang="en-US" sz="1100">
                  <a:solidFill>
                    <a:srgbClr val="FFFFFF"/>
                  </a:solidFill>
                  <a:latin typeface="Roboto"/>
                  <a:ea typeface="Roboto"/>
                  <a:cs typeface="Roboto"/>
                  <a:sym typeface="Roboto"/>
                </a:rPr>
                <a:t>ĐỒ ÁN TỐT NGHIỆP 2025-2026</a:t>
              </a:r>
            </a:p>
          </p:txBody>
        </p:sp>
      </p:grpSp>
      <p:grpSp>
        <p:nvGrpSpPr>
          <p:cNvPr name="Group 30" id="30"/>
          <p:cNvGrpSpPr/>
          <p:nvPr/>
        </p:nvGrpSpPr>
        <p:grpSpPr>
          <a:xfrm rot="0">
            <a:off x="478231" y="9620402"/>
            <a:ext cx="191110" cy="424780"/>
            <a:chOff x="0" y="0"/>
            <a:chExt cx="254813" cy="566374"/>
          </a:xfrm>
        </p:grpSpPr>
        <p:sp>
          <p:nvSpPr>
            <p:cNvPr name="Freeform 31" id="31"/>
            <p:cNvSpPr/>
            <p:nvPr/>
          </p:nvSpPr>
          <p:spPr>
            <a:xfrm flipH="false" flipV="false" rot="0">
              <a:off x="0" y="0"/>
              <a:ext cx="254813" cy="566373"/>
            </a:xfrm>
            <a:custGeom>
              <a:avLst/>
              <a:gdLst/>
              <a:ahLst/>
              <a:cxnLst/>
              <a:rect r="r" b="b" t="t" l="l"/>
              <a:pathLst>
                <a:path h="566373" w="254813">
                  <a:moveTo>
                    <a:pt x="0" y="0"/>
                  </a:moveTo>
                  <a:lnTo>
                    <a:pt x="254813" y="0"/>
                  </a:lnTo>
                  <a:lnTo>
                    <a:pt x="254813" y="566373"/>
                  </a:lnTo>
                  <a:lnTo>
                    <a:pt x="0" y="566373"/>
                  </a:lnTo>
                  <a:close/>
                </a:path>
              </a:pathLst>
            </a:custGeom>
            <a:blipFill>
              <a:blip r:embed="rId4">
                <a:alphaModFix amt="0"/>
              </a:blip>
              <a:stretch>
                <a:fillRect l="-193101" t="0" r="-193100" b="14755"/>
              </a:stretch>
            </a:blipFill>
          </p:spPr>
        </p:sp>
        <p:sp>
          <p:nvSpPr>
            <p:cNvPr name="TextBox 32" id="32"/>
            <p:cNvSpPr txBox="true"/>
            <p:nvPr/>
          </p:nvSpPr>
          <p:spPr>
            <a:xfrm>
              <a:off x="0" y="-9525"/>
              <a:ext cx="254813"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25" b="0"/>
              </a:stretch>
            </a:blipFill>
          </p:spPr>
        </p:sp>
      </p:grpSp>
      <p:grpSp>
        <p:nvGrpSpPr>
          <p:cNvPr name="Group 4" id="4"/>
          <p:cNvGrpSpPr/>
          <p:nvPr/>
        </p:nvGrpSpPr>
        <p:grpSpPr>
          <a:xfrm rot="0">
            <a:off x="666598" y="495605"/>
            <a:ext cx="3448202" cy="981151"/>
            <a:chOff x="0" y="0"/>
            <a:chExt cx="4597603" cy="1308202"/>
          </a:xfrm>
        </p:grpSpPr>
        <p:sp>
          <p:nvSpPr>
            <p:cNvPr name="Freeform 5" id="5"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4"/>
              <a:stretch>
                <a:fillRect l="0" t="0" r="1" b="-117"/>
              </a:stretch>
            </a:blipFill>
          </p:spPr>
        </p:sp>
      </p:grpSp>
      <p:grpSp>
        <p:nvGrpSpPr>
          <p:cNvPr name="Group 6" id="6"/>
          <p:cNvGrpSpPr/>
          <p:nvPr/>
        </p:nvGrpSpPr>
        <p:grpSpPr>
          <a:xfrm rot="0">
            <a:off x="7870241" y="3238805"/>
            <a:ext cx="2553005" cy="742088"/>
            <a:chOff x="0" y="0"/>
            <a:chExt cx="3404006" cy="989451"/>
          </a:xfrm>
        </p:grpSpPr>
        <p:sp>
          <p:nvSpPr>
            <p:cNvPr name="Freeform 7" id="7"/>
            <p:cNvSpPr/>
            <p:nvPr/>
          </p:nvSpPr>
          <p:spPr>
            <a:xfrm flipH="false" flipV="false" rot="0">
              <a:off x="0" y="0"/>
              <a:ext cx="3404007" cy="989451"/>
            </a:xfrm>
            <a:custGeom>
              <a:avLst/>
              <a:gdLst/>
              <a:ahLst/>
              <a:cxnLst/>
              <a:rect r="r" b="b" t="t" l="l"/>
              <a:pathLst>
                <a:path h="989451" w="3404007">
                  <a:moveTo>
                    <a:pt x="0" y="0"/>
                  </a:moveTo>
                  <a:lnTo>
                    <a:pt x="3404007" y="0"/>
                  </a:lnTo>
                  <a:lnTo>
                    <a:pt x="3404007" y="989451"/>
                  </a:lnTo>
                  <a:lnTo>
                    <a:pt x="0" y="989451"/>
                  </a:lnTo>
                  <a:close/>
                </a:path>
              </a:pathLst>
            </a:custGeom>
            <a:blipFill>
              <a:blip r:embed="rId5">
                <a:alphaModFix amt="0"/>
              </a:blip>
              <a:stretch>
                <a:fillRect l="0" t="-26556" r="0" b="-7512"/>
              </a:stretch>
            </a:blipFill>
          </p:spPr>
        </p:sp>
        <p:sp>
          <p:nvSpPr>
            <p:cNvPr name="TextBox 8" id="8"/>
            <p:cNvSpPr txBox="true"/>
            <p:nvPr/>
          </p:nvSpPr>
          <p:spPr>
            <a:xfrm>
              <a:off x="0" y="-28575"/>
              <a:ext cx="3404006" cy="1018026"/>
            </a:xfrm>
            <a:prstGeom prst="rect">
              <a:avLst/>
            </a:prstGeom>
          </p:spPr>
          <p:txBody>
            <a:bodyPr anchor="ctr" rtlCol="false" tIns="0" lIns="0" bIns="0" rIns="0"/>
            <a:lstStyle/>
            <a:p>
              <a:pPr algn="ctr">
                <a:lnSpc>
                  <a:spcPts val="4440"/>
                </a:lnSpc>
              </a:pPr>
              <a:r>
                <a:rPr lang="en-US" b="true" sz="3700" spc="600">
                  <a:solidFill>
                    <a:srgbClr val="F5B82E"/>
                  </a:solidFill>
                  <a:latin typeface="Times New Roman Bold"/>
                  <a:ea typeface="Times New Roman Bold"/>
                  <a:cs typeface="Times New Roman Bold"/>
                  <a:sym typeface="Times New Roman Bold"/>
                </a:rPr>
                <a:t>PHẦN 01</a:t>
              </a:r>
            </a:p>
          </p:txBody>
        </p:sp>
      </p:grpSp>
      <p:grpSp>
        <p:nvGrpSpPr>
          <p:cNvPr name="Group 9" id="9"/>
          <p:cNvGrpSpPr/>
          <p:nvPr/>
        </p:nvGrpSpPr>
        <p:grpSpPr>
          <a:xfrm rot="0">
            <a:off x="3383280" y="4190695"/>
            <a:ext cx="11538814" cy="1588467"/>
            <a:chOff x="0" y="0"/>
            <a:chExt cx="15385085" cy="2117957"/>
          </a:xfrm>
        </p:grpSpPr>
        <p:sp>
          <p:nvSpPr>
            <p:cNvPr name="Freeform 10" id="10"/>
            <p:cNvSpPr/>
            <p:nvPr/>
          </p:nvSpPr>
          <p:spPr>
            <a:xfrm flipH="false" flipV="false" rot="0">
              <a:off x="0" y="0"/>
              <a:ext cx="15385086" cy="2117956"/>
            </a:xfrm>
            <a:custGeom>
              <a:avLst/>
              <a:gdLst/>
              <a:ahLst/>
              <a:cxnLst/>
              <a:rect r="r" b="b" t="t" l="l"/>
              <a:pathLst>
                <a:path h="2117956" w="15385086">
                  <a:moveTo>
                    <a:pt x="0" y="0"/>
                  </a:moveTo>
                  <a:lnTo>
                    <a:pt x="15385086" y="0"/>
                  </a:lnTo>
                  <a:lnTo>
                    <a:pt x="15385086" y="2117956"/>
                  </a:lnTo>
                  <a:lnTo>
                    <a:pt x="0" y="2117956"/>
                  </a:lnTo>
                  <a:close/>
                </a:path>
              </a:pathLst>
            </a:custGeom>
            <a:blipFill>
              <a:blip r:embed="rId5">
                <a:alphaModFix amt="0"/>
              </a:blip>
              <a:stretch>
                <a:fillRect l="0" t="-99864" r="0" b="-83218"/>
              </a:stretch>
            </a:blipFill>
          </p:spPr>
        </p:sp>
        <p:sp>
          <p:nvSpPr>
            <p:cNvPr name="TextBox 11" id="11"/>
            <p:cNvSpPr txBox="true"/>
            <p:nvPr/>
          </p:nvSpPr>
          <p:spPr>
            <a:xfrm>
              <a:off x="0" y="0"/>
              <a:ext cx="15385085" cy="2117957"/>
            </a:xfrm>
            <a:prstGeom prst="rect">
              <a:avLst/>
            </a:prstGeom>
          </p:spPr>
          <p:txBody>
            <a:bodyPr anchor="ctr" rtlCol="false" tIns="0" lIns="0" bIns="0" rIns="0"/>
            <a:lstStyle/>
            <a:p>
              <a:pPr algn="ctr">
                <a:lnSpc>
                  <a:spcPts val="9840"/>
                </a:lnSpc>
              </a:pPr>
              <a:r>
                <a:rPr lang="en-US" b="true" sz="8200" spc="150">
                  <a:solidFill>
                    <a:srgbClr val="FFFFFF"/>
                  </a:solidFill>
                  <a:latin typeface="Roboto Bold"/>
                  <a:ea typeface="Roboto Bold"/>
                  <a:cs typeface="Roboto Bold"/>
                  <a:sym typeface="Roboto Bold"/>
                </a:rPr>
                <a:t>LÝ DO CHỌN ĐỀ TÀI</a:t>
              </a:r>
            </a:p>
          </p:txBody>
        </p:sp>
      </p:grpSp>
      <p:grpSp>
        <p:nvGrpSpPr>
          <p:cNvPr name="Group 12" id="12"/>
          <p:cNvGrpSpPr/>
          <p:nvPr/>
        </p:nvGrpSpPr>
        <p:grpSpPr>
          <a:xfrm rot="0">
            <a:off x="477317" y="9620402"/>
            <a:ext cx="191110" cy="440469"/>
            <a:chOff x="0" y="0"/>
            <a:chExt cx="254813" cy="587292"/>
          </a:xfrm>
        </p:grpSpPr>
        <p:sp>
          <p:nvSpPr>
            <p:cNvPr name="Freeform 13" id="13"/>
            <p:cNvSpPr/>
            <p:nvPr/>
          </p:nvSpPr>
          <p:spPr>
            <a:xfrm flipH="false" flipV="false" rot="0">
              <a:off x="0" y="0"/>
              <a:ext cx="254813" cy="587292"/>
            </a:xfrm>
            <a:custGeom>
              <a:avLst/>
              <a:gdLst/>
              <a:ahLst/>
              <a:cxnLst/>
              <a:rect r="r" b="b" t="t" l="l"/>
              <a:pathLst>
                <a:path h="587292" w="254813">
                  <a:moveTo>
                    <a:pt x="0" y="0"/>
                  </a:moveTo>
                  <a:lnTo>
                    <a:pt x="254813" y="0"/>
                  </a:lnTo>
                  <a:lnTo>
                    <a:pt x="254813" y="587292"/>
                  </a:lnTo>
                  <a:lnTo>
                    <a:pt x="0" y="587292"/>
                  </a:lnTo>
                  <a:close/>
                </a:path>
              </a:pathLst>
            </a:custGeom>
            <a:blipFill>
              <a:blip r:embed="rId5">
                <a:alphaModFix amt="0"/>
              </a:blip>
              <a:stretch>
                <a:fillRect l="-193101" t="0" r="-193100" b="17791"/>
              </a:stretch>
            </a:blipFill>
          </p:spPr>
        </p:sp>
        <p:sp>
          <p:nvSpPr>
            <p:cNvPr name="TextBox 14" id="14"/>
            <p:cNvSpPr txBox="true"/>
            <p:nvPr/>
          </p:nvSpPr>
          <p:spPr>
            <a:xfrm>
              <a:off x="0" y="-19050"/>
              <a:ext cx="254813" cy="606342"/>
            </a:xfrm>
            <a:prstGeom prst="rect">
              <a:avLst/>
            </a:prstGeom>
          </p:spPr>
          <p:txBody>
            <a:bodyPr anchor="ctr" rtlCol="false" tIns="0" lIns="0" bIns="0" rIns="0"/>
            <a:lstStyle/>
            <a:p>
              <a:pPr algn="ctr">
                <a:lnSpc>
                  <a:spcPts val="2640"/>
                </a:lnSpc>
              </a:pPr>
              <a:r>
                <a:rPr lang="en-US" sz="2200">
                  <a:solidFill>
                    <a:srgbClr val="FFFFFF"/>
                  </a:solidFill>
                  <a:latin typeface="Times New Roman"/>
                  <a:ea typeface="Times New Roman"/>
                  <a:cs typeface="Times New Roman"/>
                  <a:sym typeface="Times New Roman"/>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603889" y="9367837"/>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4</a:t>
            </a:r>
          </a:p>
        </p:txBody>
      </p:sp>
      <p:grpSp>
        <p:nvGrpSpPr>
          <p:cNvPr name="Group 7" id="7"/>
          <p:cNvGrpSpPr/>
          <p:nvPr/>
        </p:nvGrpSpPr>
        <p:grpSpPr>
          <a:xfrm rot="0">
            <a:off x="1028700" y="2383798"/>
            <a:ext cx="7652990" cy="5832645"/>
            <a:chOff x="0" y="0"/>
            <a:chExt cx="10513316" cy="8012612"/>
          </a:xfrm>
        </p:grpSpPr>
        <p:sp>
          <p:nvSpPr>
            <p:cNvPr name="Freeform 8" id="8"/>
            <p:cNvSpPr/>
            <p:nvPr/>
          </p:nvSpPr>
          <p:spPr>
            <a:xfrm flipH="false" flipV="false" rot="0">
              <a:off x="0" y="0"/>
              <a:ext cx="10513316" cy="8012638"/>
            </a:xfrm>
            <a:custGeom>
              <a:avLst/>
              <a:gdLst/>
              <a:ahLst/>
              <a:cxnLst/>
              <a:rect r="r" b="b" t="t" l="l"/>
              <a:pathLst>
                <a:path h="8012638" w="10513316">
                  <a:moveTo>
                    <a:pt x="0" y="38351"/>
                  </a:moveTo>
                  <a:cubicBezTo>
                    <a:pt x="0" y="17199"/>
                    <a:pt x="19061" y="0"/>
                    <a:pt x="42503" y="0"/>
                  </a:cubicBezTo>
                  <a:lnTo>
                    <a:pt x="10470813" y="0"/>
                  </a:lnTo>
                  <a:cubicBezTo>
                    <a:pt x="10494255" y="0"/>
                    <a:pt x="10513316" y="17199"/>
                    <a:pt x="10513316" y="38351"/>
                  </a:cubicBezTo>
                  <a:lnTo>
                    <a:pt x="10513316" y="7974282"/>
                  </a:lnTo>
                  <a:cubicBezTo>
                    <a:pt x="10513316" y="7995434"/>
                    <a:pt x="10494255" y="8012638"/>
                    <a:pt x="10470813" y="8012638"/>
                  </a:cubicBezTo>
                  <a:lnTo>
                    <a:pt x="42503" y="8012638"/>
                  </a:lnTo>
                  <a:cubicBezTo>
                    <a:pt x="19061" y="8012638"/>
                    <a:pt x="0" y="7995434"/>
                    <a:pt x="0" y="7974282"/>
                  </a:cubicBezTo>
                  <a:lnTo>
                    <a:pt x="0" y="38351"/>
                  </a:lnTo>
                  <a:close/>
                </a:path>
              </a:pathLst>
            </a:custGeom>
            <a:solidFill>
              <a:srgbClr val="F0FCF6"/>
            </a:solidFill>
          </p:spPr>
        </p:sp>
      </p:grpSp>
      <p:grpSp>
        <p:nvGrpSpPr>
          <p:cNvPr name="Group 9" id="9"/>
          <p:cNvGrpSpPr/>
          <p:nvPr/>
        </p:nvGrpSpPr>
        <p:grpSpPr>
          <a:xfrm rot="0">
            <a:off x="1442386" y="2795805"/>
            <a:ext cx="7239305" cy="498549"/>
            <a:chOff x="0" y="0"/>
            <a:chExt cx="9652406" cy="664732"/>
          </a:xfrm>
        </p:grpSpPr>
        <p:sp>
          <p:nvSpPr>
            <p:cNvPr name="Freeform 10" id="10"/>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4">
                <a:alphaModFix amt="0"/>
              </a:blip>
              <a:stretch>
                <a:fillRect l="0" t="-246621" r="0" b="-219253"/>
              </a:stretch>
            </a:blipFill>
          </p:spPr>
        </p:sp>
        <p:sp>
          <p:nvSpPr>
            <p:cNvPr name="TextBox 11" id="11"/>
            <p:cNvSpPr txBox="true"/>
            <p:nvPr/>
          </p:nvSpPr>
          <p:spPr>
            <a:xfrm>
              <a:off x="0" y="-9525"/>
              <a:ext cx="9652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GÓC ĐỘ THỊ TRƯỜNG</a:t>
              </a:r>
            </a:p>
          </p:txBody>
        </p:sp>
      </p:grpSp>
      <p:grpSp>
        <p:nvGrpSpPr>
          <p:cNvPr name="Group 12" id="12"/>
          <p:cNvGrpSpPr/>
          <p:nvPr/>
        </p:nvGrpSpPr>
        <p:grpSpPr>
          <a:xfrm rot="0">
            <a:off x="1235543" y="3923506"/>
            <a:ext cx="7239305" cy="3260799"/>
            <a:chOff x="0" y="0"/>
            <a:chExt cx="9652406" cy="4347731"/>
          </a:xfrm>
        </p:grpSpPr>
        <p:sp>
          <p:nvSpPr>
            <p:cNvPr name="Freeform 13" id="13"/>
            <p:cNvSpPr/>
            <p:nvPr/>
          </p:nvSpPr>
          <p:spPr>
            <a:xfrm flipH="false" flipV="false" rot="0">
              <a:off x="0" y="0"/>
              <a:ext cx="9652407" cy="4347732"/>
            </a:xfrm>
            <a:custGeom>
              <a:avLst/>
              <a:gdLst/>
              <a:ahLst/>
              <a:cxnLst/>
              <a:rect r="r" b="b" t="t" l="l"/>
              <a:pathLst>
                <a:path h="4347732" w="9652407">
                  <a:moveTo>
                    <a:pt x="0" y="0"/>
                  </a:moveTo>
                  <a:lnTo>
                    <a:pt x="9652407" y="0"/>
                  </a:lnTo>
                  <a:lnTo>
                    <a:pt x="9652407" y="4347732"/>
                  </a:lnTo>
                  <a:lnTo>
                    <a:pt x="0" y="4347732"/>
                  </a:lnTo>
                  <a:close/>
                </a:path>
              </a:pathLst>
            </a:custGeom>
            <a:blipFill>
              <a:blip r:embed="rId4">
                <a:alphaModFix amt="0"/>
              </a:blip>
              <a:stretch>
                <a:fillRect l="0" t="-32154" r="0" b="45636"/>
              </a:stretch>
            </a:blipFill>
          </p:spPr>
        </p:sp>
        <p:sp>
          <p:nvSpPr>
            <p:cNvPr name="TextBox 14" id="14"/>
            <p:cNvSpPr txBox="true"/>
            <p:nvPr/>
          </p:nvSpPr>
          <p:spPr>
            <a:xfrm>
              <a:off x="0" y="-9525"/>
              <a:ext cx="9652406" cy="4357256"/>
            </a:xfrm>
            <a:prstGeom prst="rect">
              <a:avLst/>
            </a:prstGeom>
          </p:spPr>
          <p:txBody>
            <a:bodyPr anchor="ctr" rtlCol="false" tIns="0" lIns="0" bIns="0" rIns="0"/>
            <a:lstStyle/>
            <a:p>
              <a:pPr algn="l" marL="561336" indent="-280668" lvl="1">
                <a:lnSpc>
                  <a:spcPts val="3119"/>
                </a:lnSpc>
                <a:buFont typeface="Arial"/>
                <a:buChar char="•"/>
              </a:pPr>
              <a:r>
                <a:rPr lang="en-US" sz="2599">
                  <a:solidFill>
                    <a:srgbClr val="000000"/>
                  </a:solidFill>
                  <a:latin typeface="Roboto"/>
                  <a:ea typeface="Roboto"/>
                  <a:cs typeface="Roboto"/>
                  <a:sym typeface="Roboto"/>
                </a:rPr>
                <a:t>Thị trường chứng khoán Việt Nam tăng mạnh, giao dịch rất sôi động.</a:t>
              </a:r>
            </a:p>
            <a:p>
              <a:pPr algn="l">
                <a:lnSpc>
                  <a:spcPts val="3119"/>
                </a:lnSpc>
              </a:pPr>
            </a:p>
            <a:p>
              <a:pPr algn="l" marL="561336" indent="-280668" lvl="1">
                <a:lnSpc>
                  <a:spcPts val="3119"/>
                </a:lnSpc>
                <a:buFont typeface="Arial"/>
                <a:buChar char="•"/>
              </a:pPr>
              <a:r>
                <a:rPr lang="en-US" sz="2599">
                  <a:solidFill>
                    <a:srgbClr val="000000"/>
                  </a:solidFill>
                  <a:latin typeface="Roboto"/>
                  <a:ea typeface="Roboto"/>
                  <a:cs typeface="Roboto"/>
                  <a:sym typeface="Roboto"/>
                </a:rPr>
                <a:t>Tin tức và sự kiện tài chính có thể làm giá biến động nhanh.</a:t>
              </a:r>
            </a:p>
            <a:p>
              <a:pPr algn="l">
                <a:lnSpc>
                  <a:spcPts val="3119"/>
                </a:lnSpc>
              </a:pPr>
            </a:p>
            <a:p>
              <a:pPr algn="l" marL="561336" indent="-280668" lvl="1">
                <a:lnSpc>
                  <a:spcPts val="3119"/>
                </a:lnSpc>
                <a:buFont typeface="Arial"/>
                <a:buChar char="•"/>
              </a:pPr>
              <a:r>
                <a:rPr lang="en-US" sz="2599">
                  <a:solidFill>
                    <a:srgbClr val="000000"/>
                  </a:solidFill>
                  <a:latin typeface="Roboto"/>
                  <a:ea typeface="Roboto"/>
                  <a:cs typeface="Roboto"/>
                  <a:sym typeface="Roboto"/>
                </a:rPr>
                <a:t>Nhà đầu tư khó theo dõi nhiều mã và lượng tin lớn cùng lúc.</a:t>
              </a:r>
            </a:p>
          </p:txBody>
        </p:sp>
      </p:grpSp>
      <p:grpSp>
        <p:nvGrpSpPr>
          <p:cNvPr name="Group 15" id="15"/>
          <p:cNvGrpSpPr/>
          <p:nvPr/>
        </p:nvGrpSpPr>
        <p:grpSpPr>
          <a:xfrm rot="0">
            <a:off x="9047610" y="2383798"/>
            <a:ext cx="7875006" cy="5832645"/>
            <a:chOff x="0" y="0"/>
            <a:chExt cx="11604265" cy="8594732"/>
          </a:xfrm>
        </p:grpSpPr>
        <p:sp>
          <p:nvSpPr>
            <p:cNvPr name="Freeform 16" id="16"/>
            <p:cNvSpPr/>
            <p:nvPr/>
          </p:nvSpPr>
          <p:spPr>
            <a:xfrm flipH="false" flipV="false" rot="0">
              <a:off x="0" y="0"/>
              <a:ext cx="11604265" cy="8594758"/>
            </a:xfrm>
            <a:custGeom>
              <a:avLst/>
              <a:gdLst/>
              <a:ahLst/>
              <a:cxnLst/>
              <a:rect r="r" b="b" t="t" l="l"/>
              <a:pathLst>
                <a:path h="8594758" w="11604265">
                  <a:moveTo>
                    <a:pt x="0" y="41137"/>
                  </a:moveTo>
                  <a:cubicBezTo>
                    <a:pt x="0" y="18449"/>
                    <a:pt x="21039" y="0"/>
                    <a:pt x="46914" y="0"/>
                  </a:cubicBezTo>
                  <a:lnTo>
                    <a:pt x="11557351" y="0"/>
                  </a:lnTo>
                  <a:cubicBezTo>
                    <a:pt x="11583226" y="0"/>
                    <a:pt x="11604265" y="18449"/>
                    <a:pt x="11604265" y="41137"/>
                  </a:cubicBezTo>
                  <a:lnTo>
                    <a:pt x="11604265" y="8553617"/>
                  </a:lnTo>
                  <a:cubicBezTo>
                    <a:pt x="11604265" y="8576306"/>
                    <a:pt x="11583226" y="8594758"/>
                    <a:pt x="11557351" y="8594758"/>
                  </a:cubicBezTo>
                  <a:lnTo>
                    <a:pt x="46914" y="8594758"/>
                  </a:lnTo>
                  <a:cubicBezTo>
                    <a:pt x="21039" y="8594758"/>
                    <a:pt x="0" y="8576306"/>
                    <a:pt x="0" y="8553617"/>
                  </a:cubicBezTo>
                  <a:lnTo>
                    <a:pt x="0" y="41137"/>
                  </a:lnTo>
                  <a:close/>
                </a:path>
              </a:pathLst>
            </a:custGeom>
            <a:solidFill>
              <a:srgbClr val="FFF4F0"/>
            </a:solidFill>
          </p:spPr>
        </p:sp>
      </p:grpSp>
      <p:grpSp>
        <p:nvGrpSpPr>
          <p:cNvPr name="Group 17" id="17"/>
          <p:cNvGrpSpPr/>
          <p:nvPr/>
        </p:nvGrpSpPr>
        <p:grpSpPr>
          <a:xfrm rot="0">
            <a:off x="9373456" y="2795805"/>
            <a:ext cx="7239305" cy="498549"/>
            <a:chOff x="0" y="0"/>
            <a:chExt cx="9652406" cy="664732"/>
          </a:xfrm>
        </p:grpSpPr>
        <p:sp>
          <p:nvSpPr>
            <p:cNvPr name="Freeform 18" id="18"/>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4">
                <a:alphaModFix amt="0"/>
              </a:blip>
              <a:stretch>
                <a:fillRect l="0" t="-246621" r="0" b="-219253"/>
              </a:stretch>
            </a:blipFill>
          </p:spPr>
        </p:sp>
        <p:sp>
          <p:nvSpPr>
            <p:cNvPr name="TextBox 19" id="19"/>
            <p:cNvSpPr txBox="true"/>
            <p:nvPr/>
          </p:nvSpPr>
          <p:spPr>
            <a:xfrm>
              <a:off x="0" y="-9525"/>
              <a:ext cx="9652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GÓC Đ</a:t>
              </a:r>
              <a:r>
                <a:rPr lang="en-US" b="true" sz="2599">
                  <a:solidFill>
                    <a:srgbClr val="000000"/>
                  </a:solidFill>
                  <a:latin typeface="Roboto Bold"/>
                  <a:ea typeface="Roboto Bold"/>
                  <a:cs typeface="Roboto Bold"/>
                  <a:sym typeface="Roboto Bold"/>
                </a:rPr>
                <a:t>Ộ KỸ THUẬT</a:t>
              </a:r>
            </a:p>
          </p:txBody>
        </p:sp>
      </p:grpSp>
      <p:grpSp>
        <p:nvGrpSpPr>
          <p:cNvPr name="Group 20" id="20"/>
          <p:cNvGrpSpPr/>
          <p:nvPr/>
        </p:nvGrpSpPr>
        <p:grpSpPr>
          <a:xfrm rot="0">
            <a:off x="9683311" y="3923506"/>
            <a:ext cx="7239305" cy="3260799"/>
            <a:chOff x="0" y="0"/>
            <a:chExt cx="9652406" cy="4347731"/>
          </a:xfrm>
        </p:grpSpPr>
        <p:sp>
          <p:nvSpPr>
            <p:cNvPr name="Freeform 21" id="21"/>
            <p:cNvSpPr/>
            <p:nvPr/>
          </p:nvSpPr>
          <p:spPr>
            <a:xfrm flipH="false" flipV="false" rot="0">
              <a:off x="0" y="0"/>
              <a:ext cx="9652407" cy="4347732"/>
            </a:xfrm>
            <a:custGeom>
              <a:avLst/>
              <a:gdLst/>
              <a:ahLst/>
              <a:cxnLst/>
              <a:rect r="r" b="b" t="t" l="l"/>
              <a:pathLst>
                <a:path h="4347732" w="9652407">
                  <a:moveTo>
                    <a:pt x="0" y="0"/>
                  </a:moveTo>
                  <a:lnTo>
                    <a:pt x="9652407" y="0"/>
                  </a:lnTo>
                  <a:lnTo>
                    <a:pt x="9652407" y="4347732"/>
                  </a:lnTo>
                  <a:lnTo>
                    <a:pt x="0" y="4347732"/>
                  </a:lnTo>
                  <a:close/>
                </a:path>
              </a:pathLst>
            </a:custGeom>
            <a:blipFill>
              <a:blip r:embed="rId4">
                <a:alphaModFix amt="0"/>
              </a:blip>
              <a:stretch>
                <a:fillRect l="0" t="-32154" r="0" b="45636"/>
              </a:stretch>
            </a:blipFill>
          </p:spPr>
        </p:sp>
        <p:sp>
          <p:nvSpPr>
            <p:cNvPr name="TextBox 22" id="22"/>
            <p:cNvSpPr txBox="true"/>
            <p:nvPr/>
          </p:nvSpPr>
          <p:spPr>
            <a:xfrm>
              <a:off x="0" y="-9525"/>
              <a:ext cx="9652406" cy="4357256"/>
            </a:xfrm>
            <a:prstGeom prst="rect">
              <a:avLst/>
            </a:prstGeom>
          </p:spPr>
          <p:txBody>
            <a:bodyPr anchor="ctr" rtlCol="false" tIns="0" lIns="0" bIns="0" rIns="0"/>
            <a:lstStyle/>
            <a:p>
              <a:pPr algn="l" marL="561336" indent="-280668" lvl="1">
                <a:lnSpc>
                  <a:spcPts val="3119"/>
                </a:lnSpc>
                <a:buFont typeface="Arial"/>
                <a:buChar char="•"/>
              </a:pPr>
              <a:r>
                <a:rPr lang="en-US" sz="2599">
                  <a:solidFill>
                    <a:srgbClr val="000000"/>
                  </a:solidFill>
                  <a:latin typeface="Roboto"/>
                  <a:ea typeface="Roboto"/>
                  <a:cs typeface="Roboto"/>
                  <a:sym typeface="Roboto"/>
                </a:rPr>
                <a:t>Streaming + ML phù hợp cho xử lý dữ liệu thời gian thực.</a:t>
              </a:r>
            </a:p>
            <a:p>
              <a:pPr algn="l">
                <a:lnSpc>
                  <a:spcPts val="3119"/>
                </a:lnSpc>
              </a:pPr>
            </a:p>
            <a:p>
              <a:pPr algn="l" marL="561336" indent="-280668" lvl="1">
                <a:lnSpc>
                  <a:spcPts val="3119"/>
                </a:lnSpc>
                <a:buFont typeface="Arial"/>
                <a:buChar char="•"/>
              </a:pPr>
              <a:r>
                <a:rPr lang="en-US" sz="2599">
                  <a:solidFill>
                    <a:srgbClr val="000000"/>
                  </a:solidFill>
                  <a:latin typeface="Roboto"/>
                  <a:ea typeface="Roboto"/>
                  <a:cs typeface="Roboto"/>
                  <a:sym typeface="Roboto"/>
                </a:rPr>
                <a:t>Kafka, Flink, ClickHouse, MLflow, Airflow đã đủ ổn định để triển khai thực tế.</a:t>
              </a:r>
            </a:p>
            <a:p>
              <a:pPr algn="l">
                <a:lnSpc>
                  <a:spcPts val="3119"/>
                </a:lnSpc>
              </a:pPr>
            </a:p>
            <a:p>
              <a:pPr algn="l" marL="561336" indent="-280668" lvl="1">
                <a:lnSpc>
                  <a:spcPts val="3119"/>
                </a:lnSpc>
                <a:buFont typeface="Arial"/>
                <a:buChar char="•"/>
              </a:pPr>
              <a:r>
                <a:rPr lang="en-US" sz="2599">
                  <a:solidFill>
                    <a:srgbClr val="000000"/>
                  </a:solidFill>
                  <a:latin typeface="Roboto"/>
                  <a:ea typeface="Roboto"/>
                  <a:cs typeface="Roboto"/>
                  <a:sym typeface="Roboto"/>
                </a:rPr>
                <a:t>Cần hệ thống end-to-end kết hợp Data Engineering và MLOps cho tài chính.</a:t>
              </a:r>
            </a:p>
          </p:txBody>
        </p:sp>
      </p:grpSp>
      <p:grpSp>
        <p:nvGrpSpPr>
          <p:cNvPr name="Group 23" id="23"/>
          <p:cNvGrpSpPr/>
          <p:nvPr/>
        </p:nvGrpSpPr>
        <p:grpSpPr>
          <a:xfrm rot="0">
            <a:off x="5704107" y="811701"/>
            <a:ext cx="6687007" cy="632408"/>
            <a:chOff x="0" y="0"/>
            <a:chExt cx="8916010" cy="843211"/>
          </a:xfrm>
        </p:grpSpPr>
        <p:sp>
          <p:nvSpPr>
            <p:cNvPr name="Freeform 24" id="24"/>
            <p:cNvSpPr/>
            <p:nvPr/>
          </p:nvSpPr>
          <p:spPr>
            <a:xfrm flipH="false" flipV="false" rot="0">
              <a:off x="0" y="0"/>
              <a:ext cx="8916009" cy="843211"/>
            </a:xfrm>
            <a:custGeom>
              <a:avLst/>
              <a:gdLst/>
              <a:ahLst/>
              <a:cxnLst/>
              <a:rect r="r" b="b" t="t" l="l"/>
              <a:pathLst>
                <a:path h="843211" w="8916009">
                  <a:moveTo>
                    <a:pt x="0" y="0"/>
                  </a:moveTo>
                  <a:lnTo>
                    <a:pt x="8916009" y="0"/>
                  </a:lnTo>
                  <a:lnTo>
                    <a:pt x="8916009" y="843211"/>
                  </a:lnTo>
                  <a:lnTo>
                    <a:pt x="0" y="843211"/>
                  </a:lnTo>
                  <a:close/>
                </a:path>
              </a:pathLst>
            </a:custGeom>
            <a:blipFill>
              <a:blip r:embed="rId4">
                <a:alphaModFix amt="0"/>
              </a:blip>
              <a:stretch>
                <a:fillRect l="0" t="-163812" r="0" b="-148252"/>
              </a:stretch>
            </a:blipFill>
          </p:spPr>
        </p:sp>
        <p:sp>
          <p:nvSpPr>
            <p:cNvPr name="TextBox 25" id="25"/>
            <p:cNvSpPr txBox="true"/>
            <p:nvPr/>
          </p:nvSpPr>
          <p:spPr>
            <a:xfrm>
              <a:off x="0" y="-9525"/>
              <a:ext cx="8916010"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BỐI CẢNH CỦA ĐỀ TÀI</a:t>
              </a:r>
            </a:p>
          </p:txBody>
        </p:sp>
      </p:grpSp>
      <p:grpSp>
        <p:nvGrpSpPr>
          <p:cNvPr name="Group 26" id="26"/>
          <p:cNvGrpSpPr/>
          <p:nvPr/>
        </p:nvGrpSpPr>
        <p:grpSpPr>
          <a:xfrm rot="0">
            <a:off x="8337425" y="1454340"/>
            <a:ext cx="1152525" cy="58320"/>
            <a:chOff x="0" y="0"/>
            <a:chExt cx="1536700" cy="77760"/>
          </a:xfrm>
        </p:grpSpPr>
        <p:sp>
          <p:nvSpPr>
            <p:cNvPr name="Freeform 27" id="27" descr="gen-dedup-7f8257250c29ae4edf93f118f9821b44.png"/>
            <p:cNvSpPr/>
            <p:nvPr/>
          </p:nvSpPr>
          <p:spPr>
            <a:xfrm flipH="false" flipV="false" rot="0">
              <a:off x="0" y="0"/>
              <a:ext cx="1536700" cy="77729"/>
            </a:xfrm>
            <a:custGeom>
              <a:avLst/>
              <a:gdLst/>
              <a:ahLst/>
              <a:cxnLst/>
              <a:rect r="r" b="b" t="t" l="l"/>
              <a:pathLst>
                <a:path h="77729" w="1536700">
                  <a:moveTo>
                    <a:pt x="0" y="0"/>
                  </a:moveTo>
                  <a:lnTo>
                    <a:pt x="1536700" y="0"/>
                  </a:lnTo>
                  <a:lnTo>
                    <a:pt x="1536700" y="77729"/>
                  </a:lnTo>
                  <a:lnTo>
                    <a:pt x="0" y="77729"/>
                  </a:lnTo>
                  <a:lnTo>
                    <a:pt x="0" y="0"/>
                  </a:lnTo>
                  <a:close/>
                </a:path>
              </a:pathLst>
            </a:custGeom>
            <a:blipFill>
              <a:blip r:embed="rId5"/>
              <a:stretch>
                <a:fillRect l="-10722" t="0" r="-10723" b="-4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603889" y="92106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5</a:t>
            </a:r>
          </a:p>
        </p:txBody>
      </p:sp>
      <p:grpSp>
        <p:nvGrpSpPr>
          <p:cNvPr name="Group 7" id="7"/>
          <p:cNvGrpSpPr/>
          <p:nvPr/>
        </p:nvGrpSpPr>
        <p:grpSpPr>
          <a:xfrm rot="0">
            <a:off x="6673344" y="676879"/>
            <a:ext cx="5959255" cy="632408"/>
            <a:chOff x="0" y="0"/>
            <a:chExt cx="7945674" cy="843211"/>
          </a:xfrm>
        </p:grpSpPr>
        <p:sp>
          <p:nvSpPr>
            <p:cNvPr name="Freeform 8" id="8"/>
            <p:cNvSpPr/>
            <p:nvPr/>
          </p:nvSpPr>
          <p:spPr>
            <a:xfrm flipH="false" flipV="false" rot="0">
              <a:off x="0" y="0"/>
              <a:ext cx="7945674" cy="843211"/>
            </a:xfrm>
            <a:custGeom>
              <a:avLst/>
              <a:gdLst/>
              <a:ahLst/>
              <a:cxnLst/>
              <a:rect r="r" b="b" t="t" l="l"/>
              <a:pathLst>
                <a:path h="843211" w="7945674">
                  <a:moveTo>
                    <a:pt x="0" y="0"/>
                  </a:moveTo>
                  <a:lnTo>
                    <a:pt x="7945674" y="0"/>
                  </a:lnTo>
                  <a:lnTo>
                    <a:pt x="7945674" y="843211"/>
                  </a:lnTo>
                  <a:lnTo>
                    <a:pt x="0" y="843211"/>
                  </a:lnTo>
                  <a:close/>
                </a:path>
              </a:pathLst>
            </a:custGeom>
            <a:blipFill>
              <a:blip r:embed="rId4">
                <a:alphaModFix amt="0"/>
              </a:blip>
              <a:stretch>
                <a:fillRect l="0" t="-129186" r="6645" b="-113627"/>
              </a:stretch>
            </a:blipFill>
          </p:spPr>
        </p:sp>
        <p:sp>
          <p:nvSpPr>
            <p:cNvPr name="TextBox 9" id="9"/>
            <p:cNvSpPr txBox="true"/>
            <p:nvPr/>
          </p:nvSpPr>
          <p:spPr>
            <a:xfrm>
              <a:off x="0" y="-9525"/>
              <a:ext cx="7945674"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MỤC TIÊU &amp; THÁCH THỨC</a:t>
              </a:r>
            </a:p>
          </p:txBody>
        </p:sp>
      </p:grpSp>
      <p:sp>
        <p:nvSpPr>
          <p:cNvPr name="TextBox 10" id="10"/>
          <p:cNvSpPr txBox="true"/>
          <p:nvPr/>
        </p:nvSpPr>
        <p:spPr>
          <a:xfrm rot="0">
            <a:off x="1342248" y="2040259"/>
            <a:ext cx="15489779" cy="1762125"/>
          </a:xfrm>
          <a:prstGeom prst="rect">
            <a:avLst/>
          </a:prstGeom>
        </p:spPr>
        <p:txBody>
          <a:bodyPr anchor="t" rtlCol="false" tIns="0" lIns="0" bIns="0" rIns="0">
            <a:spAutoFit/>
          </a:bodyPr>
          <a:lstStyle/>
          <a:p>
            <a:pPr algn="l">
              <a:lnSpc>
                <a:spcPts val="3479"/>
              </a:lnSpc>
              <a:spcBef>
                <a:spcPct val="0"/>
              </a:spcBef>
            </a:pPr>
            <a:r>
              <a:rPr lang="en-US" sz="2899">
                <a:solidFill>
                  <a:srgbClr val="000000"/>
                </a:solidFill>
                <a:latin typeface="Roboto"/>
                <a:ea typeface="Roboto"/>
                <a:cs typeface="Roboto"/>
                <a:sym typeface="Roboto"/>
              </a:rPr>
              <a:t>Dự án hướng tới xây dựng một hệ thống xử lý dữ liệu chứng khoán thời gian thực, có khả năng thu thập và phân tích dữ liệu giá cùng tin tức từ nhiều nguồn khác nhau. Hệ thống hỗ trợ phát hiện sớm các biến động bất thường trên thị trường và dự đoán xu hướng nhằm giúp nhà đầu tư đưa ra quyết định nhanh và hiệu quả hơn.</a:t>
            </a:r>
          </a:p>
        </p:txBody>
      </p:sp>
      <p:sp>
        <p:nvSpPr>
          <p:cNvPr name="TextBox 11" id="11"/>
          <p:cNvSpPr txBox="true"/>
          <p:nvPr/>
        </p:nvSpPr>
        <p:spPr>
          <a:xfrm rot="0">
            <a:off x="1342248" y="4244578"/>
            <a:ext cx="15917052" cy="3090545"/>
          </a:xfrm>
          <a:prstGeom prst="rect">
            <a:avLst/>
          </a:prstGeom>
        </p:spPr>
        <p:txBody>
          <a:bodyPr anchor="t" rtlCol="false" tIns="0" lIns="0" bIns="0" rIns="0">
            <a:spAutoFit/>
          </a:bodyPr>
          <a:lstStyle/>
          <a:p>
            <a:pPr algn="l">
              <a:lnSpc>
                <a:spcPts val="3359"/>
              </a:lnSpc>
              <a:spcBef>
                <a:spcPct val="0"/>
              </a:spcBef>
            </a:pPr>
            <a:r>
              <a:rPr lang="en-US" b="true" sz="2799">
                <a:solidFill>
                  <a:srgbClr val="000000"/>
                </a:solidFill>
                <a:latin typeface="Roboto Bold"/>
                <a:ea typeface="Roboto Bold"/>
                <a:cs typeface="Roboto Bold"/>
                <a:sym typeface="Roboto Bold"/>
              </a:rPr>
              <a:t>Thách t</a:t>
            </a:r>
            <a:r>
              <a:rPr lang="en-US" b="true" sz="2799">
                <a:solidFill>
                  <a:srgbClr val="000000"/>
                </a:solidFill>
                <a:latin typeface="Roboto Bold"/>
                <a:ea typeface="Roboto Bold"/>
                <a:cs typeface="Roboto Bold"/>
                <a:sym typeface="Roboto Bold"/>
              </a:rPr>
              <a:t>hức lớn:</a:t>
            </a:r>
          </a:p>
          <a:p>
            <a:pPr algn="l">
              <a:lnSpc>
                <a:spcPts val="4339"/>
              </a:lnSpc>
            </a:pPr>
          </a:p>
          <a:p>
            <a:pPr algn="l" marL="604516" indent="-302258" lvl="1">
              <a:lnSpc>
                <a:spcPts val="4339"/>
              </a:lnSpc>
              <a:buFont typeface="Arial"/>
              <a:buChar char="•"/>
            </a:pPr>
            <a:r>
              <a:rPr lang="en-US" sz="2799">
                <a:solidFill>
                  <a:srgbClr val="000000"/>
                </a:solidFill>
                <a:latin typeface="Roboto"/>
                <a:ea typeface="Roboto"/>
                <a:cs typeface="Roboto"/>
                <a:sym typeface="Roboto"/>
              </a:rPr>
              <a:t>D</a:t>
            </a:r>
            <a:r>
              <a:rPr lang="en-US" sz="2799">
                <a:solidFill>
                  <a:srgbClr val="000000"/>
                </a:solidFill>
                <a:latin typeface="Roboto"/>
                <a:ea typeface="Roboto"/>
                <a:cs typeface="Roboto"/>
                <a:sym typeface="Roboto"/>
              </a:rPr>
              <a:t>ữ liệu giá và tin tức rất lớn, cập nhật liên tục.</a:t>
            </a:r>
          </a:p>
          <a:p>
            <a:pPr algn="l" marL="604516" indent="-302258" lvl="1">
              <a:lnSpc>
                <a:spcPts val="4339"/>
              </a:lnSpc>
              <a:buFont typeface="Arial"/>
              <a:buChar char="•"/>
            </a:pPr>
            <a:r>
              <a:rPr lang="en-US" sz="2799">
                <a:solidFill>
                  <a:srgbClr val="000000"/>
                </a:solidFill>
                <a:latin typeface="Roboto"/>
                <a:ea typeface="Roboto"/>
                <a:cs typeface="Roboto"/>
                <a:sym typeface="Roboto"/>
              </a:rPr>
              <a:t>Khó phát hiện biến động bất thường bằng luật cố định.</a:t>
            </a:r>
          </a:p>
          <a:p>
            <a:pPr algn="l" marL="604516" indent="-302258" lvl="1">
              <a:lnSpc>
                <a:spcPts val="4339"/>
              </a:lnSpc>
              <a:buFont typeface="Arial"/>
              <a:buChar char="•"/>
            </a:pPr>
            <a:r>
              <a:rPr lang="en-US" sz="2799">
                <a:solidFill>
                  <a:srgbClr val="000000"/>
                </a:solidFill>
                <a:latin typeface="Roboto"/>
                <a:ea typeface="Roboto"/>
                <a:cs typeface="Roboto"/>
                <a:sym typeface="Roboto"/>
              </a:rPr>
              <a:t>Sentiment từ tin tức chưa được khai thác hiệu quả.</a:t>
            </a:r>
          </a:p>
          <a:p>
            <a:pPr algn="l" marL="604516" indent="-302258" lvl="1">
              <a:lnSpc>
                <a:spcPts val="4339"/>
              </a:lnSpc>
              <a:buFont typeface="Arial"/>
              <a:buChar char="•"/>
            </a:pPr>
            <a:r>
              <a:rPr lang="en-US" sz="2799">
                <a:solidFill>
                  <a:srgbClr val="000000"/>
                </a:solidFill>
                <a:latin typeface="Roboto"/>
                <a:ea typeface="Roboto"/>
                <a:cs typeface="Roboto"/>
                <a:sym typeface="Roboto"/>
              </a:rPr>
              <a:t>Pipeline ML chưa tự động và khó triển khai production.</a:t>
            </a:r>
          </a:p>
        </p:txBody>
      </p:sp>
      <p:grpSp>
        <p:nvGrpSpPr>
          <p:cNvPr name="Group 12" id="12"/>
          <p:cNvGrpSpPr/>
          <p:nvPr/>
        </p:nvGrpSpPr>
        <p:grpSpPr>
          <a:xfrm rot="0">
            <a:off x="8674954" y="1332820"/>
            <a:ext cx="1143000" cy="47625"/>
            <a:chOff x="0" y="0"/>
            <a:chExt cx="1524000" cy="63500"/>
          </a:xfrm>
        </p:grpSpPr>
        <p:sp>
          <p:nvSpPr>
            <p:cNvPr name="Freeform 13" id="13" descr="gen-dedup-7f8257250c29ae4edf93f118f9821b44.png"/>
            <p:cNvSpPr/>
            <p:nvPr/>
          </p:nvSpPr>
          <p:spPr>
            <a:xfrm flipH="false" flipV="false" rot="0">
              <a:off x="0" y="0"/>
              <a:ext cx="1524000" cy="63475"/>
            </a:xfrm>
            <a:custGeom>
              <a:avLst/>
              <a:gdLst/>
              <a:ahLst/>
              <a:cxnLst/>
              <a:rect r="r" b="b" t="t" l="l"/>
              <a:pathLst>
                <a:path h="63475" w="1524000">
                  <a:moveTo>
                    <a:pt x="0" y="0"/>
                  </a:moveTo>
                  <a:lnTo>
                    <a:pt x="1524000" y="0"/>
                  </a:lnTo>
                  <a:lnTo>
                    <a:pt x="1524000" y="63475"/>
                  </a:lnTo>
                  <a:lnTo>
                    <a:pt x="0" y="63475"/>
                  </a:lnTo>
                  <a:lnTo>
                    <a:pt x="0" y="0"/>
                  </a:lnTo>
                  <a:close/>
                </a:path>
              </a:pathLst>
            </a:custGeom>
            <a:blipFill>
              <a:blip r:embed="rId5"/>
              <a:stretch>
                <a:fillRect l="0" t="0" r="0" b="-4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603889" y="92106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6</a:t>
            </a:r>
          </a:p>
        </p:txBody>
      </p:sp>
      <p:grpSp>
        <p:nvGrpSpPr>
          <p:cNvPr name="Group 7" id="7"/>
          <p:cNvGrpSpPr/>
          <p:nvPr/>
        </p:nvGrpSpPr>
        <p:grpSpPr>
          <a:xfrm rot="0">
            <a:off x="9144000" y="1333137"/>
            <a:ext cx="1143000" cy="47549"/>
            <a:chOff x="0" y="0"/>
            <a:chExt cx="1524000" cy="63398"/>
          </a:xfrm>
        </p:grpSpPr>
        <p:sp>
          <p:nvSpPr>
            <p:cNvPr name="Freeform 8" id="8"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9" id="9"/>
          <p:cNvGrpSpPr/>
          <p:nvPr/>
        </p:nvGrpSpPr>
        <p:grpSpPr>
          <a:xfrm rot="0">
            <a:off x="7740824" y="700729"/>
            <a:ext cx="4088282" cy="632408"/>
            <a:chOff x="0" y="0"/>
            <a:chExt cx="5451043" cy="843211"/>
          </a:xfrm>
        </p:grpSpPr>
        <p:sp>
          <p:nvSpPr>
            <p:cNvPr name="Freeform 10" id="10"/>
            <p:cNvSpPr/>
            <p:nvPr/>
          </p:nvSpPr>
          <p:spPr>
            <a:xfrm flipH="false" flipV="false" rot="0">
              <a:off x="0" y="0"/>
              <a:ext cx="5451043" cy="843211"/>
            </a:xfrm>
            <a:custGeom>
              <a:avLst/>
              <a:gdLst/>
              <a:ahLst/>
              <a:cxnLst/>
              <a:rect r="r" b="b" t="t" l="l"/>
              <a:pathLst>
                <a:path h="843211" w="5451043">
                  <a:moveTo>
                    <a:pt x="0" y="0"/>
                  </a:moveTo>
                  <a:lnTo>
                    <a:pt x="5451043" y="0"/>
                  </a:lnTo>
                  <a:lnTo>
                    <a:pt x="5451043" y="843211"/>
                  </a:lnTo>
                  <a:lnTo>
                    <a:pt x="0" y="843211"/>
                  </a:lnTo>
                  <a:close/>
                </a:path>
              </a:pathLst>
            </a:custGeom>
            <a:blipFill>
              <a:blip r:embed="rId5">
                <a:alphaModFix amt="0"/>
              </a:blip>
              <a:stretch>
                <a:fillRect l="0" t="-83743" r="0" b="-68183"/>
              </a:stretch>
            </a:blipFill>
          </p:spPr>
        </p:sp>
        <p:sp>
          <p:nvSpPr>
            <p:cNvPr name="TextBox 11" id="11"/>
            <p:cNvSpPr txBox="true"/>
            <p:nvPr/>
          </p:nvSpPr>
          <p:spPr>
            <a:xfrm>
              <a:off x="0" y="-9525"/>
              <a:ext cx="5451043"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CHI TIẾT </a:t>
              </a:r>
            </a:p>
          </p:txBody>
        </p:sp>
      </p:grpSp>
      <p:grpSp>
        <p:nvGrpSpPr>
          <p:cNvPr name="Group 12" id="12"/>
          <p:cNvGrpSpPr/>
          <p:nvPr/>
        </p:nvGrpSpPr>
        <p:grpSpPr>
          <a:xfrm rot="0">
            <a:off x="1262265" y="2168437"/>
            <a:ext cx="7730535" cy="2738693"/>
            <a:chOff x="0" y="0"/>
            <a:chExt cx="10601600" cy="3755823"/>
          </a:xfrm>
        </p:grpSpPr>
        <p:sp>
          <p:nvSpPr>
            <p:cNvPr name="Freeform 13" id="13"/>
            <p:cNvSpPr/>
            <p:nvPr/>
          </p:nvSpPr>
          <p:spPr>
            <a:xfrm flipH="false" flipV="false" rot="0">
              <a:off x="0" y="0"/>
              <a:ext cx="10601599" cy="3755849"/>
            </a:xfrm>
            <a:custGeom>
              <a:avLst/>
              <a:gdLst/>
              <a:ahLst/>
              <a:cxnLst/>
              <a:rect r="r" b="b" t="t" l="l"/>
              <a:pathLst>
                <a:path h="3755849" w="10601599">
                  <a:moveTo>
                    <a:pt x="0" y="17977"/>
                  </a:moveTo>
                  <a:cubicBezTo>
                    <a:pt x="0" y="8062"/>
                    <a:pt x="19221" y="0"/>
                    <a:pt x="42860" y="0"/>
                  </a:cubicBezTo>
                  <a:lnTo>
                    <a:pt x="10558739" y="0"/>
                  </a:lnTo>
                  <a:cubicBezTo>
                    <a:pt x="10582378" y="0"/>
                    <a:pt x="10601599" y="8062"/>
                    <a:pt x="10601599" y="17977"/>
                  </a:cubicBezTo>
                  <a:lnTo>
                    <a:pt x="10601599" y="3737857"/>
                  </a:lnTo>
                  <a:cubicBezTo>
                    <a:pt x="10601599" y="3747772"/>
                    <a:pt x="10582378" y="3755849"/>
                    <a:pt x="10558739" y="3755849"/>
                  </a:cubicBezTo>
                  <a:lnTo>
                    <a:pt x="42860" y="3755849"/>
                  </a:lnTo>
                  <a:cubicBezTo>
                    <a:pt x="19221" y="3755849"/>
                    <a:pt x="0" y="3747772"/>
                    <a:pt x="0" y="3737857"/>
                  </a:cubicBezTo>
                  <a:lnTo>
                    <a:pt x="0" y="17977"/>
                  </a:lnTo>
                  <a:close/>
                </a:path>
              </a:pathLst>
            </a:custGeom>
            <a:solidFill>
              <a:srgbClr val="F0FCF6"/>
            </a:solidFill>
          </p:spPr>
        </p:sp>
      </p:grpSp>
      <p:grpSp>
        <p:nvGrpSpPr>
          <p:cNvPr name="Group 14" id="14"/>
          <p:cNvGrpSpPr/>
          <p:nvPr/>
        </p:nvGrpSpPr>
        <p:grpSpPr>
          <a:xfrm rot="0">
            <a:off x="1753495" y="2398362"/>
            <a:ext cx="4829861" cy="424780"/>
            <a:chOff x="0" y="0"/>
            <a:chExt cx="6439814" cy="566374"/>
          </a:xfrm>
        </p:grpSpPr>
        <p:sp>
          <p:nvSpPr>
            <p:cNvPr name="Freeform 15" id="15"/>
            <p:cNvSpPr/>
            <p:nvPr/>
          </p:nvSpPr>
          <p:spPr>
            <a:xfrm flipH="false" flipV="false" rot="0">
              <a:off x="0" y="0"/>
              <a:ext cx="6439815" cy="566373"/>
            </a:xfrm>
            <a:custGeom>
              <a:avLst/>
              <a:gdLst/>
              <a:ahLst/>
              <a:cxnLst/>
              <a:rect r="r" b="b" t="t" l="l"/>
              <a:pathLst>
                <a:path h="566373" w="6439815">
                  <a:moveTo>
                    <a:pt x="0" y="0"/>
                  </a:moveTo>
                  <a:lnTo>
                    <a:pt x="6439815" y="0"/>
                  </a:lnTo>
                  <a:lnTo>
                    <a:pt x="6439815" y="566373"/>
                  </a:lnTo>
                  <a:lnTo>
                    <a:pt x="0" y="566373"/>
                  </a:lnTo>
                  <a:close/>
                </a:path>
              </a:pathLst>
            </a:custGeom>
            <a:blipFill>
              <a:blip r:embed="rId5">
                <a:alphaModFix amt="0"/>
              </a:blip>
              <a:stretch>
                <a:fillRect l="0" t="-178927" r="0" b="-164172"/>
              </a:stretch>
            </a:blipFill>
          </p:spPr>
        </p:sp>
        <p:sp>
          <p:nvSpPr>
            <p:cNvPr name="TextBox 16" id="16"/>
            <p:cNvSpPr txBox="true"/>
            <p:nvPr/>
          </p:nvSpPr>
          <p:spPr>
            <a:xfrm>
              <a:off x="0" y="-9525"/>
              <a:ext cx="6439814" cy="575899"/>
            </a:xfrm>
            <a:prstGeom prst="rect">
              <a:avLst/>
            </a:prstGeom>
          </p:spPr>
          <p:txBody>
            <a:bodyPr anchor="ctr" rtlCol="false" tIns="0" lIns="0" bIns="0" rIns="0"/>
            <a:lstStyle/>
            <a:p>
              <a:pPr algn="l">
                <a:lnSpc>
                  <a:spcPts val="2640"/>
                </a:lnSpc>
              </a:pPr>
              <a:r>
                <a:rPr lang="en-US" b="true" sz="2200">
                  <a:solidFill>
                    <a:srgbClr val="000000"/>
                  </a:solidFill>
                  <a:latin typeface="Roboto Bold"/>
                  <a:ea typeface="Roboto Bold"/>
                  <a:cs typeface="Roboto Bold"/>
                  <a:sym typeface="Roboto Bold"/>
                </a:rPr>
                <a:t>XÂY DỰNG PIPELINE STREAMING</a:t>
              </a:r>
            </a:p>
          </p:txBody>
        </p:sp>
      </p:grpSp>
      <p:grpSp>
        <p:nvGrpSpPr>
          <p:cNvPr name="Group 17" id="17"/>
          <p:cNvGrpSpPr/>
          <p:nvPr/>
        </p:nvGrpSpPr>
        <p:grpSpPr>
          <a:xfrm rot="0">
            <a:off x="1666951" y="3051125"/>
            <a:ext cx="7239305" cy="1279599"/>
            <a:chOff x="0" y="0"/>
            <a:chExt cx="9652406" cy="1706131"/>
          </a:xfrm>
        </p:grpSpPr>
        <p:sp>
          <p:nvSpPr>
            <p:cNvPr name="Freeform 18" id="18"/>
            <p:cNvSpPr/>
            <p:nvPr/>
          </p:nvSpPr>
          <p:spPr>
            <a:xfrm flipH="false" flipV="false" rot="0">
              <a:off x="0" y="0"/>
              <a:ext cx="9652407" cy="1706131"/>
            </a:xfrm>
            <a:custGeom>
              <a:avLst/>
              <a:gdLst/>
              <a:ahLst/>
              <a:cxnLst/>
              <a:rect r="r" b="b" t="t" l="l"/>
              <a:pathLst>
                <a:path h="1706131" w="9652407">
                  <a:moveTo>
                    <a:pt x="0" y="0"/>
                  </a:moveTo>
                  <a:lnTo>
                    <a:pt x="9652407" y="0"/>
                  </a:lnTo>
                  <a:lnTo>
                    <a:pt x="9652407" y="1706131"/>
                  </a:lnTo>
                  <a:lnTo>
                    <a:pt x="0" y="1706131"/>
                  </a:lnTo>
                  <a:close/>
                </a:path>
              </a:pathLst>
            </a:custGeom>
            <a:blipFill>
              <a:blip r:embed="rId5">
                <a:alphaModFix amt="0"/>
              </a:blip>
              <a:stretch>
                <a:fillRect l="0" t="-71898" r="0" b="-48574"/>
              </a:stretch>
            </a:blipFill>
          </p:spPr>
        </p:sp>
        <p:sp>
          <p:nvSpPr>
            <p:cNvPr name="TextBox 19" id="19"/>
            <p:cNvSpPr txBox="true"/>
            <p:nvPr/>
          </p:nvSpPr>
          <p:spPr>
            <a:xfrm>
              <a:off x="0" y="-9525"/>
              <a:ext cx="9652406" cy="17156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Thiết kế hệ thống xử lý dữ liệu thời gian thực cho chứng khoán, tích hợp dữ liệu giá, tin tức và dự đoán trong một nền tảng thống nhất.</a:t>
              </a:r>
            </a:p>
          </p:txBody>
        </p:sp>
      </p:grpSp>
      <p:grpSp>
        <p:nvGrpSpPr>
          <p:cNvPr name="Group 20" id="20"/>
          <p:cNvGrpSpPr/>
          <p:nvPr/>
        </p:nvGrpSpPr>
        <p:grpSpPr>
          <a:xfrm rot="0">
            <a:off x="9413191" y="2168437"/>
            <a:ext cx="7846109" cy="2723956"/>
            <a:chOff x="0" y="0"/>
            <a:chExt cx="11604265" cy="4028686"/>
          </a:xfrm>
        </p:grpSpPr>
        <p:sp>
          <p:nvSpPr>
            <p:cNvPr name="Freeform 21" id="21"/>
            <p:cNvSpPr/>
            <p:nvPr/>
          </p:nvSpPr>
          <p:spPr>
            <a:xfrm flipH="false" flipV="false" rot="0">
              <a:off x="0" y="0"/>
              <a:ext cx="11604265" cy="4028711"/>
            </a:xfrm>
            <a:custGeom>
              <a:avLst/>
              <a:gdLst/>
              <a:ahLst/>
              <a:cxnLst/>
              <a:rect r="r" b="b" t="t" l="l"/>
              <a:pathLst>
                <a:path h="4028711" w="11604265">
                  <a:moveTo>
                    <a:pt x="0" y="19283"/>
                  </a:moveTo>
                  <a:cubicBezTo>
                    <a:pt x="0" y="8648"/>
                    <a:pt x="21039" y="0"/>
                    <a:pt x="46914" y="0"/>
                  </a:cubicBezTo>
                  <a:lnTo>
                    <a:pt x="11557351" y="0"/>
                  </a:lnTo>
                  <a:cubicBezTo>
                    <a:pt x="11583226" y="0"/>
                    <a:pt x="11604265" y="8648"/>
                    <a:pt x="11604265" y="19283"/>
                  </a:cubicBezTo>
                  <a:lnTo>
                    <a:pt x="11604265" y="4009414"/>
                  </a:lnTo>
                  <a:cubicBezTo>
                    <a:pt x="11604265" y="4020049"/>
                    <a:pt x="11583226" y="4028711"/>
                    <a:pt x="11557351" y="4028711"/>
                  </a:cubicBezTo>
                  <a:lnTo>
                    <a:pt x="46914" y="4028711"/>
                  </a:lnTo>
                  <a:cubicBezTo>
                    <a:pt x="21039" y="4028711"/>
                    <a:pt x="0" y="4020049"/>
                    <a:pt x="0" y="4009414"/>
                  </a:cubicBezTo>
                  <a:lnTo>
                    <a:pt x="0" y="19283"/>
                  </a:lnTo>
                  <a:close/>
                </a:path>
              </a:pathLst>
            </a:custGeom>
            <a:solidFill>
              <a:srgbClr val="FFF4F0"/>
            </a:solidFill>
          </p:spPr>
        </p:sp>
      </p:grpSp>
      <p:grpSp>
        <p:nvGrpSpPr>
          <p:cNvPr name="Group 22" id="22"/>
          <p:cNvGrpSpPr/>
          <p:nvPr/>
        </p:nvGrpSpPr>
        <p:grpSpPr>
          <a:xfrm rot="0">
            <a:off x="9658350" y="2398362"/>
            <a:ext cx="3629254" cy="424780"/>
            <a:chOff x="0" y="0"/>
            <a:chExt cx="4839005" cy="566374"/>
          </a:xfrm>
        </p:grpSpPr>
        <p:sp>
          <p:nvSpPr>
            <p:cNvPr name="Freeform 23" id="23"/>
            <p:cNvSpPr/>
            <p:nvPr/>
          </p:nvSpPr>
          <p:spPr>
            <a:xfrm flipH="false" flipV="false" rot="0">
              <a:off x="0" y="0"/>
              <a:ext cx="4839005" cy="566373"/>
            </a:xfrm>
            <a:custGeom>
              <a:avLst/>
              <a:gdLst/>
              <a:ahLst/>
              <a:cxnLst/>
              <a:rect r="r" b="b" t="t" l="l"/>
              <a:pathLst>
                <a:path h="566373" w="4839005">
                  <a:moveTo>
                    <a:pt x="0" y="0"/>
                  </a:moveTo>
                  <a:lnTo>
                    <a:pt x="4839005" y="0"/>
                  </a:lnTo>
                  <a:lnTo>
                    <a:pt x="4839005" y="566373"/>
                  </a:lnTo>
                  <a:lnTo>
                    <a:pt x="0" y="566373"/>
                  </a:lnTo>
                  <a:close/>
                </a:path>
              </a:pathLst>
            </a:custGeom>
            <a:blipFill>
              <a:blip r:embed="rId5">
                <a:alphaModFix amt="0"/>
              </a:blip>
              <a:stretch>
                <a:fillRect l="0" t="-123854" r="0" b="-109099"/>
              </a:stretch>
            </a:blipFill>
          </p:spPr>
        </p:sp>
        <p:sp>
          <p:nvSpPr>
            <p:cNvPr name="TextBox 24" id="24"/>
            <p:cNvSpPr txBox="true"/>
            <p:nvPr/>
          </p:nvSpPr>
          <p:spPr>
            <a:xfrm>
              <a:off x="0" y="-9525"/>
              <a:ext cx="4839005" cy="575899"/>
            </a:xfrm>
            <a:prstGeom prst="rect">
              <a:avLst/>
            </a:prstGeom>
          </p:spPr>
          <p:txBody>
            <a:bodyPr anchor="ctr" rtlCol="false" tIns="0" lIns="0" bIns="0" rIns="0"/>
            <a:lstStyle/>
            <a:p>
              <a:pPr algn="l">
                <a:lnSpc>
                  <a:spcPts val="2640"/>
                </a:lnSpc>
              </a:pPr>
              <a:r>
                <a:rPr lang="en-US" b="true" sz="2200">
                  <a:solidFill>
                    <a:srgbClr val="000000"/>
                  </a:solidFill>
                  <a:latin typeface="Roboto Bold"/>
                  <a:ea typeface="Roboto Bold"/>
                  <a:cs typeface="Roboto Bold"/>
                  <a:sym typeface="Roboto Bold"/>
                </a:rPr>
                <a:t>PHÁT HIỆN BẤT THƯỜNG</a:t>
              </a:r>
            </a:p>
          </p:txBody>
        </p:sp>
      </p:grpSp>
      <p:grpSp>
        <p:nvGrpSpPr>
          <p:cNvPr name="Group 25" id="25"/>
          <p:cNvGrpSpPr/>
          <p:nvPr/>
        </p:nvGrpSpPr>
        <p:grpSpPr>
          <a:xfrm rot="0">
            <a:off x="9784965" y="3051125"/>
            <a:ext cx="7716199" cy="1279599"/>
            <a:chOff x="0" y="0"/>
            <a:chExt cx="10288265" cy="1706131"/>
          </a:xfrm>
        </p:grpSpPr>
        <p:sp>
          <p:nvSpPr>
            <p:cNvPr name="Freeform 26" id="26"/>
            <p:cNvSpPr/>
            <p:nvPr/>
          </p:nvSpPr>
          <p:spPr>
            <a:xfrm flipH="false" flipV="false" rot="0">
              <a:off x="0" y="0"/>
              <a:ext cx="10288266" cy="1706131"/>
            </a:xfrm>
            <a:custGeom>
              <a:avLst/>
              <a:gdLst/>
              <a:ahLst/>
              <a:cxnLst/>
              <a:rect r="r" b="b" t="t" l="l"/>
              <a:pathLst>
                <a:path h="1706131" w="10288266">
                  <a:moveTo>
                    <a:pt x="0" y="0"/>
                  </a:moveTo>
                  <a:lnTo>
                    <a:pt x="10288266" y="0"/>
                  </a:lnTo>
                  <a:lnTo>
                    <a:pt x="10288266" y="1706131"/>
                  </a:lnTo>
                  <a:lnTo>
                    <a:pt x="0" y="1706131"/>
                  </a:lnTo>
                  <a:close/>
                </a:path>
              </a:pathLst>
            </a:custGeom>
            <a:blipFill>
              <a:blip r:embed="rId5">
                <a:alphaModFix amt="0"/>
              </a:blip>
              <a:stretch>
                <a:fillRect l="0" t="-71898" r="6180" b="-48574"/>
              </a:stretch>
            </a:blipFill>
          </p:spPr>
        </p:sp>
        <p:sp>
          <p:nvSpPr>
            <p:cNvPr name="TextBox 27" id="27"/>
            <p:cNvSpPr txBox="true"/>
            <p:nvPr/>
          </p:nvSpPr>
          <p:spPr>
            <a:xfrm>
              <a:off x="0" y="-9525"/>
              <a:ext cx="10288265" cy="17156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Ứng dụ</a:t>
              </a:r>
              <a:r>
                <a:rPr lang="en-US" sz="2599">
                  <a:solidFill>
                    <a:srgbClr val="000000"/>
                  </a:solidFill>
                  <a:latin typeface="Roboto"/>
                  <a:ea typeface="Roboto"/>
                  <a:cs typeface="Roboto"/>
                  <a:sym typeface="Roboto"/>
                </a:rPr>
                <a:t>ng BOCPD để phát hiện biến động giá bất thường và sử dụng FinBERT để phân tích sentiment từ tin tức thị trường.</a:t>
              </a:r>
            </a:p>
          </p:txBody>
        </p:sp>
      </p:grpSp>
      <p:grpSp>
        <p:nvGrpSpPr>
          <p:cNvPr name="Group 28" id="28"/>
          <p:cNvGrpSpPr/>
          <p:nvPr/>
        </p:nvGrpSpPr>
        <p:grpSpPr>
          <a:xfrm rot="0">
            <a:off x="1262265" y="5233298"/>
            <a:ext cx="7730535" cy="2880629"/>
            <a:chOff x="0" y="0"/>
            <a:chExt cx="11371810" cy="4237478"/>
          </a:xfrm>
        </p:grpSpPr>
        <p:sp>
          <p:nvSpPr>
            <p:cNvPr name="Freeform 29" id="29"/>
            <p:cNvSpPr/>
            <p:nvPr/>
          </p:nvSpPr>
          <p:spPr>
            <a:xfrm flipH="false" flipV="false" rot="0">
              <a:off x="0" y="0"/>
              <a:ext cx="11371811" cy="4237504"/>
            </a:xfrm>
            <a:custGeom>
              <a:avLst/>
              <a:gdLst/>
              <a:ahLst/>
              <a:cxnLst/>
              <a:rect r="r" b="b" t="t" l="l"/>
              <a:pathLst>
                <a:path h="4237504" w="11371811">
                  <a:moveTo>
                    <a:pt x="0" y="20282"/>
                  </a:moveTo>
                  <a:cubicBezTo>
                    <a:pt x="0" y="9096"/>
                    <a:pt x="20618" y="0"/>
                    <a:pt x="45974" y="0"/>
                  </a:cubicBezTo>
                  <a:lnTo>
                    <a:pt x="11325836" y="0"/>
                  </a:lnTo>
                  <a:cubicBezTo>
                    <a:pt x="11351192" y="0"/>
                    <a:pt x="11371811" y="9096"/>
                    <a:pt x="11371811" y="20282"/>
                  </a:cubicBezTo>
                  <a:lnTo>
                    <a:pt x="11371811" y="4217207"/>
                  </a:lnTo>
                  <a:cubicBezTo>
                    <a:pt x="11371811" y="4228393"/>
                    <a:pt x="11351192" y="4237504"/>
                    <a:pt x="11325836" y="4237504"/>
                  </a:cubicBezTo>
                  <a:lnTo>
                    <a:pt x="45974" y="4237504"/>
                  </a:lnTo>
                  <a:cubicBezTo>
                    <a:pt x="20618" y="4237504"/>
                    <a:pt x="0" y="4228393"/>
                    <a:pt x="0" y="4217207"/>
                  </a:cubicBezTo>
                  <a:lnTo>
                    <a:pt x="0" y="20282"/>
                  </a:lnTo>
                  <a:close/>
                </a:path>
              </a:pathLst>
            </a:custGeom>
            <a:solidFill>
              <a:srgbClr val="FFF4F0"/>
            </a:solidFill>
          </p:spPr>
        </p:sp>
      </p:grpSp>
      <p:grpSp>
        <p:nvGrpSpPr>
          <p:cNvPr name="Group 30" id="30"/>
          <p:cNvGrpSpPr/>
          <p:nvPr/>
        </p:nvGrpSpPr>
        <p:grpSpPr>
          <a:xfrm rot="0">
            <a:off x="1753495" y="5449280"/>
            <a:ext cx="4543654" cy="424780"/>
            <a:chOff x="0" y="0"/>
            <a:chExt cx="6058205" cy="566374"/>
          </a:xfrm>
        </p:grpSpPr>
        <p:sp>
          <p:nvSpPr>
            <p:cNvPr name="Freeform 31" id="31"/>
            <p:cNvSpPr/>
            <p:nvPr/>
          </p:nvSpPr>
          <p:spPr>
            <a:xfrm flipH="false" flipV="false" rot="0">
              <a:off x="0" y="0"/>
              <a:ext cx="6058205" cy="566373"/>
            </a:xfrm>
            <a:custGeom>
              <a:avLst/>
              <a:gdLst/>
              <a:ahLst/>
              <a:cxnLst/>
              <a:rect r="r" b="b" t="t" l="l"/>
              <a:pathLst>
                <a:path h="566373" w="6058205">
                  <a:moveTo>
                    <a:pt x="0" y="0"/>
                  </a:moveTo>
                  <a:lnTo>
                    <a:pt x="6058205" y="0"/>
                  </a:lnTo>
                  <a:lnTo>
                    <a:pt x="6058205" y="566373"/>
                  </a:lnTo>
                  <a:lnTo>
                    <a:pt x="0" y="566373"/>
                  </a:lnTo>
                  <a:close/>
                </a:path>
              </a:pathLst>
            </a:custGeom>
            <a:blipFill>
              <a:blip r:embed="rId5">
                <a:alphaModFix amt="0"/>
              </a:blip>
              <a:stretch>
                <a:fillRect l="0" t="-165799" r="0" b="-151043"/>
              </a:stretch>
            </a:blipFill>
          </p:spPr>
        </p:sp>
        <p:sp>
          <p:nvSpPr>
            <p:cNvPr name="TextBox 32" id="32"/>
            <p:cNvSpPr txBox="true"/>
            <p:nvPr/>
          </p:nvSpPr>
          <p:spPr>
            <a:xfrm>
              <a:off x="0" y="-9525"/>
              <a:ext cx="6058205" cy="575899"/>
            </a:xfrm>
            <a:prstGeom prst="rect">
              <a:avLst/>
            </a:prstGeom>
          </p:spPr>
          <p:txBody>
            <a:bodyPr anchor="ctr" rtlCol="false" tIns="0" lIns="0" bIns="0" rIns="0"/>
            <a:lstStyle/>
            <a:p>
              <a:pPr algn="l">
                <a:lnSpc>
                  <a:spcPts val="2640"/>
                </a:lnSpc>
              </a:pPr>
              <a:r>
                <a:rPr lang="en-US" b="true" sz="2200">
                  <a:solidFill>
                    <a:srgbClr val="000000"/>
                  </a:solidFill>
                  <a:latin typeface="Roboto Bold"/>
                  <a:ea typeface="Roboto Bold"/>
                  <a:cs typeface="Roboto Bold"/>
                  <a:sym typeface="Roboto Bold"/>
                </a:rPr>
                <a:t>TRIỂN KHAI MLOPS KHÉP KÍN</a:t>
              </a:r>
            </a:p>
          </p:txBody>
        </p:sp>
      </p:grpSp>
      <p:grpSp>
        <p:nvGrpSpPr>
          <p:cNvPr name="Group 33" id="33"/>
          <p:cNvGrpSpPr/>
          <p:nvPr/>
        </p:nvGrpSpPr>
        <p:grpSpPr>
          <a:xfrm rot="0">
            <a:off x="1753495" y="6070724"/>
            <a:ext cx="7239305" cy="1279599"/>
            <a:chOff x="0" y="0"/>
            <a:chExt cx="9652406" cy="1706131"/>
          </a:xfrm>
        </p:grpSpPr>
        <p:sp>
          <p:nvSpPr>
            <p:cNvPr name="Freeform 34" id="34"/>
            <p:cNvSpPr/>
            <p:nvPr/>
          </p:nvSpPr>
          <p:spPr>
            <a:xfrm flipH="false" flipV="false" rot="0">
              <a:off x="0" y="0"/>
              <a:ext cx="9652407" cy="1706131"/>
            </a:xfrm>
            <a:custGeom>
              <a:avLst/>
              <a:gdLst/>
              <a:ahLst/>
              <a:cxnLst/>
              <a:rect r="r" b="b" t="t" l="l"/>
              <a:pathLst>
                <a:path h="1706131" w="9652407">
                  <a:moveTo>
                    <a:pt x="0" y="0"/>
                  </a:moveTo>
                  <a:lnTo>
                    <a:pt x="9652407" y="0"/>
                  </a:lnTo>
                  <a:lnTo>
                    <a:pt x="9652407" y="1706131"/>
                  </a:lnTo>
                  <a:lnTo>
                    <a:pt x="0" y="1706131"/>
                  </a:lnTo>
                  <a:close/>
                </a:path>
              </a:pathLst>
            </a:custGeom>
            <a:blipFill>
              <a:blip r:embed="rId5">
                <a:alphaModFix amt="0"/>
              </a:blip>
              <a:stretch>
                <a:fillRect l="0" t="-71898" r="0" b="-48574"/>
              </a:stretch>
            </a:blipFill>
          </p:spPr>
        </p:sp>
        <p:sp>
          <p:nvSpPr>
            <p:cNvPr name="TextBox 35" id="35"/>
            <p:cNvSpPr txBox="true"/>
            <p:nvPr/>
          </p:nvSpPr>
          <p:spPr>
            <a:xfrm>
              <a:off x="0" y="-9525"/>
              <a:ext cx="9652406" cy="17156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Xây dựng p</a:t>
              </a:r>
              <a:r>
                <a:rPr lang="en-US" sz="2599">
                  <a:solidFill>
                    <a:srgbClr val="000000"/>
                  </a:solidFill>
                  <a:latin typeface="Roboto"/>
                  <a:ea typeface="Roboto"/>
                  <a:cs typeface="Roboto"/>
                  <a:sym typeface="Roboto"/>
                </a:rPr>
                <a:t>ipeline MLOps tự động với MLflow và Airflow, hỗ trợ train, đánh giá, deploy và retrain mô hình liên tục.</a:t>
              </a:r>
            </a:p>
          </p:txBody>
        </p:sp>
      </p:grpSp>
      <p:grpSp>
        <p:nvGrpSpPr>
          <p:cNvPr name="Group 36" id="36"/>
          <p:cNvGrpSpPr/>
          <p:nvPr/>
        </p:nvGrpSpPr>
        <p:grpSpPr>
          <a:xfrm rot="0">
            <a:off x="9345110" y="5233298"/>
            <a:ext cx="7954749" cy="2880629"/>
            <a:chOff x="0" y="0"/>
            <a:chExt cx="10909085" cy="3950474"/>
          </a:xfrm>
        </p:grpSpPr>
        <p:sp>
          <p:nvSpPr>
            <p:cNvPr name="Freeform 37" id="37"/>
            <p:cNvSpPr/>
            <p:nvPr/>
          </p:nvSpPr>
          <p:spPr>
            <a:xfrm flipH="false" flipV="false" rot="0">
              <a:off x="0" y="0"/>
              <a:ext cx="10909085" cy="3950500"/>
            </a:xfrm>
            <a:custGeom>
              <a:avLst/>
              <a:gdLst/>
              <a:ahLst/>
              <a:cxnLst/>
              <a:rect r="r" b="b" t="t" l="l"/>
              <a:pathLst>
                <a:path h="3950500" w="10909085">
                  <a:moveTo>
                    <a:pt x="0" y="18908"/>
                  </a:moveTo>
                  <a:cubicBezTo>
                    <a:pt x="0" y="8480"/>
                    <a:pt x="19779" y="0"/>
                    <a:pt x="44103" y="0"/>
                  </a:cubicBezTo>
                  <a:lnTo>
                    <a:pt x="10864981" y="0"/>
                  </a:lnTo>
                  <a:cubicBezTo>
                    <a:pt x="10889306" y="0"/>
                    <a:pt x="10909085" y="8480"/>
                    <a:pt x="10909085" y="18908"/>
                  </a:cubicBezTo>
                  <a:lnTo>
                    <a:pt x="10909085" y="3931576"/>
                  </a:lnTo>
                  <a:cubicBezTo>
                    <a:pt x="10909085" y="3942005"/>
                    <a:pt x="10889306" y="3950500"/>
                    <a:pt x="10864981" y="3950500"/>
                  </a:cubicBezTo>
                  <a:lnTo>
                    <a:pt x="44103" y="3950500"/>
                  </a:lnTo>
                  <a:cubicBezTo>
                    <a:pt x="19779" y="3950500"/>
                    <a:pt x="0" y="3942005"/>
                    <a:pt x="0" y="3931576"/>
                  </a:cubicBezTo>
                  <a:lnTo>
                    <a:pt x="0" y="18908"/>
                  </a:lnTo>
                  <a:close/>
                </a:path>
              </a:pathLst>
            </a:custGeom>
            <a:solidFill>
              <a:srgbClr val="F0FCF6"/>
            </a:solidFill>
          </p:spPr>
        </p:sp>
      </p:grpSp>
      <p:grpSp>
        <p:nvGrpSpPr>
          <p:cNvPr name="Group 38" id="38"/>
          <p:cNvGrpSpPr/>
          <p:nvPr/>
        </p:nvGrpSpPr>
        <p:grpSpPr>
          <a:xfrm rot="0">
            <a:off x="9667951" y="5449280"/>
            <a:ext cx="2762402" cy="424780"/>
            <a:chOff x="0" y="0"/>
            <a:chExt cx="3683203" cy="566374"/>
          </a:xfrm>
        </p:grpSpPr>
        <p:sp>
          <p:nvSpPr>
            <p:cNvPr name="Freeform 39" id="39"/>
            <p:cNvSpPr/>
            <p:nvPr/>
          </p:nvSpPr>
          <p:spPr>
            <a:xfrm flipH="false" flipV="false" rot="0">
              <a:off x="0" y="0"/>
              <a:ext cx="3683203" cy="566373"/>
            </a:xfrm>
            <a:custGeom>
              <a:avLst/>
              <a:gdLst/>
              <a:ahLst/>
              <a:cxnLst/>
              <a:rect r="r" b="b" t="t" l="l"/>
              <a:pathLst>
                <a:path h="566373" w="3683203">
                  <a:moveTo>
                    <a:pt x="0" y="0"/>
                  </a:moveTo>
                  <a:lnTo>
                    <a:pt x="3683203" y="0"/>
                  </a:lnTo>
                  <a:lnTo>
                    <a:pt x="3683203" y="566373"/>
                  </a:lnTo>
                  <a:lnTo>
                    <a:pt x="0" y="566373"/>
                  </a:lnTo>
                  <a:close/>
                </a:path>
              </a:pathLst>
            </a:custGeom>
            <a:blipFill>
              <a:blip r:embed="rId5">
                <a:alphaModFix amt="0"/>
              </a:blip>
              <a:stretch>
                <a:fillRect l="0" t="-84091" r="0" b="-69336"/>
              </a:stretch>
            </a:blipFill>
          </p:spPr>
        </p:sp>
        <p:sp>
          <p:nvSpPr>
            <p:cNvPr name="TextBox 40" id="40"/>
            <p:cNvSpPr txBox="true"/>
            <p:nvPr/>
          </p:nvSpPr>
          <p:spPr>
            <a:xfrm>
              <a:off x="0" y="-9525"/>
              <a:ext cx="3683203" cy="575899"/>
            </a:xfrm>
            <a:prstGeom prst="rect">
              <a:avLst/>
            </a:prstGeom>
          </p:spPr>
          <p:txBody>
            <a:bodyPr anchor="ctr" rtlCol="false" tIns="0" lIns="0" bIns="0" rIns="0"/>
            <a:lstStyle/>
            <a:p>
              <a:pPr algn="l">
                <a:lnSpc>
                  <a:spcPts val="2640"/>
                </a:lnSpc>
              </a:pPr>
              <a:r>
                <a:rPr lang="en-US" b="true" sz="2200">
                  <a:solidFill>
                    <a:srgbClr val="000000"/>
                  </a:solidFill>
                  <a:latin typeface="Roboto Bold"/>
                  <a:ea typeface="Roboto Bold"/>
                  <a:cs typeface="Roboto Bold"/>
                  <a:sym typeface="Roboto Bold"/>
                </a:rPr>
                <a:t>DASHBOARD API</a:t>
              </a:r>
            </a:p>
          </p:txBody>
        </p:sp>
      </p:grpSp>
      <p:grpSp>
        <p:nvGrpSpPr>
          <p:cNvPr name="Group 41" id="41"/>
          <p:cNvGrpSpPr/>
          <p:nvPr/>
        </p:nvGrpSpPr>
        <p:grpSpPr>
          <a:xfrm rot="0">
            <a:off x="9658350" y="6033813"/>
            <a:ext cx="7239305" cy="1279599"/>
            <a:chOff x="0" y="0"/>
            <a:chExt cx="9652406" cy="1706131"/>
          </a:xfrm>
        </p:grpSpPr>
        <p:sp>
          <p:nvSpPr>
            <p:cNvPr name="Freeform 42" id="42"/>
            <p:cNvSpPr/>
            <p:nvPr/>
          </p:nvSpPr>
          <p:spPr>
            <a:xfrm flipH="false" flipV="false" rot="0">
              <a:off x="0" y="0"/>
              <a:ext cx="9652407" cy="1706131"/>
            </a:xfrm>
            <a:custGeom>
              <a:avLst/>
              <a:gdLst/>
              <a:ahLst/>
              <a:cxnLst/>
              <a:rect r="r" b="b" t="t" l="l"/>
              <a:pathLst>
                <a:path h="1706131" w="9652407">
                  <a:moveTo>
                    <a:pt x="0" y="0"/>
                  </a:moveTo>
                  <a:lnTo>
                    <a:pt x="9652407" y="0"/>
                  </a:lnTo>
                  <a:lnTo>
                    <a:pt x="9652407" y="1706131"/>
                  </a:lnTo>
                  <a:lnTo>
                    <a:pt x="0" y="1706131"/>
                  </a:lnTo>
                  <a:close/>
                </a:path>
              </a:pathLst>
            </a:custGeom>
            <a:blipFill>
              <a:blip r:embed="rId5">
                <a:alphaModFix amt="0"/>
              </a:blip>
              <a:stretch>
                <a:fillRect l="0" t="-71898" r="0" b="-48574"/>
              </a:stretch>
            </a:blipFill>
          </p:spPr>
        </p:sp>
        <p:sp>
          <p:nvSpPr>
            <p:cNvPr name="TextBox 43" id="43"/>
            <p:cNvSpPr txBox="true"/>
            <p:nvPr/>
          </p:nvSpPr>
          <p:spPr>
            <a:xfrm>
              <a:off x="0" y="-9525"/>
              <a:ext cx="9652406" cy="17156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C</a:t>
              </a:r>
              <a:r>
                <a:rPr lang="en-US" sz="2599">
                  <a:solidFill>
                    <a:srgbClr val="000000"/>
                  </a:solidFill>
                  <a:latin typeface="Roboto"/>
                  <a:ea typeface="Roboto"/>
                  <a:cs typeface="Roboto"/>
                  <a:sym typeface="Roboto"/>
                </a:rPr>
                <a:t>ung cấp dashboard realtime cùng REST API và WebSocket giúp theo dõi giá, cảnh báo và dự đoán xu hướng trực quan.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25" b="0"/>
              </a:stretch>
            </a:blipFill>
          </p:spPr>
        </p:sp>
      </p:grpSp>
      <p:grpSp>
        <p:nvGrpSpPr>
          <p:cNvPr name="Group 4" id="4"/>
          <p:cNvGrpSpPr/>
          <p:nvPr/>
        </p:nvGrpSpPr>
        <p:grpSpPr>
          <a:xfrm rot="0">
            <a:off x="666598" y="495605"/>
            <a:ext cx="3448202" cy="981151"/>
            <a:chOff x="0" y="0"/>
            <a:chExt cx="4597603" cy="1308202"/>
          </a:xfrm>
        </p:grpSpPr>
        <p:sp>
          <p:nvSpPr>
            <p:cNvPr name="Freeform 5" id="5"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4"/>
              <a:stretch>
                <a:fillRect l="0" t="0" r="1" b="-117"/>
              </a:stretch>
            </a:blipFill>
          </p:spPr>
        </p:sp>
      </p:grpSp>
      <p:grpSp>
        <p:nvGrpSpPr>
          <p:cNvPr name="Group 6" id="6"/>
          <p:cNvGrpSpPr/>
          <p:nvPr/>
        </p:nvGrpSpPr>
        <p:grpSpPr>
          <a:xfrm rot="0">
            <a:off x="7808062" y="3238805"/>
            <a:ext cx="2677363" cy="715702"/>
            <a:chOff x="0" y="0"/>
            <a:chExt cx="3569818" cy="954269"/>
          </a:xfrm>
        </p:grpSpPr>
        <p:sp>
          <p:nvSpPr>
            <p:cNvPr name="Freeform 7" id="7"/>
            <p:cNvSpPr/>
            <p:nvPr/>
          </p:nvSpPr>
          <p:spPr>
            <a:xfrm flipH="false" flipV="false" rot="0">
              <a:off x="0" y="0"/>
              <a:ext cx="3569817" cy="954270"/>
            </a:xfrm>
            <a:custGeom>
              <a:avLst/>
              <a:gdLst/>
              <a:ahLst/>
              <a:cxnLst/>
              <a:rect r="r" b="b" t="t" l="l"/>
              <a:pathLst>
                <a:path h="954270" w="3569817">
                  <a:moveTo>
                    <a:pt x="0" y="0"/>
                  </a:moveTo>
                  <a:lnTo>
                    <a:pt x="3569817" y="0"/>
                  </a:lnTo>
                  <a:lnTo>
                    <a:pt x="3569817" y="954270"/>
                  </a:lnTo>
                  <a:lnTo>
                    <a:pt x="0" y="954270"/>
                  </a:lnTo>
                  <a:close/>
                </a:path>
              </a:pathLst>
            </a:custGeom>
            <a:blipFill>
              <a:blip r:embed="rId5">
                <a:alphaModFix amt="0"/>
              </a:blip>
              <a:stretch>
                <a:fillRect l="0" t="-30921" r="0" b="-14861"/>
              </a:stretch>
            </a:blipFill>
          </p:spPr>
        </p:sp>
        <p:sp>
          <p:nvSpPr>
            <p:cNvPr name="TextBox 8" id="8"/>
            <p:cNvSpPr txBox="true"/>
            <p:nvPr/>
          </p:nvSpPr>
          <p:spPr>
            <a:xfrm>
              <a:off x="0" y="0"/>
              <a:ext cx="3569818" cy="954269"/>
            </a:xfrm>
            <a:prstGeom prst="rect">
              <a:avLst/>
            </a:prstGeom>
          </p:spPr>
          <p:txBody>
            <a:bodyPr anchor="ctr" rtlCol="false" tIns="0" lIns="0" bIns="0" rIns="0"/>
            <a:lstStyle/>
            <a:p>
              <a:pPr algn="ctr">
                <a:lnSpc>
                  <a:spcPts val="4440"/>
                </a:lnSpc>
              </a:pPr>
              <a:r>
                <a:rPr lang="en-US" b="true" sz="3700" spc="600">
                  <a:solidFill>
                    <a:srgbClr val="F5B82E"/>
                  </a:solidFill>
                  <a:latin typeface="Roboto Bold"/>
                  <a:ea typeface="Roboto Bold"/>
                  <a:cs typeface="Roboto Bold"/>
                  <a:sym typeface="Roboto Bold"/>
                </a:rPr>
                <a:t>PHẦN 02</a:t>
              </a:r>
            </a:p>
          </p:txBody>
        </p:sp>
      </p:grpSp>
      <p:grpSp>
        <p:nvGrpSpPr>
          <p:cNvPr name="Group 9" id="9"/>
          <p:cNvGrpSpPr/>
          <p:nvPr/>
        </p:nvGrpSpPr>
        <p:grpSpPr>
          <a:xfrm rot="0">
            <a:off x="3380537" y="4190695"/>
            <a:ext cx="11538814" cy="1588467"/>
            <a:chOff x="0" y="0"/>
            <a:chExt cx="15385085" cy="2117957"/>
          </a:xfrm>
        </p:grpSpPr>
        <p:sp>
          <p:nvSpPr>
            <p:cNvPr name="Freeform 10" id="10"/>
            <p:cNvSpPr/>
            <p:nvPr/>
          </p:nvSpPr>
          <p:spPr>
            <a:xfrm flipH="false" flipV="false" rot="0">
              <a:off x="0" y="0"/>
              <a:ext cx="15385086" cy="2117956"/>
            </a:xfrm>
            <a:custGeom>
              <a:avLst/>
              <a:gdLst/>
              <a:ahLst/>
              <a:cxnLst/>
              <a:rect r="r" b="b" t="t" l="l"/>
              <a:pathLst>
                <a:path h="2117956" w="15385086">
                  <a:moveTo>
                    <a:pt x="0" y="0"/>
                  </a:moveTo>
                  <a:lnTo>
                    <a:pt x="15385086" y="0"/>
                  </a:lnTo>
                  <a:lnTo>
                    <a:pt x="15385086" y="2117956"/>
                  </a:lnTo>
                  <a:lnTo>
                    <a:pt x="0" y="2117956"/>
                  </a:lnTo>
                  <a:close/>
                </a:path>
              </a:pathLst>
            </a:custGeom>
            <a:blipFill>
              <a:blip r:embed="rId5">
                <a:alphaModFix amt="0"/>
              </a:blip>
              <a:stretch>
                <a:fillRect l="0" t="-99864" r="0" b="-83218"/>
              </a:stretch>
            </a:blipFill>
          </p:spPr>
        </p:sp>
        <p:sp>
          <p:nvSpPr>
            <p:cNvPr name="TextBox 11" id="11"/>
            <p:cNvSpPr txBox="true"/>
            <p:nvPr/>
          </p:nvSpPr>
          <p:spPr>
            <a:xfrm>
              <a:off x="0" y="0"/>
              <a:ext cx="15385085" cy="2117957"/>
            </a:xfrm>
            <a:prstGeom prst="rect">
              <a:avLst/>
            </a:prstGeom>
          </p:spPr>
          <p:txBody>
            <a:bodyPr anchor="ctr" rtlCol="false" tIns="0" lIns="0" bIns="0" rIns="0"/>
            <a:lstStyle/>
            <a:p>
              <a:pPr algn="ctr">
                <a:lnSpc>
                  <a:spcPts val="9840"/>
                </a:lnSpc>
              </a:pPr>
              <a:r>
                <a:rPr lang="en-US" b="true" sz="8200" spc="150">
                  <a:solidFill>
                    <a:srgbClr val="FFFFFF"/>
                  </a:solidFill>
                  <a:latin typeface="Roboto Bold"/>
                  <a:ea typeface="Roboto Bold"/>
                  <a:cs typeface="Roboto Bold"/>
                  <a:sym typeface="Roboto Bold"/>
                </a:rPr>
                <a:t>THIẾT KẾ HỆ THỐNG</a:t>
              </a:r>
            </a:p>
          </p:txBody>
        </p:sp>
      </p:grpSp>
      <p:grpSp>
        <p:nvGrpSpPr>
          <p:cNvPr name="Group 12" id="12"/>
          <p:cNvGrpSpPr/>
          <p:nvPr/>
        </p:nvGrpSpPr>
        <p:grpSpPr>
          <a:xfrm rot="0">
            <a:off x="394106" y="9620402"/>
            <a:ext cx="355702" cy="424780"/>
            <a:chOff x="0" y="0"/>
            <a:chExt cx="474269" cy="566374"/>
          </a:xfrm>
        </p:grpSpPr>
        <p:sp>
          <p:nvSpPr>
            <p:cNvPr name="Freeform 13" id="13"/>
            <p:cNvSpPr/>
            <p:nvPr/>
          </p:nvSpPr>
          <p:spPr>
            <a:xfrm flipH="false" flipV="false" rot="0">
              <a:off x="0" y="0"/>
              <a:ext cx="474269" cy="566373"/>
            </a:xfrm>
            <a:custGeom>
              <a:avLst/>
              <a:gdLst/>
              <a:ahLst/>
              <a:cxnLst/>
              <a:rect r="r" b="b" t="t" l="l"/>
              <a:pathLst>
                <a:path h="566373" w="474269">
                  <a:moveTo>
                    <a:pt x="0" y="0"/>
                  </a:moveTo>
                  <a:lnTo>
                    <a:pt x="474269" y="0"/>
                  </a:lnTo>
                  <a:lnTo>
                    <a:pt x="474269" y="566373"/>
                  </a:lnTo>
                  <a:lnTo>
                    <a:pt x="0" y="566373"/>
                  </a:lnTo>
                  <a:close/>
                </a:path>
              </a:pathLst>
            </a:custGeom>
            <a:blipFill>
              <a:blip r:embed="rId5">
                <a:alphaModFix amt="0"/>
              </a:blip>
              <a:stretch>
                <a:fillRect l="-80612" t="0" r="-80612" b="14755"/>
              </a:stretch>
            </a:blipFill>
          </p:spPr>
        </p:sp>
        <p:sp>
          <p:nvSpPr>
            <p:cNvPr name="TextBox 14" id="14"/>
            <p:cNvSpPr txBox="true"/>
            <p:nvPr/>
          </p:nvSpPr>
          <p:spPr>
            <a:xfrm>
              <a:off x="0" y="-9525"/>
              <a:ext cx="474269"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14</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237400" y="478403"/>
            <a:ext cx="7392010" cy="666598"/>
            <a:chOff x="0" y="0"/>
            <a:chExt cx="9856013" cy="888797"/>
          </a:xfrm>
        </p:grpSpPr>
        <p:grpSp>
          <p:nvGrpSpPr>
            <p:cNvPr name="Group 4" id="4"/>
            <p:cNvGrpSpPr/>
            <p:nvPr/>
          </p:nvGrpSpPr>
          <p:grpSpPr>
            <a:xfrm rot="0">
              <a:off x="4163568" y="825398"/>
              <a:ext cx="1524000" cy="63398"/>
              <a:chOff x="0" y="0"/>
              <a:chExt cx="1524000" cy="63398"/>
            </a:xfrm>
          </p:grpSpPr>
          <p:sp>
            <p:nvSpPr>
              <p:cNvPr name="Freeform 5" id="5"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3"/>
                <a:stretch>
                  <a:fillRect l="80" t="0" r="79" b="-40"/>
                </a:stretch>
              </a:blipFill>
            </p:spPr>
          </p:sp>
        </p:grpSp>
        <p:grpSp>
          <p:nvGrpSpPr>
            <p:cNvPr name="Group 6" id="6"/>
            <p:cNvGrpSpPr/>
            <p:nvPr/>
          </p:nvGrpSpPr>
          <p:grpSpPr>
            <a:xfrm rot="0">
              <a:off x="0" y="0"/>
              <a:ext cx="9856013" cy="823507"/>
              <a:chOff x="0" y="0"/>
              <a:chExt cx="9856013" cy="823507"/>
            </a:xfrm>
          </p:grpSpPr>
          <p:sp>
            <p:nvSpPr>
              <p:cNvPr name="Freeform 7" id="7"/>
              <p:cNvSpPr/>
              <p:nvPr/>
            </p:nvSpPr>
            <p:spPr>
              <a:xfrm flipH="false" flipV="false" rot="0">
                <a:off x="0" y="0"/>
                <a:ext cx="9856013" cy="823507"/>
              </a:xfrm>
              <a:custGeom>
                <a:avLst/>
                <a:gdLst/>
                <a:ahLst/>
                <a:cxnLst/>
                <a:rect r="r" b="b" t="t" l="l"/>
                <a:pathLst>
                  <a:path h="823507" w="9856013">
                    <a:moveTo>
                      <a:pt x="0" y="0"/>
                    </a:moveTo>
                    <a:lnTo>
                      <a:pt x="9856013" y="0"/>
                    </a:lnTo>
                    <a:lnTo>
                      <a:pt x="9856013" y="823507"/>
                    </a:lnTo>
                    <a:lnTo>
                      <a:pt x="0" y="823507"/>
                    </a:lnTo>
                    <a:close/>
                  </a:path>
                </a:pathLst>
              </a:custGeom>
              <a:blipFill>
                <a:blip r:embed="rId4">
                  <a:alphaModFix amt="0"/>
                </a:blip>
                <a:stretch>
                  <a:fillRect l="0" t="-192267" r="0" b="-174139"/>
                </a:stretch>
              </a:blipFill>
            </p:spPr>
          </p:sp>
          <p:sp>
            <p:nvSpPr>
              <p:cNvPr name="TextBox 8" id="8"/>
              <p:cNvSpPr txBox="true"/>
              <p:nvPr/>
            </p:nvSpPr>
            <p:spPr>
              <a:xfrm>
                <a:off x="0" y="-28575"/>
                <a:ext cx="9856013" cy="852082"/>
              </a:xfrm>
              <a:prstGeom prst="rect">
                <a:avLst/>
              </a:prstGeom>
            </p:spPr>
            <p:txBody>
              <a:bodyPr anchor="ctr" rtlCol="false" tIns="0" lIns="0" bIns="0" rIns="0"/>
              <a:lstStyle/>
              <a:p>
                <a:pPr algn="ctr">
                  <a:lnSpc>
                    <a:spcPts val="3719"/>
                  </a:lnSpc>
                </a:pPr>
                <a:r>
                  <a:rPr lang="en-US" sz="3099" b="true">
                    <a:solidFill>
                      <a:srgbClr val="1A1F8E"/>
                    </a:solidFill>
                    <a:latin typeface="Times New Roman Bold"/>
                    <a:ea typeface="Times New Roman Bold"/>
                    <a:cs typeface="Times New Roman Bold"/>
                    <a:sym typeface="Times New Roman Bold"/>
                  </a:rPr>
                  <a:t>KIẾN TRÚC TỔNG THỂ HỆ THỐNG</a:t>
                </a:r>
              </a:p>
            </p:txBody>
          </p:sp>
        </p:grpSp>
      </p:grpSp>
      <p:sp>
        <p:nvSpPr>
          <p:cNvPr name="Freeform 9" id="9"/>
          <p:cNvSpPr/>
          <p:nvPr/>
        </p:nvSpPr>
        <p:spPr>
          <a:xfrm flipH="false" flipV="false" rot="0">
            <a:off x="2194920" y="1145000"/>
            <a:ext cx="14479481" cy="7565529"/>
          </a:xfrm>
          <a:custGeom>
            <a:avLst/>
            <a:gdLst/>
            <a:ahLst/>
            <a:cxnLst/>
            <a:rect r="r" b="b" t="t" l="l"/>
            <a:pathLst>
              <a:path h="7565529" w="14479481">
                <a:moveTo>
                  <a:pt x="0" y="0"/>
                </a:moveTo>
                <a:lnTo>
                  <a:pt x="14479481" y="0"/>
                </a:lnTo>
                <a:lnTo>
                  <a:pt x="14479481" y="7565529"/>
                </a:lnTo>
                <a:lnTo>
                  <a:pt x="0" y="7565529"/>
                </a:lnTo>
                <a:lnTo>
                  <a:pt x="0" y="0"/>
                </a:lnTo>
                <a:close/>
              </a:path>
            </a:pathLst>
          </a:custGeom>
          <a:blipFill>
            <a:blip r:embed="rId5"/>
            <a:stretch>
              <a:fillRect l="0" t="0" r="0" b="0"/>
            </a:stretch>
          </a:blipFill>
        </p:spPr>
      </p:sp>
      <p:grpSp>
        <p:nvGrpSpPr>
          <p:cNvPr name="Group 10" id="10"/>
          <p:cNvGrpSpPr/>
          <p:nvPr/>
        </p:nvGrpSpPr>
        <p:grpSpPr>
          <a:xfrm rot="0">
            <a:off x="581892" y="321078"/>
            <a:ext cx="3443430" cy="981246"/>
            <a:chOff x="0" y="0"/>
            <a:chExt cx="4591240" cy="1308329"/>
          </a:xfrm>
        </p:grpSpPr>
        <p:sp>
          <p:nvSpPr>
            <p:cNvPr name="Freeform 11" id="11"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6"/>
              <a:stretch>
                <a:fillRect l="0" t="-4" r="-1" b="-3"/>
              </a:stretch>
            </a:blipFill>
          </p:spPr>
        </p:sp>
      </p:grpSp>
      <p:sp>
        <p:nvSpPr>
          <p:cNvPr name="TextBox 12" id="12"/>
          <p:cNvSpPr txBox="true"/>
          <p:nvPr/>
        </p:nvSpPr>
        <p:spPr>
          <a:xfrm rot="0">
            <a:off x="14853511" y="9496425"/>
            <a:ext cx="2755900" cy="25717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Noto Sans"/>
                <a:ea typeface="Noto Sans"/>
                <a:cs typeface="Noto Sans"/>
                <a:sym typeface="Noto Sans"/>
              </a:rPr>
              <a:t>ĐỒ ÁN TỐT NGHIỆP 2025-2026</a:t>
            </a:r>
          </a:p>
        </p:txBody>
      </p:sp>
      <p:sp>
        <p:nvSpPr>
          <p:cNvPr name="TextBox 13" id="13"/>
          <p:cNvSpPr txBox="true"/>
          <p:nvPr/>
        </p:nvSpPr>
        <p:spPr>
          <a:xfrm rot="0">
            <a:off x="494631" y="9258299"/>
            <a:ext cx="152400" cy="20002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Noto Sans"/>
                <a:ea typeface="Noto Sans"/>
                <a:cs typeface="Noto Sans"/>
                <a:sym typeface="Noto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8570214" y="1254776"/>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7105345" y="587264"/>
            <a:ext cx="4077310" cy="632408"/>
            <a:chOff x="0" y="0"/>
            <a:chExt cx="5436413" cy="843211"/>
          </a:xfrm>
        </p:grpSpPr>
        <p:sp>
          <p:nvSpPr>
            <p:cNvPr name="Freeform 8" id="8"/>
            <p:cNvSpPr/>
            <p:nvPr/>
          </p:nvSpPr>
          <p:spPr>
            <a:xfrm flipH="false" flipV="false" rot="0">
              <a:off x="0" y="0"/>
              <a:ext cx="5436414" cy="843211"/>
            </a:xfrm>
            <a:custGeom>
              <a:avLst/>
              <a:gdLst/>
              <a:ahLst/>
              <a:cxnLst/>
              <a:rect r="r" b="b" t="t" l="l"/>
              <a:pathLst>
                <a:path h="843211" w="5436414">
                  <a:moveTo>
                    <a:pt x="0" y="0"/>
                  </a:moveTo>
                  <a:lnTo>
                    <a:pt x="5436414" y="0"/>
                  </a:lnTo>
                  <a:lnTo>
                    <a:pt x="5436414" y="843211"/>
                  </a:lnTo>
                  <a:lnTo>
                    <a:pt x="0" y="843211"/>
                  </a:lnTo>
                  <a:close/>
                </a:path>
              </a:pathLst>
            </a:custGeom>
            <a:blipFill>
              <a:blip r:embed="rId5">
                <a:alphaModFix amt="0"/>
              </a:blip>
              <a:stretch>
                <a:fillRect l="0" t="-83405" r="0" b="-67845"/>
              </a:stretch>
            </a:blipFill>
          </p:spPr>
        </p:sp>
        <p:sp>
          <p:nvSpPr>
            <p:cNvPr name="TextBox 9" id="9"/>
            <p:cNvSpPr txBox="true"/>
            <p:nvPr/>
          </p:nvSpPr>
          <p:spPr>
            <a:xfrm>
              <a:off x="0" y="-9525"/>
              <a:ext cx="5436413"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MLOPS LIFECYCLE</a:t>
              </a:r>
            </a:p>
          </p:txBody>
        </p:sp>
      </p:grpSp>
      <p:grpSp>
        <p:nvGrpSpPr>
          <p:cNvPr name="Group 10" id="10"/>
          <p:cNvGrpSpPr/>
          <p:nvPr/>
        </p:nvGrpSpPr>
        <p:grpSpPr>
          <a:xfrm rot="0">
            <a:off x="868777" y="1813029"/>
            <a:ext cx="16175394" cy="889074"/>
            <a:chOff x="0" y="0"/>
            <a:chExt cx="21567192" cy="1185431"/>
          </a:xfrm>
        </p:grpSpPr>
        <p:sp>
          <p:nvSpPr>
            <p:cNvPr name="Freeform 11" id="11"/>
            <p:cNvSpPr/>
            <p:nvPr/>
          </p:nvSpPr>
          <p:spPr>
            <a:xfrm flipH="false" flipV="false" rot="0">
              <a:off x="0" y="0"/>
              <a:ext cx="21567192" cy="1185432"/>
            </a:xfrm>
            <a:custGeom>
              <a:avLst/>
              <a:gdLst/>
              <a:ahLst/>
              <a:cxnLst/>
              <a:rect r="r" b="b" t="t" l="l"/>
              <a:pathLst>
                <a:path h="1185432" w="21567192">
                  <a:moveTo>
                    <a:pt x="0" y="0"/>
                  </a:moveTo>
                  <a:lnTo>
                    <a:pt x="21567192" y="0"/>
                  </a:lnTo>
                  <a:lnTo>
                    <a:pt x="21567192" y="1185432"/>
                  </a:lnTo>
                  <a:lnTo>
                    <a:pt x="0" y="1185432"/>
                  </a:lnTo>
                  <a:close/>
                </a:path>
              </a:pathLst>
            </a:custGeom>
            <a:blipFill>
              <a:blip r:embed="rId5">
                <a:alphaModFix amt="0"/>
              </a:blip>
              <a:stretch>
                <a:fillRect l="0" t="-339874" r="-109" b="-269905"/>
              </a:stretch>
            </a:blipFill>
          </p:spPr>
        </p:sp>
        <p:sp>
          <p:nvSpPr>
            <p:cNvPr name="TextBox 12" id="12"/>
            <p:cNvSpPr txBox="true"/>
            <p:nvPr/>
          </p:nvSpPr>
          <p:spPr>
            <a:xfrm>
              <a:off x="0" y="-9525"/>
              <a:ext cx="21567192"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MLOps là sự kết hợp giữa Machine Learning và DevOps, giúp tự động hóa việc huấn luyện, triển khai, theo dõi và tái huấn luyện mô hình trong môi trường production.</a:t>
              </a:r>
            </a:p>
          </p:txBody>
        </p:sp>
      </p:grpSp>
      <p:grpSp>
        <p:nvGrpSpPr>
          <p:cNvPr name="Group 13" id="13"/>
          <p:cNvGrpSpPr/>
          <p:nvPr/>
        </p:nvGrpSpPr>
        <p:grpSpPr>
          <a:xfrm rot="0">
            <a:off x="494631" y="8021595"/>
            <a:ext cx="16228337" cy="498549"/>
            <a:chOff x="0" y="0"/>
            <a:chExt cx="21637782" cy="664731"/>
          </a:xfrm>
        </p:grpSpPr>
        <p:sp>
          <p:nvSpPr>
            <p:cNvPr name="Freeform 14" id="14"/>
            <p:cNvSpPr/>
            <p:nvPr/>
          </p:nvSpPr>
          <p:spPr>
            <a:xfrm flipH="false" flipV="false" rot="0">
              <a:off x="0" y="0"/>
              <a:ext cx="21637782" cy="664732"/>
            </a:xfrm>
            <a:custGeom>
              <a:avLst/>
              <a:gdLst/>
              <a:ahLst/>
              <a:cxnLst/>
              <a:rect r="r" b="b" t="t" l="l"/>
              <a:pathLst>
                <a:path h="664732" w="21637782">
                  <a:moveTo>
                    <a:pt x="0" y="0"/>
                  </a:moveTo>
                  <a:lnTo>
                    <a:pt x="21637782" y="0"/>
                  </a:lnTo>
                  <a:lnTo>
                    <a:pt x="21637782" y="664732"/>
                  </a:lnTo>
                  <a:lnTo>
                    <a:pt x="0" y="664732"/>
                  </a:lnTo>
                  <a:close/>
                </a:path>
              </a:pathLst>
            </a:custGeom>
            <a:blipFill>
              <a:blip r:embed="rId5">
                <a:alphaModFix amt="0"/>
              </a:blip>
              <a:stretch>
                <a:fillRect l="0" t="-621437" r="-2200" b="-574993"/>
              </a:stretch>
            </a:blipFill>
          </p:spPr>
        </p:sp>
        <p:sp>
          <p:nvSpPr>
            <p:cNvPr name="TextBox 15" id="15"/>
            <p:cNvSpPr txBox="true"/>
            <p:nvPr/>
          </p:nvSpPr>
          <p:spPr>
            <a:xfrm>
              <a:off x="0" y="-9525"/>
              <a:ext cx="21637782" cy="674256"/>
            </a:xfrm>
            <a:prstGeom prst="rect">
              <a:avLst/>
            </a:prstGeom>
          </p:spPr>
          <p:txBody>
            <a:bodyPr anchor="ctr" rtlCol="false" tIns="0" lIns="0" bIns="0" rIns="0"/>
            <a:lstStyle/>
            <a:p>
              <a:pPr algn="ctr">
                <a:lnSpc>
                  <a:spcPts val="3119"/>
                </a:lnSpc>
              </a:pPr>
              <a:r>
                <a:rPr lang="en-US" sz="2599">
                  <a:solidFill>
                    <a:srgbClr val="000000"/>
                  </a:solidFill>
                  <a:latin typeface="Roboto"/>
                  <a:ea typeface="Roboto"/>
                  <a:cs typeface="Roboto"/>
                  <a:sym typeface="Roboto"/>
                </a:rPr>
                <a:t>Triển khai stack: </a:t>
              </a:r>
              <a:r>
                <a:rPr lang="en-US" sz="2599" b="true">
                  <a:solidFill>
                    <a:srgbClr val="000000"/>
                  </a:solidFill>
                  <a:latin typeface="Roboto Bold"/>
                  <a:ea typeface="Roboto Bold"/>
                  <a:cs typeface="Roboto Bold"/>
                  <a:sym typeface="Roboto Bold"/>
                </a:rPr>
                <a:t>MLflow</a:t>
              </a:r>
              <a:r>
                <a:rPr lang="en-US" sz="2599">
                  <a:solidFill>
                    <a:srgbClr val="000000"/>
                  </a:solidFill>
                  <a:latin typeface="Roboto"/>
                  <a:ea typeface="Roboto"/>
                  <a:cs typeface="Roboto"/>
                  <a:sym typeface="Roboto"/>
                </a:rPr>
                <a:t> (tracking + registry) </a:t>
              </a:r>
              <a:r>
                <a:rPr lang="en-US" sz="2599" b="true">
                  <a:solidFill>
                    <a:srgbClr val="000000"/>
                  </a:solidFill>
                  <a:latin typeface="Roboto Bold"/>
                  <a:ea typeface="Roboto Bold"/>
                  <a:cs typeface="Roboto Bold"/>
                  <a:sym typeface="Roboto Bold"/>
                </a:rPr>
                <a:t>Airflow</a:t>
              </a:r>
              <a:r>
                <a:rPr lang="en-US" sz="2599">
                  <a:solidFill>
                    <a:srgbClr val="000000"/>
                  </a:solidFill>
                  <a:latin typeface="Roboto"/>
                  <a:ea typeface="Roboto"/>
                  <a:cs typeface="Roboto"/>
                  <a:sym typeface="Roboto"/>
                </a:rPr>
                <a:t> (orchestration) </a:t>
              </a:r>
              <a:r>
                <a:rPr lang="en-US" sz="2599" b="true">
                  <a:solidFill>
                    <a:srgbClr val="000000"/>
                  </a:solidFill>
                  <a:latin typeface="Roboto Bold"/>
                  <a:ea typeface="Roboto Bold"/>
                  <a:cs typeface="Roboto Bold"/>
                  <a:sym typeface="Roboto Bold"/>
                </a:rPr>
                <a:t>FastAPI</a:t>
              </a:r>
              <a:r>
                <a:rPr lang="en-US" sz="2599">
                  <a:solidFill>
                    <a:srgbClr val="000000"/>
                  </a:solidFill>
                  <a:latin typeface="Roboto"/>
                  <a:ea typeface="Roboto"/>
                  <a:cs typeface="Roboto"/>
                  <a:sym typeface="Roboto"/>
                </a:rPr>
                <a:t> (serving) </a:t>
              </a:r>
              <a:r>
                <a:rPr lang="en-US" sz="2599" b="true">
                  <a:solidFill>
                    <a:srgbClr val="000000"/>
                  </a:solidFill>
                  <a:latin typeface="Roboto Bold"/>
                  <a:ea typeface="Roboto Bold"/>
                  <a:cs typeface="Roboto Bold"/>
                  <a:sym typeface="Roboto Bold"/>
                </a:rPr>
                <a:t>Minio </a:t>
              </a:r>
              <a:r>
                <a:rPr lang="en-US" sz="2599">
                  <a:solidFill>
                    <a:srgbClr val="000000"/>
                  </a:solidFill>
                  <a:latin typeface="Roboto"/>
                  <a:ea typeface="Roboto"/>
                  <a:cs typeface="Roboto"/>
                  <a:sym typeface="Roboto"/>
                </a:rPr>
                <a:t>(store).</a:t>
              </a:r>
            </a:p>
          </p:txBody>
        </p:sp>
      </p:grpSp>
      <p:sp>
        <p:nvSpPr>
          <p:cNvPr name="Freeform 16" id="16"/>
          <p:cNvSpPr/>
          <p:nvPr/>
        </p:nvSpPr>
        <p:spPr>
          <a:xfrm flipH="false" flipV="false" rot="0">
            <a:off x="15023944" y="138788"/>
            <a:ext cx="3264056" cy="1552892"/>
          </a:xfrm>
          <a:custGeom>
            <a:avLst/>
            <a:gdLst/>
            <a:ahLst/>
            <a:cxnLst/>
            <a:rect r="r" b="b" t="t" l="l"/>
            <a:pathLst>
              <a:path h="1552892" w="3264056">
                <a:moveTo>
                  <a:pt x="0" y="0"/>
                </a:moveTo>
                <a:lnTo>
                  <a:pt x="3264056" y="0"/>
                </a:lnTo>
                <a:lnTo>
                  <a:pt x="3264056" y="1552893"/>
                </a:lnTo>
                <a:lnTo>
                  <a:pt x="0" y="1552893"/>
                </a:lnTo>
                <a:lnTo>
                  <a:pt x="0" y="0"/>
                </a:lnTo>
                <a:close/>
              </a:path>
            </a:pathLst>
          </a:custGeom>
          <a:blipFill>
            <a:blip r:embed="rId6"/>
            <a:stretch>
              <a:fillRect l="0" t="-31154" r="0" b="-26489"/>
            </a:stretch>
          </a:blipFill>
        </p:spPr>
      </p:sp>
      <p:sp>
        <p:nvSpPr>
          <p:cNvPr name="TextBox 17" id="17"/>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8" id="18"/>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9</a:t>
            </a:r>
          </a:p>
        </p:txBody>
      </p:sp>
      <p:grpSp>
        <p:nvGrpSpPr>
          <p:cNvPr name="Group 19" id="19"/>
          <p:cNvGrpSpPr/>
          <p:nvPr/>
        </p:nvGrpSpPr>
        <p:grpSpPr>
          <a:xfrm rot="0">
            <a:off x="3861499" y="3212807"/>
            <a:ext cx="10061452" cy="4808788"/>
            <a:chOff x="0" y="0"/>
            <a:chExt cx="13415270" cy="6411717"/>
          </a:xfrm>
        </p:grpSpPr>
        <p:grpSp>
          <p:nvGrpSpPr>
            <p:cNvPr name="Group 20" id="20"/>
            <p:cNvGrpSpPr/>
            <p:nvPr/>
          </p:nvGrpSpPr>
          <p:grpSpPr>
            <a:xfrm rot="0">
              <a:off x="0" y="0"/>
              <a:ext cx="13415270" cy="6411717"/>
              <a:chOff x="0" y="0"/>
              <a:chExt cx="17272406" cy="8255203"/>
            </a:xfrm>
          </p:grpSpPr>
          <p:sp>
            <p:nvSpPr>
              <p:cNvPr name="Freeform 21" id="21" descr="gen-dedup-7b983d3677d9ab00b4788b58e492dd7d.png"/>
              <p:cNvSpPr/>
              <p:nvPr/>
            </p:nvSpPr>
            <p:spPr>
              <a:xfrm flipH="false" flipV="false" rot="0">
                <a:off x="0" y="0"/>
                <a:ext cx="17272381" cy="8255254"/>
              </a:xfrm>
              <a:custGeom>
                <a:avLst/>
                <a:gdLst/>
                <a:ahLst/>
                <a:cxnLst/>
                <a:rect r="r" b="b" t="t" l="l"/>
                <a:pathLst>
                  <a:path h="8255254" w="17272381">
                    <a:moveTo>
                      <a:pt x="0" y="0"/>
                    </a:moveTo>
                    <a:lnTo>
                      <a:pt x="17272381" y="0"/>
                    </a:lnTo>
                    <a:lnTo>
                      <a:pt x="17272381" y="8255254"/>
                    </a:lnTo>
                    <a:lnTo>
                      <a:pt x="0" y="8255254"/>
                    </a:lnTo>
                    <a:lnTo>
                      <a:pt x="0" y="0"/>
                    </a:lnTo>
                    <a:close/>
                  </a:path>
                </a:pathLst>
              </a:custGeom>
              <a:blipFill>
                <a:blip r:embed="rId7"/>
                <a:stretch>
                  <a:fillRect l="0" t="0" r="0" b="-37"/>
                </a:stretch>
              </a:blipFill>
            </p:spPr>
          </p:sp>
        </p:grpSp>
        <p:sp>
          <p:nvSpPr>
            <p:cNvPr name="TextBox 22" id="22"/>
            <p:cNvSpPr txBox="true"/>
            <p:nvPr/>
          </p:nvSpPr>
          <p:spPr>
            <a:xfrm rot="0">
              <a:off x="2295365" y="1135794"/>
              <a:ext cx="947244"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DATA</a:t>
              </a:r>
            </a:p>
          </p:txBody>
        </p:sp>
        <p:sp>
          <p:nvSpPr>
            <p:cNvPr name="TextBox 23" id="23"/>
            <p:cNvSpPr txBox="true"/>
            <p:nvPr/>
          </p:nvSpPr>
          <p:spPr>
            <a:xfrm rot="0">
              <a:off x="6155690" y="681016"/>
              <a:ext cx="1103890"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TRAIN</a:t>
              </a:r>
            </a:p>
          </p:txBody>
        </p:sp>
        <p:sp>
          <p:nvSpPr>
            <p:cNvPr name="TextBox 24" id="24"/>
            <p:cNvSpPr txBox="true"/>
            <p:nvPr/>
          </p:nvSpPr>
          <p:spPr>
            <a:xfrm rot="0">
              <a:off x="9707820" y="1135794"/>
              <a:ext cx="1830062"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EVALUATE</a:t>
              </a:r>
            </a:p>
          </p:txBody>
        </p:sp>
        <p:sp>
          <p:nvSpPr>
            <p:cNvPr name="TextBox 25" id="25"/>
            <p:cNvSpPr txBox="true"/>
            <p:nvPr/>
          </p:nvSpPr>
          <p:spPr>
            <a:xfrm rot="0">
              <a:off x="9790144" y="4297288"/>
              <a:ext cx="1747739"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REGISTER</a:t>
              </a:r>
            </a:p>
          </p:txBody>
        </p:sp>
        <p:sp>
          <p:nvSpPr>
            <p:cNvPr name="TextBox 26" id="26"/>
            <p:cNvSpPr txBox="true"/>
            <p:nvPr/>
          </p:nvSpPr>
          <p:spPr>
            <a:xfrm rot="0">
              <a:off x="6004729" y="4889562"/>
              <a:ext cx="1405813"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DEPLOY</a:t>
              </a:r>
            </a:p>
          </p:txBody>
        </p:sp>
        <p:sp>
          <p:nvSpPr>
            <p:cNvPr name="TextBox 27" id="27"/>
            <p:cNvSpPr txBox="true"/>
            <p:nvPr/>
          </p:nvSpPr>
          <p:spPr>
            <a:xfrm rot="0">
              <a:off x="2048731" y="4297288"/>
              <a:ext cx="1711314" cy="464303"/>
            </a:xfrm>
            <a:prstGeom prst="rect">
              <a:avLst/>
            </a:prstGeom>
          </p:spPr>
          <p:txBody>
            <a:bodyPr anchor="t" rtlCol="false" tIns="0" lIns="0" bIns="0" rIns="0">
              <a:spAutoFit/>
            </a:bodyPr>
            <a:lstStyle/>
            <a:p>
              <a:pPr algn="ctr">
                <a:lnSpc>
                  <a:spcPts val="2745"/>
                </a:lnSpc>
                <a:spcBef>
                  <a:spcPct val="0"/>
                </a:spcBef>
              </a:pPr>
              <a:r>
                <a:rPr lang="en-US" sz="2287">
                  <a:solidFill>
                    <a:srgbClr val="FFFFFF"/>
                  </a:solidFill>
                  <a:latin typeface="Roboto"/>
                  <a:ea typeface="Roboto"/>
                  <a:cs typeface="Roboto"/>
                  <a:sym typeface="Roboto"/>
                </a:rPr>
                <a:t>MONITOR</a:t>
              </a:r>
            </a:p>
          </p:txBody>
        </p:sp>
      </p:grpSp>
      <p:sp>
        <p:nvSpPr>
          <p:cNvPr name="TextBox 28" id="28"/>
          <p:cNvSpPr txBox="true"/>
          <p:nvPr/>
        </p:nvSpPr>
        <p:spPr>
          <a:xfrm rot="0">
            <a:off x="8475779" y="5436226"/>
            <a:ext cx="961390" cy="352425"/>
          </a:xfrm>
          <a:prstGeom prst="rect">
            <a:avLst/>
          </a:prstGeom>
        </p:spPr>
        <p:txBody>
          <a:bodyPr anchor="t" rtlCol="false" tIns="0" lIns="0" bIns="0" rIns="0">
            <a:spAutoFit/>
          </a:bodyPr>
          <a:lstStyle/>
          <a:p>
            <a:pPr algn="ctr">
              <a:lnSpc>
                <a:spcPts val="2759"/>
              </a:lnSpc>
              <a:spcBef>
                <a:spcPct val="0"/>
              </a:spcBef>
            </a:pPr>
            <a:r>
              <a:rPr lang="en-US" sz="2299">
                <a:solidFill>
                  <a:srgbClr val="000000"/>
                </a:solidFill>
                <a:latin typeface="Roboto"/>
                <a:ea typeface="Roboto"/>
                <a:cs typeface="Roboto"/>
                <a:sym typeface="Roboto"/>
              </a:rPr>
              <a:t>MLOPS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10</a:t>
            </a:r>
          </a:p>
        </p:txBody>
      </p:sp>
      <p:grpSp>
        <p:nvGrpSpPr>
          <p:cNvPr name="Group 7" id="7"/>
          <p:cNvGrpSpPr/>
          <p:nvPr/>
        </p:nvGrpSpPr>
        <p:grpSpPr>
          <a:xfrm rot="0">
            <a:off x="10101486" y="1956910"/>
            <a:ext cx="8078608" cy="6330736"/>
            <a:chOff x="0" y="0"/>
            <a:chExt cx="11644615" cy="9125209"/>
          </a:xfrm>
        </p:grpSpPr>
        <p:sp>
          <p:nvSpPr>
            <p:cNvPr name="Freeform 8" id="8"/>
            <p:cNvSpPr/>
            <p:nvPr/>
          </p:nvSpPr>
          <p:spPr>
            <a:xfrm flipH="false" flipV="false" rot="0">
              <a:off x="9385" y="8476"/>
              <a:ext cx="11625860" cy="9108346"/>
            </a:xfrm>
            <a:custGeom>
              <a:avLst/>
              <a:gdLst/>
              <a:ahLst/>
              <a:cxnLst/>
              <a:rect r="r" b="b" t="t" l="l"/>
              <a:pathLst>
                <a:path h="9108346" w="11625860">
                  <a:moveTo>
                    <a:pt x="0" y="54017"/>
                  </a:moveTo>
                  <a:cubicBezTo>
                    <a:pt x="0" y="24162"/>
                    <a:pt x="26753" y="0"/>
                    <a:pt x="59809" y="0"/>
                  </a:cubicBezTo>
                  <a:lnTo>
                    <a:pt x="11566050" y="0"/>
                  </a:lnTo>
                  <a:cubicBezTo>
                    <a:pt x="11599106" y="0"/>
                    <a:pt x="11625860" y="24162"/>
                    <a:pt x="11625860" y="54017"/>
                  </a:cubicBezTo>
                  <a:lnTo>
                    <a:pt x="11625860" y="9054328"/>
                  </a:lnTo>
                  <a:cubicBezTo>
                    <a:pt x="11625860" y="9084183"/>
                    <a:pt x="11599106" y="9108346"/>
                    <a:pt x="11566050" y="9108346"/>
                  </a:cubicBezTo>
                  <a:lnTo>
                    <a:pt x="59809" y="9108346"/>
                  </a:lnTo>
                  <a:cubicBezTo>
                    <a:pt x="26753" y="9108346"/>
                    <a:pt x="0" y="9084183"/>
                    <a:pt x="0" y="9054328"/>
                  </a:cubicBezTo>
                  <a:close/>
                </a:path>
              </a:pathLst>
            </a:custGeom>
            <a:solidFill>
              <a:srgbClr val="1A1F8E"/>
            </a:solidFill>
          </p:spPr>
        </p:sp>
      </p:grpSp>
      <p:grpSp>
        <p:nvGrpSpPr>
          <p:cNvPr name="Group 9" id="9"/>
          <p:cNvGrpSpPr/>
          <p:nvPr/>
        </p:nvGrpSpPr>
        <p:grpSpPr>
          <a:xfrm rot="0">
            <a:off x="9232744" y="1139672"/>
            <a:ext cx="1143000" cy="47549"/>
            <a:chOff x="0" y="0"/>
            <a:chExt cx="1524000" cy="63398"/>
          </a:xfrm>
        </p:grpSpPr>
        <p:sp>
          <p:nvSpPr>
            <p:cNvPr name="Freeform 10" id="10"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11" id="11"/>
          <p:cNvGrpSpPr/>
          <p:nvPr/>
        </p:nvGrpSpPr>
        <p:grpSpPr>
          <a:xfrm rot="0">
            <a:off x="4433974" y="483731"/>
            <a:ext cx="12087454" cy="632408"/>
            <a:chOff x="0" y="0"/>
            <a:chExt cx="16116605" cy="843211"/>
          </a:xfrm>
        </p:grpSpPr>
        <p:sp>
          <p:nvSpPr>
            <p:cNvPr name="Freeform 12" id="12"/>
            <p:cNvSpPr/>
            <p:nvPr/>
          </p:nvSpPr>
          <p:spPr>
            <a:xfrm flipH="false" flipV="false" rot="0">
              <a:off x="0" y="0"/>
              <a:ext cx="16116605" cy="843211"/>
            </a:xfrm>
            <a:custGeom>
              <a:avLst/>
              <a:gdLst/>
              <a:ahLst/>
              <a:cxnLst/>
              <a:rect r="r" b="b" t="t" l="l"/>
              <a:pathLst>
                <a:path h="843211" w="16116605">
                  <a:moveTo>
                    <a:pt x="0" y="0"/>
                  </a:moveTo>
                  <a:lnTo>
                    <a:pt x="16116605" y="0"/>
                  </a:lnTo>
                  <a:lnTo>
                    <a:pt x="16116605" y="843211"/>
                  </a:lnTo>
                  <a:lnTo>
                    <a:pt x="0" y="843211"/>
                  </a:lnTo>
                  <a:close/>
                </a:path>
              </a:pathLst>
            </a:custGeom>
            <a:blipFill>
              <a:blip r:embed="rId5">
                <a:alphaModFix amt="0"/>
              </a:blip>
              <a:stretch>
                <a:fillRect l="0" t="-330204" r="0" b="-314645"/>
              </a:stretch>
            </a:blipFill>
          </p:spPr>
        </p:sp>
        <p:sp>
          <p:nvSpPr>
            <p:cNvPr name="TextBox 13" id="13"/>
            <p:cNvSpPr txBox="true"/>
            <p:nvPr/>
          </p:nvSpPr>
          <p:spPr>
            <a:xfrm>
              <a:off x="0" y="-9525"/>
              <a:ext cx="16116605"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BAYESIAN ONLINE CHANGEPOINT DETECTION</a:t>
              </a:r>
            </a:p>
          </p:txBody>
        </p:sp>
      </p:grpSp>
      <p:grpSp>
        <p:nvGrpSpPr>
          <p:cNvPr name="Group 14" id="14"/>
          <p:cNvGrpSpPr/>
          <p:nvPr/>
        </p:nvGrpSpPr>
        <p:grpSpPr>
          <a:xfrm rot="0">
            <a:off x="761695" y="1640022"/>
            <a:ext cx="8382305" cy="498549"/>
            <a:chOff x="0" y="0"/>
            <a:chExt cx="11176406" cy="664732"/>
          </a:xfrm>
        </p:grpSpPr>
        <p:sp>
          <p:nvSpPr>
            <p:cNvPr name="Freeform 15" id="15"/>
            <p:cNvSpPr/>
            <p:nvPr/>
          </p:nvSpPr>
          <p:spPr>
            <a:xfrm flipH="false" flipV="false" rot="0">
              <a:off x="0" y="0"/>
              <a:ext cx="11176407" cy="664732"/>
            </a:xfrm>
            <a:custGeom>
              <a:avLst/>
              <a:gdLst/>
              <a:ahLst/>
              <a:cxnLst/>
              <a:rect r="r" b="b" t="t" l="l"/>
              <a:pathLst>
                <a:path h="664732" w="11176407">
                  <a:moveTo>
                    <a:pt x="0" y="0"/>
                  </a:moveTo>
                  <a:lnTo>
                    <a:pt x="11176407" y="0"/>
                  </a:lnTo>
                  <a:lnTo>
                    <a:pt x="11176407" y="664732"/>
                  </a:lnTo>
                  <a:lnTo>
                    <a:pt x="0" y="664732"/>
                  </a:lnTo>
                  <a:close/>
                </a:path>
              </a:pathLst>
            </a:custGeom>
            <a:blipFill>
              <a:blip r:embed="rId5">
                <a:alphaModFix amt="0"/>
              </a:blip>
              <a:stretch>
                <a:fillRect l="0" t="-296062" r="0" b="-259156"/>
              </a:stretch>
            </a:blipFill>
          </p:spPr>
        </p:sp>
        <p:sp>
          <p:nvSpPr>
            <p:cNvPr name="TextBox 16" id="16"/>
            <p:cNvSpPr txBox="true"/>
            <p:nvPr/>
          </p:nvSpPr>
          <p:spPr>
            <a:xfrm>
              <a:off x="0" y="-9525"/>
              <a:ext cx="11176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Ý TƯỞNG CỐT LÕI</a:t>
              </a:r>
            </a:p>
          </p:txBody>
        </p:sp>
      </p:grpSp>
      <p:grpSp>
        <p:nvGrpSpPr>
          <p:cNvPr name="Group 17" id="17"/>
          <p:cNvGrpSpPr/>
          <p:nvPr/>
        </p:nvGrpSpPr>
        <p:grpSpPr>
          <a:xfrm rot="0">
            <a:off x="761695" y="2224296"/>
            <a:ext cx="8382305" cy="889074"/>
            <a:chOff x="0" y="0"/>
            <a:chExt cx="11176406" cy="1185431"/>
          </a:xfrm>
        </p:grpSpPr>
        <p:sp>
          <p:nvSpPr>
            <p:cNvPr name="Freeform 18" id="18"/>
            <p:cNvSpPr/>
            <p:nvPr/>
          </p:nvSpPr>
          <p:spPr>
            <a:xfrm flipH="false" flipV="false" rot="0">
              <a:off x="0" y="0"/>
              <a:ext cx="11176407" cy="1185431"/>
            </a:xfrm>
            <a:custGeom>
              <a:avLst/>
              <a:gdLst/>
              <a:ahLst/>
              <a:cxnLst/>
              <a:rect r="r" b="b" t="t" l="l"/>
              <a:pathLst>
                <a:path h="1185431" w="11176407">
                  <a:moveTo>
                    <a:pt x="0" y="0"/>
                  </a:moveTo>
                  <a:lnTo>
                    <a:pt x="11176407" y="0"/>
                  </a:lnTo>
                  <a:lnTo>
                    <a:pt x="11176407" y="1185431"/>
                  </a:lnTo>
                  <a:lnTo>
                    <a:pt x="0" y="1185431"/>
                  </a:lnTo>
                  <a:close/>
                </a:path>
              </a:pathLst>
            </a:custGeom>
            <a:blipFill>
              <a:blip r:embed="rId5">
                <a:alphaModFix amt="0"/>
              </a:blip>
              <a:stretch>
                <a:fillRect l="0" t="-142413" r="0" b="-125001"/>
              </a:stretch>
            </a:blipFill>
          </p:spPr>
        </p:sp>
        <p:sp>
          <p:nvSpPr>
            <p:cNvPr name="TextBox 19" id="19"/>
            <p:cNvSpPr txBox="true"/>
            <p:nvPr/>
          </p:nvSpPr>
          <p:spPr>
            <a:xfrm>
              <a:off x="0" y="-9525"/>
              <a:ext cx="11176406"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Tại mỗi thời điểm t, BOCPD ước lượng phân phối hậu nghiệm của </a:t>
              </a:r>
              <a:r>
                <a:rPr lang="en-US" sz="2599">
                  <a:solidFill>
                    <a:srgbClr val="000000"/>
                  </a:solidFill>
                  <a:latin typeface="Roboto"/>
                  <a:ea typeface="Roboto"/>
                  <a:cs typeface="Roboto"/>
                  <a:sym typeface="Roboto"/>
                </a:rPr>
                <a:t>run-length</a:t>
              </a:r>
              <a:r>
                <a:rPr lang="en-US" sz="2599">
                  <a:solidFill>
                    <a:srgbClr val="000000"/>
                  </a:solidFill>
                  <a:latin typeface="Roboto"/>
                  <a:ea typeface="Roboto"/>
                  <a:cs typeface="Roboto"/>
                  <a:sym typeface="Roboto"/>
                </a:rPr>
                <a:t> r_t</a:t>
              </a:r>
            </a:p>
          </p:txBody>
        </p:sp>
      </p:grpSp>
      <p:grpSp>
        <p:nvGrpSpPr>
          <p:cNvPr name="Group 20" id="20"/>
          <p:cNvGrpSpPr/>
          <p:nvPr/>
        </p:nvGrpSpPr>
        <p:grpSpPr>
          <a:xfrm rot="0">
            <a:off x="761695" y="3199102"/>
            <a:ext cx="7844972" cy="889074"/>
            <a:chOff x="0" y="0"/>
            <a:chExt cx="10459963" cy="1185431"/>
          </a:xfrm>
        </p:grpSpPr>
        <p:sp>
          <p:nvSpPr>
            <p:cNvPr name="Freeform 21" id="21"/>
            <p:cNvSpPr/>
            <p:nvPr/>
          </p:nvSpPr>
          <p:spPr>
            <a:xfrm flipH="false" flipV="false" rot="0">
              <a:off x="0" y="0"/>
              <a:ext cx="10459963" cy="1185431"/>
            </a:xfrm>
            <a:custGeom>
              <a:avLst/>
              <a:gdLst/>
              <a:ahLst/>
              <a:cxnLst/>
              <a:rect r="r" b="b" t="t" l="l"/>
              <a:pathLst>
                <a:path h="1185431" w="10459963">
                  <a:moveTo>
                    <a:pt x="0" y="0"/>
                  </a:moveTo>
                  <a:lnTo>
                    <a:pt x="10459963" y="0"/>
                  </a:lnTo>
                  <a:lnTo>
                    <a:pt x="10459963" y="1185431"/>
                  </a:lnTo>
                  <a:lnTo>
                    <a:pt x="0" y="1185431"/>
                  </a:lnTo>
                  <a:close/>
                </a:path>
              </a:pathLst>
            </a:custGeom>
            <a:blipFill>
              <a:blip r:embed="rId5">
                <a:alphaModFix amt="0"/>
              </a:blip>
              <a:stretch>
                <a:fillRect l="0" t="-167870" r="-10439" b="-111889"/>
              </a:stretch>
            </a:blipFill>
          </p:spPr>
        </p:sp>
        <p:sp>
          <p:nvSpPr>
            <p:cNvPr name="TextBox 22" id="22"/>
            <p:cNvSpPr txBox="true"/>
            <p:nvPr/>
          </p:nvSpPr>
          <p:spPr>
            <a:xfrm>
              <a:off x="0" y="-9525"/>
              <a:ext cx="10459963"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Nếu P(r_t = 0 | x_{1:t}) cao, khả năng vừa xảy ra changepoint tại t là cao.</a:t>
              </a:r>
            </a:p>
          </p:txBody>
        </p:sp>
      </p:grpSp>
      <p:grpSp>
        <p:nvGrpSpPr>
          <p:cNvPr name="Group 23" id="23"/>
          <p:cNvGrpSpPr/>
          <p:nvPr/>
        </p:nvGrpSpPr>
        <p:grpSpPr>
          <a:xfrm rot="0">
            <a:off x="761695" y="4221526"/>
            <a:ext cx="8382305" cy="889074"/>
            <a:chOff x="0" y="0"/>
            <a:chExt cx="11176406" cy="1185431"/>
          </a:xfrm>
        </p:grpSpPr>
        <p:sp>
          <p:nvSpPr>
            <p:cNvPr name="Freeform 24" id="24"/>
            <p:cNvSpPr/>
            <p:nvPr/>
          </p:nvSpPr>
          <p:spPr>
            <a:xfrm flipH="false" flipV="false" rot="0">
              <a:off x="0" y="0"/>
              <a:ext cx="11176407" cy="1185431"/>
            </a:xfrm>
            <a:custGeom>
              <a:avLst/>
              <a:gdLst/>
              <a:ahLst/>
              <a:cxnLst/>
              <a:rect r="r" b="b" t="t" l="l"/>
              <a:pathLst>
                <a:path h="1185431" w="11176407">
                  <a:moveTo>
                    <a:pt x="0" y="0"/>
                  </a:moveTo>
                  <a:lnTo>
                    <a:pt x="11176407" y="0"/>
                  </a:lnTo>
                  <a:lnTo>
                    <a:pt x="11176407" y="1185431"/>
                  </a:lnTo>
                  <a:lnTo>
                    <a:pt x="0" y="1185431"/>
                  </a:lnTo>
                  <a:close/>
                </a:path>
              </a:pathLst>
            </a:custGeom>
            <a:blipFill>
              <a:blip r:embed="rId5">
                <a:alphaModFix amt="0"/>
              </a:blip>
              <a:stretch>
                <a:fillRect l="0" t="-144573" r="0" b="-122841"/>
              </a:stretch>
            </a:blipFill>
          </p:spPr>
        </p:sp>
        <p:sp>
          <p:nvSpPr>
            <p:cNvPr name="TextBox 25" id="25"/>
            <p:cNvSpPr txBox="true"/>
            <p:nvPr/>
          </p:nvSpPr>
          <p:spPr>
            <a:xfrm>
              <a:off x="0" y="-9525"/>
              <a:ext cx="11176406"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Mô hình cập nhật online theo từng quan sát mới, không cần lưu toàn bộ chuỗi.</a:t>
              </a:r>
            </a:p>
          </p:txBody>
        </p:sp>
      </p:grpSp>
      <p:grpSp>
        <p:nvGrpSpPr>
          <p:cNvPr name="Group 26" id="26"/>
          <p:cNvGrpSpPr/>
          <p:nvPr/>
        </p:nvGrpSpPr>
        <p:grpSpPr>
          <a:xfrm rot="0">
            <a:off x="10382098" y="2286000"/>
            <a:ext cx="7239305" cy="364691"/>
            <a:chOff x="0" y="0"/>
            <a:chExt cx="9652406" cy="486255"/>
          </a:xfrm>
        </p:grpSpPr>
        <p:sp>
          <p:nvSpPr>
            <p:cNvPr name="Freeform 27" id="27"/>
            <p:cNvSpPr/>
            <p:nvPr/>
          </p:nvSpPr>
          <p:spPr>
            <a:xfrm flipH="false" flipV="false" rot="0">
              <a:off x="0" y="0"/>
              <a:ext cx="9652407" cy="486255"/>
            </a:xfrm>
            <a:custGeom>
              <a:avLst/>
              <a:gdLst/>
              <a:ahLst/>
              <a:cxnLst/>
              <a:rect r="r" b="b" t="t" l="l"/>
              <a:pathLst>
                <a:path h="486255" w="9652407">
                  <a:moveTo>
                    <a:pt x="0" y="0"/>
                  </a:moveTo>
                  <a:lnTo>
                    <a:pt x="9652407" y="0"/>
                  </a:lnTo>
                  <a:lnTo>
                    <a:pt x="9652407" y="486255"/>
                  </a:lnTo>
                  <a:lnTo>
                    <a:pt x="0" y="486255"/>
                  </a:lnTo>
                  <a:close/>
                </a:path>
              </a:pathLst>
            </a:custGeom>
            <a:blipFill>
              <a:blip r:embed="rId5">
                <a:alphaModFix amt="0"/>
              </a:blip>
              <a:stretch>
                <a:fillRect l="0" t="-343661" r="0" b="-329913"/>
              </a:stretch>
            </a:blipFill>
          </p:spPr>
        </p:sp>
        <p:sp>
          <p:nvSpPr>
            <p:cNvPr name="TextBox 28" id="28"/>
            <p:cNvSpPr txBox="true"/>
            <p:nvPr/>
          </p:nvSpPr>
          <p:spPr>
            <a:xfrm>
              <a:off x="0" y="-9525"/>
              <a:ext cx="9652406" cy="495780"/>
            </a:xfrm>
            <a:prstGeom prst="rect">
              <a:avLst/>
            </a:prstGeom>
          </p:spPr>
          <p:txBody>
            <a:bodyPr anchor="ctr" rtlCol="false" tIns="0" lIns="0" bIns="0" rIns="0"/>
            <a:lstStyle/>
            <a:p>
              <a:pPr algn="ctr">
                <a:lnSpc>
                  <a:spcPts val="2280"/>
                </a:lnSpc>
              </a:pPr>
              <a:r>
                <a:rPr lang="en-US" sz="1900" b="true">
                  <a:solidFill>
                    <a:srgbClr val="F5B82E"/>
                  </a:solidFill>
                  <a:latin typeface="Roboto Bold"/>
                  <a:ea typeface="Roboto Bold"/>
                  <a:cs typeface="Roboto Bold"/>
                  <a:sym typeface="Roboto Bold"/>
                </a:rPr>
                <a:t>CÔNG THỨC CHÍNH</a:t>
              </a:r>
            </a:p>
          </p:txBody>
        </p:sp>
      </p:grpSp>
      <p:grpSp>
        <p:nvGrpSpPr>
          <p:cNvPr name="Group 29" id="29"/>
          <p:cNvGrpSpPr/>
          <p:nvPr/>
        </p:nvGrpSpPr>
        <p:grpSpPr>
          <a:xfrm rot="0">
            <a:off x="10382098" y="2771546"/>
            <a:ext cx="7239305" cy="244512"/>
            <a:chOff x="0" y="0"/>
            <a:chExt cx="9652406" cy="326016"/>
          </a:xfrm>
        </p:grpSpPr>
        <p:sp>
          <p:nvSpPr>
            <p:cNvPr name="Freeform 30" id="30"/>
            <p:cNvSpPr/>
            <p:nvPr/>
          </p:nvSpPr>
          <p:spPr>
            <a:xfrm flipH="false" flipV="false" rot="0">
              <a:off x="0" y="0"/>
              <a:ext cx="9652407" cy="326016"/>
            </a:xfrm>
            <a:custGeom>
              <a:avLst/>
              <a:gdLst/>
              <a:ahLst/>
              <a:cxnLst/>
              <a:rect r="r" b="b" t="t" l="l"/>
              <a:pathLst>
                <a:path h="326016" w="9652407">
                  <a:moveTo>
                    <a:pt x="0" y="0"/>
                  </a:moveTo>
                  <a:lnTo>
                    <a:pt x="9652407" y="0"/>
                  </a:lnTo>
                  <a:lnTo>
                    <a:pt x="9652407" y="326016"/>
                  </a:lnTo>
                  <a:lnTo>
                    <a:pt x="0" y="326016"/>
                  </a:lnTo>
                  <a:close/>
                </a:path>
              </a:pathLst>
            </a:custGeom>
            <a:blipFill>
              <a:blip r:embed="rId5">
                <a:alphaModFix amt="0"/>
              </a:blip>
              <a:stretch>
                <a:fillRect l="0" t="-532019" r="0" b="-521772"/>
              </a:stretch>
            </a:blipFill>
          </p:spPr>
        </p:sp>
        <p:sp>
          <p:nvSpPr>
            <p:cNvPr name="TextBox 31" id="31"/>
            <p:cNvSpPr txBox="true"/>
            <p:nvPr/>
          </p:nvSpPr>
          <p:spPr>
            <a:xfrm>
              <a:off x="0" y="0"/>
              <a:ext cx="9652406" cy="326016"/>
            </a:xfrm>
            <a:prstGeom prst="rect">
              <a:avLst/>
            </a:prstGeom>
          </p:spPr>
          <p:txBody>
            <a:bodyPr anchor="ctr" rtlCol="false" tIns="0" lIns="0" bIns="0" rIns="0"/>
            <a:lstStyle/>
            <a:p>
              <a:pPr algn="l">
                <a:lnSpc>
                  <a:spcPts val="1560"/>
                </a:lnSpc>
              </a:pPr>
              <a:r>
                <a:rPr lang="en-US" sz="1300">
                  <a:solidFill>
                    <a:srgbClr val="F5B82E"/>
                  </a:solidFill>
                  <a:latin typeface="Roboto"/>
                  <a:ea typeface="Roboto"/>
                  <a:cs typeface="Roboto"/>
                  <a:sym typeface="Roboto"/>
                </a:rPr>
                <a:t>Return đầu vào</a:t>
              </a:r>
            </a:p>
          </p:txBody>
        </p:sp>
      </p:grpSp>
      <p:grpSp>
        <p:nvGrpSpPr>
          <p:cNvPr name="Group 32" id="32"/>
          <p:cNvGrpSpPr/>
          <p:nvPr/>
        </p:nvGrpSpPr>
        <p:grpSpPr>
          <a:xfrm rot="0">
            <a:off x="10375744" y="3041342"/>
            <a:ext cx="7599501" cy="584197"/>
            <a:chOff x="0" y="0"/>
            <a:chExt cx="10132668" cy="778929"/>
          </a:xfrm>
        </p:grpSpPr>
        <p:sp>
          <p:nvSpPr>
            <p:cNvPr name="Freeform 33" id="33"/>
            <p:cNvSpPr/>
            <p:nvPr/>
          </p:nvSpPr>
          <p:spPr>
            <a:xfrm flipH="false" flipV="false" rot="0">
              <a:off x="8917" y="8509"/>
              <a:ext cx="10114902" cy="762000"/>
            </a:xfrm>
            <a:custGeom>
              <a:avLst/>
              <a:gdLst/>
              <a:ahLst/>
              <a:cxnLst/>
              <a:rect r="r" b="b" t="t" l="l"/>
              <a:pathLst>
                <a:path h="762000" w="10114902">
                  <a:moveTo>
                    <a:pt x="0" y="325120"/>
                  </a:moveTo>
                  <a:cubicBezTo>
                    <a:pt x="0" y="145542"/>
                    <a:pt x="155577" y="0"/>
                    <a:pt x="347619" y="0"/>
                  </a:cubicBezTo>
                  <a:lnTo>
                    <a:pt x="9767282" y="0"/>
                  </a:lnTo>
                  <a:cubicBezTo>
                    <a:pt x="9959324" y="0"/>
                    <a:pt x="10114901" y="145542"/>
                    <a:pt x="10114901" y="325120"/>
                  </a:cubicBezTo>
                  <a:lnTo>
                    <a:pt x="10114901" y="436880"/>
                  </a:lnTo>
                  <a:cubicBezTo>
                    <a:pt x="10114901" y="616458"/>
                    <a:pt x="9959191" y="762000"/>
                    <a:pt x="9767282" y="762000"/>
                  </a:cubicBezTo>
                  <a:lnTo>
                    <a:pt x="347619" y="762000"/>
                  </a:lnTo>
                  <a:cubicBezTo>
                    <a:pt x="155577" y="762000"/>
                    <a:pt x="0" y="616458"/>
                    <a:pt x="0" y="436880"/>
                  </a:cubicBezTo>
                  <a:close/>
                </a:path>
              </a:pathLst>
            </a:custGeom>
            <a:solidFill>
              <a:srgbClr val="FFFFFF">
                <a:alpha val="392"/>
              </a:srgbClr>
            </a:solidFill>
          </p:spPr>
        </p:sp>
      </p:grpSp>
      <p:grpSp>
        <p:nvGrpSpPr>
          <p:cNvPr name="Group 34" id="34"/>
          <p:cNvGrpSpPr/>
          <p:nvPr/>
        </p:nvGrpSpPr>
        <p:grpSpPr>
          <a:xfrm rot="0">
            <a:off x="10595353" y="3047690"/>
            <a:ext cx="6139330" cy="571500"/>
            <a:chOff x="0" y="0"/>
            <a:chExt cx="8185773" cy="762000"/>
          </a:xfrm>
        </p:grpSpPr>
        <p:sp>
          <p:nvSpPr>
            <p:cNvPr name="Freeform 35" id="35"/>
            <p:cNvSpPr/>
            <p:nvPr/>
          </p:nvSpPr>
          <p:spPr>
            <a:xfrm flipH="false" flipV="false" rot="0">
              <a:off x="0" y="0"/>
              <a:ext cx="8185774" cy="762000"/>
            </a:xfrm>
            <a:custGeom>
              <a:avLst/>
              <a:gdLst/>
              <a:ahLst/>
              <a:cxnLst/>
              <a:rect r="r" b="b" t="t" l="l"/>
              <a:pathLst>
                <a:path h="762000" w="8185774">
                  <a:moveTo>
                    <a:pt x="0" y="0"/>
                  </a:moveTo>
                  <a:lnTo>
                    <a:pt x="8185774" y="0"/>
                  </a:lnTo>
                  <a:lnTo>
                    <a:pt x="8185774" y="762000"/>
                  </a:lnTo>
                  <a:lnTo>
                    <a:pt x="0" y="762000"/>
                  </a:lnTo>
                  <a:close/>
                </a:path>
              </a:pathLst>
            </a:custGeom>
            <a:blipFill>
              <a:blip r:embed="rId5">
                <a:alphaModFix amt="0"/>
              </a:blip>
              <a:stretch>
                <a:fillRect l="0" t="-196820" r="-17916" b="-196820"/>
              </a:stretch>
            </a:blipFill>
          </p:spPr>
        </p:sp>
        <p:sp>
          <p:nvSpPr>
            <p:cNvPr name="TextBox 36" id="36"/>
            <p:cNvSpPr txBox="true"/>
            <p:nvPr/>
          </p:nvSpPr>
          <p:spPr>
            <a:xfrm>
              <a:off x="0" y="-9525"/>
              <a:ext cx="8185773" cy="771525"/>
            </a:xfrm>
            <a:prstGeom prst="rect">
              <a:avLst/>
            </a:prstGeom>
          </p:spPr>
          <p:txBody>
            <a:bodyPr anchor="ctr" rtlCol="false" tIns="0" lIns="0" bIns="0" rIns="0"/>
            <a:lstStyle/>
            <a:p>
              <a:pPr algn="l">
                <a:lnSpc>
                  <a:spcPts val="2160"/>
                </a:lnSpc>
              </a:pPr>
              <a:r>
                <a:rPr lang="en-US" sz="1800">
                  <a:solidFill>
                    <a:srgbClr val="FFFFFF"/>
                  </a:solidFill>
                  <a:latin typeface="Roboto"/>
                  <a:ea typeface="Roboto"/>
                  <a:cs typeface="Roboto"/>
                  <a:sym typeface="Roboto"/>
                </a:rPr>
                <a:t>R_t = p_t / p_{t-1} - 1</a:t>
              </a:r>
            </a:p>
          </p:txBody>
        </p:sp>
      </p:grpSp>
      <p:grpSp>
        <p:nvGrpSpPr>
          <p:cNvPr name="Group 37" id="37"/>
          <p:cNvGrpSpPr/>
          <p:nvPr/>
        </p:nvGrpSpPr>
        <p:grpSpPr>
          <a:xfrm rot="0">
            <a:off x="10382098" y="4088176"/>
            <a:ext cx="7239305" cy="244512"/>
            <a:chOff x="0" y="0"/>
            <a:chExt cx="9652406" cy="326016"/>
          </a:xfrm>
        </p:grpSpPr>
        <p:sp>
          <p:nvSpPr>
            <p:cNvPr name="Freeform 38" id="38"/>
            <p:cNvSpPr/>
            <p:nvPr/>
          </p:nvSpPr>
          <p:spPr>
            <a:xfrm flipH="false" flipV="false" rot="0">
              <a:off x="0" y="0"/>
              <a:ext cx="9652407" cy="326016"/>
            </a:xfrm>
            <a:custGeom>
              <a:avLst/>
              <a:gdLst/>
              <a:ahLst/>
              <a:cxnLst/>
              <a:rect r="r" b="b" t="t" l="l"/>
              <a:pathLst>
                <a:path h="326016" w="9652407">
                  <a:moveTo>
                    <a:pt x="0" y="0"/>
                  </a:moveTo>
                  <a:lnTo>
                    <a:pt x="9652407" y="0"/>
                  </a:lnTo>
                  <a:lnTo>
                    <a:pt x="9652407" y="326016"/>
                  </a:lnTo>
                  <a:lnTo>
                    <a:pt x="0" y="326016"/>
                  </a:lnTo>
                  <a:close/>
                </a:path>
              </a:pathLst>
            </a:custGeom>
            <a:blipFill>
              <a:blip r:embed="rId5">
                <a:alphaModFix amt="0"/>
              </a:blip>
              <a:stretch>
                <a:fillRect l="0" t="-532019" r="0" b="-521772"/>
              </a:stretch>
            </a:blipFill>
          </p:spPr>
        </p:sp>
        <p:sp>
          <p:nvSpPr>
            <p:cNvPr name="TextBox 39" id="39"/>
            <p:cNvSpPr txBox="true"/>
            <p:nvPr/>
          </p:nvSpPr>
          <p:spPr>
            <a:xfrm>
              <a:off x="0" y="0"/>
              <a:ext cx="9652406" cy="326016"/>
            </a:xfrm>
            <a:prstGeom prst="rect">
              <a:avLst/>
            </a:prstGeom>
          </p:spPr>
          <p:txBody>
            <a:bodyPr anchor="ctr" rtlCol="false" tIns="0" lIns="0" bIns="0" rIns="0"/>
            <a:lstStyle/>
            <a:p>
              <a:pPr algn="l">
                <a:lnSpc>
                  <a:spcPts val="1560"/>
                </a:lnSpc>
              </a:pPr>
              <a:r>
                <a:rPr lang="en-US" sz="1300">
                  <a:solidFill>
                    <a:srgbClr val="F5B82E"/>
                  </a:solidFill>
                  <a:latin typeface="Roboto"/>
                  <a:ea typeface="Roboto"/>
                  <a:cs typeface="Roboto"/>
                  <a:sym typeface="Roboto"/>
                </a:rPr>
                <a:t>Hazard function (hằng số)</a:t>
              </a:r>
            </a:p>
          </p:txBody>
        </p:sp>
      </p:grpSp>
      <p:grpSp>
        <p:nvGrpSpPr>
          <p:cNvPr name="Group 40" id="40"/>
          <p:cNvGrpSpPr/>
          <p:nvPr/>
        </p:nvGrpSpPr>
        <p:grpSpPr>
          <a:xfrm rot="0">
            <a:off x="10427158" y="4458832"/>
            <a:ext cx="7752936" cy="585092"/>
            <a:chOff x="0" y="0"/>
            <a:chExt cx="10337248" cy="780123"/>
          </a:xfrm>
        </p:grpSpPr>
        <p:grpSp>
          <p:nvGrpSpPr>
            <p:cNvPr name="Group 41" id="41"/>
            <p:cNvGrpSpPr/>
            <p:nvPr/>
          </p:nvGrpSpPr>
          <p:grpSpPr>
            <a:xfrm rot="0">
              <a:off x="0" y="0"/>
              <a:ext cx="10050491" cy="778929"/>
              <a:chOff x="0" y="0"/>
              <a:chExt cx="10050491" cy="778929"/>
            </a:xfrm>
          </p:grpSpPr>
          <p:sp>
            <p:nvSpPr>
              <p:cNvPr name="Freeform 42" id="42"/>
              <p:cNvSpPr/>
              <p:nvPr/>
            </p:nvSpPr>
            <p:spPr>
              <a:xfrm flipH="false" flipV="false" rot="0">
                <a:off x="8844" y="8509"/>
                <a:ext cx="10032868" cy="762000"/>
              </a:xfrm>
              <a:custGeom>
                <a:avLst/>
                <a:gdLst/>
                <a:ahLst/>
                <a:cxnLst/>
                <a:rect r="r" b="b" t="t" l="l"/>
                <a:pathLst>
                  <a:path h="762000" w="10032868">
                    <a:moveTo>
                      <a:pt x="0" y="325120"/>
                    </a:moveTo>
                    <a:cubicBezTo>
                      <a:pt x="0" y="145542"/>
                      <a:pt x="154316" y="0"/>
                      <a:pt x="344801" y="0"/>
                    </a:cubicBezTo>
                    <a:lnTo>
                      <a:pt x="9688069" y="0"/>
                    </a:lnTo>
                    <a:cubicBezTo>
                      <a:pt x="9878553" y="0"/>
                      <a:pt x="10032869" y="145542"/>
                      <a:pt x="10032869" y="325120"/>
                    </a:cubicBezTo>
                    <a:lnTo>
                      <a:pt x="10032869" y="436880"/>
                    </a:lnTo>
                    <a:cubicBezTo>
                      <a:pt x="10032869" y="616458"/>
                      <a:pt x="9878421" y="762000"/>
                      <a:pt x="9688069" y="762000"/>
                    </a:cubicBezTo>
                    <a:lnTo>
                      <a:pt x="344801" y="762000"/>
                    </a:lnTo>
                    <a:cubicBezTo>
                      <a:pt x="154316" y="762000"/>
                      <a:pt x="0" y="616458"/>
                      <a:pt x="0" y="436880"/>
                    </a:cubicBezTo>
                    <a:close/>
                  </a:path>
                </a:pathLst>
              </a:custGeom>
              <a:solidFill>
                <a:srgbClr val="FFFFFF">
                  <a:alpha val="392"/>
                </a:srgbClr>
              </a:solidFill>
            </p:spPr>
          </p:sp>
        </p:grpSp>
        <p:grpSp>
          <p:nvGrpSpPr>
            <p:cNvPr name="Group 43" id="43"/>
            <p:cNvGrpSpPr/>
            <p:nvPr/>
          </p:nvGrpSpPr>
          <p:grpSpPr>
            <a:xfrm rot="0">
              <a:off x="304354" y="18123"/>
              <a:ext cx="10032895" cy="762000"/>
              <a:chOff x="0" y="0"/>
              <a:chExt cx="10032895" cy="762000"/>
            </a:xfrm>
          </p:grpSpPr>
          <p:sp>
            <p:nvSpPr>
              <p:cNvPr name="Freeform 44" id="44"/>
              <p:cNvSpPr/>
              <p:nvPr/>
            </p:nvSpPr>
            <p:spPr>
              <a:xfrm flipH="false" flipV="false" rot="0">
                <a:off x="0" y="0"/>
                <a:ext cx="10032895" cy="762000"/>
              </a:xfrm>
              <a:custGeom>
                <a:avLst/>
                <a:gdLst/>
                <a:ahLst/>
                <a:cxnLst/>
                <a:rect r="r" b="b" t="t" l="l"/>
                <a:pathLst>
                  <a:path h="762000" w="10032895">
                    <a:moveTo>
                      <a:pt x="0" y="0"/>
                    </a:moveTo>
                    <a:lnTo>
                      <a:pt x="10032895" y="0"/>
                    </a:lnTo>
                    <a:lnTo>
                      <a:pt x="10032895" y="762000"/>
                    </a:lnTo>
                    <a:lnTo>
                      <a:pt x="0" y="762000"/>
                    </a:lnTo>
                    <a:close/>
                  </a:path>
                </a:pathLst>
              </a:custGeom>
              <a:blipFill>
                <a:blip r:embed="rId5">
                  <a:alphaModFix amt="0"/>
                </a:blip>
                <a:stretch>
                  <a:fillRect l="0" t="-196820" r="3792" b="-196820"/>
                </a:stretch>
              </a:blipFill>
            </p:spPr>
          </p:sp>
          <p:sp>
            <p:nvSpPr>
              <p:cNvPr name="TextBox 45" id="45"/>
              <p:cNvSpPr txBox="true"/>
              <p:nvPr/>
            </p:nvSpPr>
            <p:spPr>
              <a:xfrm>
                <a:off x="0" y="0"/>
                <a:ext cx="10032895" cy="762000"/>
              </a:xfrm>
              <a:prstGeom prst="rect">
                <a:avLst/>
              </a:prstGeom>
            </p:spPr>
            <p:txBody>
              <a:bodyPr anchor="ctr" rtlCol="false" tIns="0" lIns="0" bIns="0" rIns="0"/>
              <a:lstStyle/>
              <a:p>
                <a:pPr algn="l">
                  <a:lnSpc>
                    <a:spcPts val="2160"/>
                  </a:lnSpc>
                </a:pPr>
                <a:r>
                  <a:rPr lang="en-US" sz="1800">
                    <a:solidFill>
                      <a:srgbClr val="FFFFFF"/>
                    </a:solidFill>
                    <a:latin typeface="JetBrains Mono"/>
                    <a:ea typeface="JetBrains Mono"/>
                    <a:cs typeface="JetBrains Mono"/>
                    <a:sym typeface="JetBrains Mono"/>
                  </a:rPr>
                  <a:t>H(τ) = P_gap(g = τ) / P_gap(g ≥ τ)</a:t>
                </a:r>
              </a:p>
            </p:txBody>
          </p:sp>
        </p:grpSp>
      </p:grpSp>
      <p:grpSp>
        <p:nvGrpSpPr>
          <p:cNvPr name="Group 46" id="46"/>
          <p:cNvGrpSpPr/>
          <p:nvPr/>
        </p:nvGrpSpPr>
        <p:grpSpPr>
          <a:xfrm rot="0">
            <a:off x="10370106" y="5302470"/>
            <a:ext cx="7239305" cy="404745"/>
            <a:chOff x="0" y="0"/>
            <a:chExt cx="9652406" cy="539660"/>
          </a:xfrm>
        </p:grpSpPr>
        <p:sp>
          <p:nvSpPr>
            <p:cNvPr name="Freeform 47" id="47"/>
            <p:cNvSpPr/>
            <p:nvPr/>
          </p:nvSpPr>
          <p:spPr>
            <a:xfrm flipH="false" flipV="false" rot="0">
              <a:off x="0" y="0"/>
              <a:ext cx="9652407" cy="539660"/>
            </a:xfrm>
            <a:custGeom>
              <a:avLst/>
              <a:gdLst/>
              <a:ahLst/>
              <a:cxnLst/>
              <a:rect r="r" b="b" t="t" l="l"/>
              <a:pathLst>
                <a:path h="539660" w="9652407">
                  <a:moveTo>
                    <a:pt x="0" y="0"/>
                  </a:moveTo>
                  <a:lnTo>
                    <a:pt x="9652407" y="0"/>
                  </a:lnTo>
                  <a:lnTo>
                    <a:pt x="9652407" y="539660"/>
                  </a:lnTo>
                  <a:lnTo>
                    <a:pt x="0" y="539660"/>
                  </a:lnTo>
                  <a:close/>
                </a:path>
              </a:pathLst>
            </a:custGeom>
            <a:blipFill>
              <a:blip r:embed="rId5">
                <a:alphaModFix amt="0"/>
              </a:blip>
              <a:stretch>
                <a:fillRect l="0" t="-321400" r="0" b="-275621"/>
              </a:stretch>
            </a:blipFill>
          </p:spPr>
        </p:sp>
        <p:sp>
          <p:nvSpPr>
            <p:cNvPr name="TextBox 48" id="48"/>
            <p:cNvSpPr txBox="true"/>
            <p:nvPr/>
          </p:nvSpPr>
          <p:spPr>
            <a:xfrm>
              <a:off x="0" y="0"/>
              <a:ext cx="9652406" cy="539660"/>
            </a:xfrm>
            <a:prstGeom prst="rect">
              <a:avLst/>
            </a:prstGeom>
          </p:spPr>
          <p:txBody>
            <a:bodyPr anchor="ctr" rtlCol="false" tIns="0" lIns="0" bIns="0" rIns="0"/>
            <a:lstStyle/>
            <a:p>
              <a:pPr algn="l">
                <a:lnSpc>
                  <a:spcPts val="1560"/>
                </a:lnSpc>
              </a:pPr>
              <a:r>
                <a:rPr lang="en-US" sz="1300">
                  <a:solidFill>
                    <a:srgbClr val="F5B82E"/>
                  </a:solidFill>
                  <a:latin typeface="Roboto"/>
                  <a:ea typeface="Roboto"/>
                  <a:cs typeface="Roboto"/>
                  <a:sym typeface="Roboto"/>
                </a:rPr>
                <a:t>Posterior run-length</a:t>
              </a:r>
            </a:p>
          </p:txBody>
        </p:sp>
      </p:grpSp>
      <p:grpSp>
        <p:nvGrpSpPr>
          <p:cNvPr name="Group 49" id="49"/>
          <p:cNvGrpSpPr/>
          <p:nvPr/>
        </p:nvGrpSpPr>
        <p:grpSpPr>
          <a:xfrm rot="0">
            <a:off x="10219452" y="5831040"/>
            <a:ext cx="8394517" cy="646075"/>
            <a:chOff x="0" y="0"/>
            <a:chExt cx="11192690" cy="861433"/>
          </a:xfrm>
        </p:grpSpPr>
        <p:grpSp>
          <p:nvGrpSpPr>
            <p:cNvPr name="Group 50" id="50"/>
            <p:cNvGrpSpPr/>
            <p:nvPr/>
          </p:nvGrpSpPr>
          <p:grpSpPr>
            <a:xfrm rot="0">
              <a:off x="212164" y="0"/>
              <a:ext cx="10212902" cy="727165"/>
              <a:chOff x="0" y="0"/>
              <a:chExt cx="10212902" cy="727165"/>
            </a:xfrm>
          </p:grpSpPr>
          <p:sp>
            <p:nvSpPr>
              <p:cNvPr name="Freeform 51" id="51"/>
              <p:cNvSpPr/>
              <p:nvPr/>
            </p:nvSpPr>
            <p:spPr>
              <a:xfrm flipH="false" flipV="false" rot="0">
                <a:off x="8987" y="8349"/>
                <a:ext cx="10194994" cy="710630"/>
              </a:xfrm>
              <a:custGeom>
                <a:avLst/>
                <a:gdLst/>
                <a:ahLst/>
                <a:cxnLst/>
                <a:rect r="r" b="b" t="t" l="l"/>
                <a:pathLst>
                  <a:path h="710630" w="10194994">
                    <a:moveTo>
                      <a:pt x="0" y="335689"/>
                    </a:moveTo>
                    <a:cubicBezTo>
                      <a:pt x="0" y="150275"/>
                      <a:pt x="165260" y="0"/>
                      <a:pt x="369286" y="0"/>
                    </a:cubicBezTo>
                    <a:lnTo>
                      <a:pt x="9825708" y="0"/>
                    </a:lnTo>
                    <a:cubicBezTo>
                      <a:pt x="10029600" y="0"/>
                      <a:pt x="10194995" y="150275"/>
                      <a:pt x="10194995" y="335814"/>
                    </a:cubicBezTo>
                    <a:lnTo>
                      <a:pt x="10194995" y="374816"/>
                    </a:lnTo>
                    <a:cubicBezTo>
                      <a:pt x="10194995" y="560230"/>
                      <a:pt x="10029600" y="710630"/>
                      <a:pt x="9825708" y="710630"/>
                    </a:cubicBezTo>
                    <a:lnTo>
                      <a:pt x="369286" y="710630"/>
                    </a:lnTo>
                    <a:cubicBezTo>
                      <a:pt x="165260" y="710505"/>
                      <a:pt x="0" y="560230"/>
                      <a:pt x="0" y="374691"/>
                    </a:cubicBezTo>
                    <a:close/>
                  </a:path>
                </a:pathLst>
              </a:custGeom>
              <a:solidFill>
                <a:srgbClr val="FFFFFF">
                  <a:alpha val="392"/>
                </a:srgbClr>
              </a:solidFill>
            </p:spPr>
          </p:sp>
        </p:grpSp>
        <p:grpSp>
          <p:nvGrpSpPr>
            <p:cNvPr name="Group 52" id="52"/>
            <p:cNvGrpSpPr/>
            <p:nvPr/>
          </p:nvGrpSpPr>
          <p:grpSpPr>
            <a:xfrm rot="0">
              <a:off x="0" y="150877"/>
              <a:ext cx="11192690" cy="710556"/>
              <a:chOff x="0" y="0"/>
              <a:chExt cx="11192690" cy="710556"/>
            </a:xfrm>
          </p:grpSpPr>
          <p:sp>
            <p:nvSpPr>
              <p:cNvPr name="Freeform 53" id="53"/>
              <p:cNvSpPr/>
              <p:nvPr/>
            </p:nvSpPr>
            <p:spPr>
              <a:xfrm flipH="false" flipV="false" rot="0">
                <a:off x="0" y="0"/>
                <a:ext cx="11192690" cy="710556"/>
              </a:xfrm>
              <a:custGeom>
                <a:avLst/>
                <a:gdLst/>
                <a:ahLst/>
                <a:cxnLst/>
                <a:rect r="r" b="b" t="t" l="l"/>
                <a:pathLst>
                  <a:path h="710556" w="11192690">
                    <a:moveTo>
                      <a:pt x="0" y="0"/>
                    </a:moveTo>
                    <a:lnTo>
                      <a:pt x="11192690" y="0"/>
                    </a:lnTo>
                    <a:lnTo>
                      <a:pt x="11192690" y="710556"/>
                    </a:lnTo>
                    <a:lnTo>
                      <a:pt x="0" y="710556"/>
                    </a:lnTo>
                    <a:close/>
                  </a:path>
                </a:pathLst>
              </a:custGeom>
              <a:blipFill>
                <a:blip r:embed="rId5">
                  <a:alphaModFix amt="0"/>
                </a:blip>
                <a:stretch>
                  <a:fillRect l="0" t="-213730" r="13761" b="-215650"/>
                </a:stretch>
              </a:blipFill>
            </p:spPr>
          </p:sp>
          <p:sp>
            <p:nvSpPr>
              <p:cNvPr name="TextBox 54" id="54"/>
              <p:cNvSpPr txBox="true"/>
              <p:nvPr/>
            </p:nvSpPr>
            <p:spPr>
              <a:xfrm>
                <a:off x="0" y="-9525"/>
                <a:ext cx="11192690" cy="720081"/>
              </a:xfrm>
              <a:prstGeom prst="rect">
                <a:avLst/>
              </a:prstGeom>
            </p:spPr>
            <p:txBody>
              <a:bodyPr anchor="ctr" rtlCol="false" tIns="0" lIns="0" bIns="0" rIns="0"/>
              <a:lstStyle/>
              <a:p>
                <a:pPr algn="l">
                  <a:lnSpc>
                    <a:spcPts val="1919"/>
                  </a:lnSpc>
                </a:pPr>
                <a:r>
                  <a:rPr lang="en-US" sz="1599">
                    <a:solidFill>
                      <a:srgbClr val="FFFFFF"/>
                    </a:solidFill>
                    <a:latin typeface="JetBrains Mono"/>
                    <a:ea typeface="JetBrains Mono"/>
                    <a:cs typeface="JetBrains Mono"/>
                    <a:sym typeface="JetBrains Mono"/>
                  </a:rPr>
                  <a:t>   </a:t>
                </a:r>
                <a:r>
                  <a:rPr lang="en-US" sz="1599">
                    <a:solidFill>
                      <a:srgbClr val="FFFFFF"/>
                    </a:solidFill>
                    <a:latin typeface="JetBrains Mono"/>
                    <a:ea typeface="JetBrains Mono"/>
                    <a:cs typeface="JetBrains Mono"/>
                    <a:sym typeface="JetBrains Mono"/>
                  </a:rPr>
                  <a:t>P(r_t | x_{1:t}) = P(r_t, x_{1:t}) / Σ_k P(r_t = k, x_{1:t})</a:t>
                </a:r>
              </a:p>
              <a:p>
                <a:pPr algn="l">
                  <a:lnSpc>
                    <a:spcPts val="1920"/>
                  </a:lnSpc>
                </a:pPr>
              </a:p>
            </p:txBody>
          </p:sp>
        </p:grpSp>
      </p:grpSp>
      <p:grpSp>
        <p:nvGrpSpPr>
          <p:cNvPr name="Group 55" id="55"/>
          <p:cNvGrpSpPr/>
          <p:nvPr/>
        </p:nvGrpSpPr>
        <p:grpSpPr>
          <a:xfrm rot="0">
            <a:off x="10382093" y="6734620"/>
            <a:ext cx="7239305" cy="244512"/>
            <a:chOff x="0" y="0"/>
            <a:chExt cx="9652406" cy="326016"/>
          </a:xfrm>
        </p:grpSpPr>
        <p:sp>
          <p:nvSpPr>
            <p:cNvPr name="Freeform 56" id="56"/>
            <p:cNvSpPr/>
            <p:nvPr/>
          </p:nvSpPr>
          <p:spPr>
            <a:xfrm flipH="false" flipV="false" rot="0">
              <a:off x="0" y="0"/>
              <a:ext cx="9652407" cy="326016"/>
            </a:xfrm>
            <a:custGeom>
              <a:avLst/>
              <a:gdLst/>
              <a:ahLst/>
              <a:cxnLst/>
              <a:rect r="r" b="b" t="t" l="l"/>
              <a:pathLst>
                <a:path h="326016" w="9652407">
                  <a:moveTo>
                    <a:pt x="0" y="0"/>
                  </a:moveTo>
                  <a:lnTo>
                    <a:pt x="9652407" y="0"/>
                  </a:lnTo>
                  <a:lnTo>
                    <a:pt x="9652407" y="326016"/>
                  </a:lnTo>
                  <a:lnTo>
                    <a:pt x="0" y="326016"/>
                  </a:lnTo>
                  <a:close/>
                </a:path>
              </a:pathLst>
            </a:custGeom>
            <a:blipFill>
              <a:blip r:embed="rId5">
                <a:alphaModFix amt="0"/>
              </a:blip>
              <a:stretch>
                <a:fillRect l="0" t="-532019" r="0" b="-521772"/>
              </a:stretch>
            </a:blipFill>
          </p:spPr>
        </p:sp>
        <p:sp>
          <p:nvSpPr>
            <p:cNvPr name="TextBox 57" id="57"/>
            <p:cNvSpPr txBox="true"/>
            <p:nvPr/>
          </p:nvSpPr>
          <p:spPr>
            <a:xfrm>
              <a:off x="0" y="0"/>
              <a:ext cx="9652406" cy="326016"/>
            </a:xfrm>
            <a:prstGeom prst="rect">
              <a:avLst/>
            </a:prstGeom>
          </p:spPr>
          <p:txBody>
            <a:bodyPr anchor="ctr" rtlCol="false" tIns="0" lIns="0" bIns="0" rIns="0"/>
            <a:lstStyle/>
            <a:p>
              <a:pPr algn="l">
                <a:lnSpc>
                  <a:spcPts val="1560"/>
                </a:lnSpc>
              </a:pPr>
              <a:r>
                <a:rPr lang="en-US" sz="1300">
                  <a:solidFill>
                    <a:srgbClr val="F5B82E"/>
                  </a:solidFill>
                  <a:latin typeface="Roboto"/>
                  <a:ea typeface="Roboto"/>
                  <a:cs typeface="Roboto"/>
                  <a:sym typeface="Roboto"/>
                </a:rPr>
                <a:t>Cập nhật sufficient statistics (Gaussian)</a:t>
              </a:r>
            </a:p>
          </p:txBody>
        </p:sp>
      </p:grpSp>
      <p:grpSp>
        <p:nvGrpSpPr>
          <p:cNvPr name="Group 58" id="58"/>
          <p:cNvGrpSpPr/>
          <p:nvPr/>
        </p:nvGrpSpPr>
        <p:grpSpPr>
          <a:xfrm rot="0">
            <a:off x="10382098" y="7188682"/>
            <a:ext cx="7593148" cy="603399"/>
            <a:chOff x="0" y="0"/>
            <a:chExt cx="10124198" cy="804532"/>
          </a:xfrm>
        </p:grpSpPr>
        <p:grpSp>
          <p:nvGrpSpPr>
            <p:cNvPr name="Group 59" id="59"/>
            <p:cNvGrpSpPr/>
            <p:nvPr/>
          </p:nvGrpSpPr>
          <p:grpSpPr>
            <a:xfrm rot="0">
              <a:off x="0" y="0"/>
              <a:ext cx="10124198" cy="804532"/>
              <a:chOff x="0" y="0"/>
              <a:chExt cx="10124198" cy="804532"/>
            </a:xfrm>
          </p:grpSpPr>
          <p:sp>
            <p:nvSpPr>
              <p:cNvPr name="Freeform 60" id="60"/>
              <p:cNvSpPr/>
              <p:nvPr/>
            </p:nvSpPr>
            <p:spPr>
              <a:xfrm flipH="false" flipV="false" rot="0">
                <a:off x="8909" y="8509"/>
                <a:ext cx="10106445" cy="787527"/>
              </a:xfrm>
              <a:custGeom>
                <a:avLst/>
                <a:gdLst/>
                <a:ahLst/>
                <a:cxnLst/>
                <a:rect r="r" b="b" t="t" l="l"/>
                <a:pathLst>
                  <a:path h="787527" w="10106445">
                    <a:moveTo>
                      <a:pt x="0" y="314579"/>
                    </a:moveTo>
                    <a:cubicBezTo>
                      <a:pt x="0" y="140843"/>
                      <a:pt x="150394" y="0"/>
                      <a:pt x="335893" y="0"/>
                    </a:cubicBezTo>
                    <a:lnTo>
                      <a:pt x="9770553" y="0"/>
                    </a:lnTo>
                    <a:cubicBezTo>
                      <a:pt x="9956052" y="0"/>
                      <a:pt x="10106446" y="140843"/>
                      <a:pt x="10106446" y="314579"/>
                    </a:cubicBezTo>
                    <a:lnTo>
                      <a:pt x="10106446" y="472948"/>
                    </a:lnTo>
                    <a:cubicBezTo>
                      <a:pt x="10106446" y="646684"/>
                      <a:pt x="9956052" y="787527"/>
                      <a:pt x="9770553" y="787527"/>
                    </a:cubicBezTo>
                    <a:lnTo>
                      <a:pt x="335893" y="787527"/>
                    </a:lnTo>
                    <a:cubicBezTo>
                      <a:pt x="150394" y="787527"/>
                      <a:pt x="0" y="646684"/>
                      <a:pt x="0" y="472948"/>
                    </a:cubicBezTo>
                    <a:close/>
                  </a:path>
                </a:pathLst>
              </a:custGeom>
              <a:solidFill>
                <a:srgbClr val="FFFFFF">
                  <a:alpha val="392"/>
                </a:srgbClr>
              </a:solidFill>
            </p:spPr>
          </p:sp>
        </p:grpSp>
        <p:grpSp>
          <p:nvGrpSpPr>
            <p:cNvPr name="Group 61" id="61"/>
            <p:cNvGrpSpPr/>
            <p:nvPr/>
          </p:nvGrpSpPr>
          <p:grpSpPr>
            <a:xfrm rot="0">
              <a:off x="490563" y="16929"/>
              <a:ext cx="8876324" cy="787603"/>
              <a:chOff x="0" y="0"/>
              <a:chExt cx="8876324" cy="787603"/>
            </a:xfrm>
          </p:grpSpPr>
          <p:sp>
            <p:nvSpPr>
              <p:cNvPr name="Freeform 62" id="62"/>
              <p:cNvSpPr/>
              <p:nvPr/>
            </p:nvSpPr>
            <p:spPr>
              <a:xfrm flipH="false" flipV="false" rot="0">
                <a:off x="0" y="0"/>
                <a:ext cx="8876324" cy="787603"/>
              </a:xfrm>
              <a:custGeom>
                <a:avLst/>
                <a:gdLst/>
                <a:ahLst/>
                <a:cxnLst/>
                <a:rect r="r" b="b" t="t" l="l"/>
                <a:pathLst>
                  <a:path h="787603" w="8876324">
                    <a:moveTo>
                      <a:pt x="0" y="0"/>
                    </a:moveTo>
                    <a:lnTo>
                      <a:pt x="8876324" y="0"/>
                    </a:lnTo>
                    <a:lnTo>
                      <a:pt x="8876324" y="787603"/>
                    </a:lnTo>
                    <a:lnTo>
                      <a:pt x="0" y="787603"/>
                    </a:lnTo>
                    <a:close/>
                  </a:path>
                </a:pathLst>
              </a:custGeom>
              <a:blipFill>
                <a:blip r:embed="rId5">
                  <a:alphaModFix amt="0"/>
                </a:blip>
                <a:stretch>
                  <a:fillRect l="0" t="-188797" r="-8743" b="-188797"/>
                </a:stretch>
              </a:blipFill>
            </p:spPr>
          </p:sp>
          <p:sp>
            <p:nvSpPr>
              <p:cNvPr name="TextBox 63" id="63"/>
              <p:cNvSpPr txBox="true"/>
              <p:nvPr/>
            </p:nvSpPr>
            <p:spPr>
              <a:xfrm>
                <a:off x="0" y="-9525"/>
                <a:ext cx="8876324" cy="797128"/>
              </a:xfrm>
              <a:prstGeom prst="rect">
                <a:avLst/>
              </a:prstGeom>
            </p:spPr>
            <p:txBody>
              <a:bodyPr anchor="ctr" rtlCol="false" tIns="0" lIns="0" bIns="0" rIns="0"/>
              <a:lstStyle/>
              <a:p>
                <a:pPr algn="l">
                  <a:lnSpc>
                    <a:spcPts val="1919"/>
                  </a:lnSpc>
                </a:pPr>
                <a:r>
                  <a:rPr lang="en-US" sz="1599">
                    <a:solidFill>
                      <a:srgbClr val="FFFFFF"/>
                    </a:solidFill>
                    <a:latin typeface="JetBrains Mono"/>
                    <a:ea typeface="JetBrains Mono"/>
                    <a:cs typeface="JetBrains Mono"/>
                    <a:sym typeface="JetBrains Mono"/>
                  </a:rPr>
                  <a:t>α′ = α + 1/2 ; β' = β + x_t^2 / 2</a:t>
                </a:r>
              </a:p>
            </p:txBody>
          </p:sp>
        </p:grpSp>
      </p:grpSp>
      <p:grpSp>
        <p:nvGrpSpPr>
          <p:cNvPr name="Group 64" id="64"/>
          <p:cNvGrpSpPr/>
          <p:nvPr/>
        </p:nvGrpSpPr>
        <p:grpSpPr>
          <a:xfrm rot="0">
            <a:off x="761695" y="5382143"/>
            <a:ext cx="7810805" cy="498549"/>
            <a:chOff x="0" y="0"/>
            <a:chExt cx="10414406" cy="664731"/>
          </a:xfrm>
        </p:grpSpPr>
        <p:sp>
          <p:nvSpPr>
            <p:cNvPr name="Freeform 65" id="65"/>
            <p:cNvSpPr/>
            <p:nvPr/>
          </p:nvSpPr>
          <p:spPr>
            <a:xfrm flipH="false" flipV="false" rot="0">
              <a:off x="0" y="0"/>
              <a:ext cx="10414407" cy="664731"/>
            </a:xfrm>
            <a:custGeom>
              <a:avLst/>
              <a:gdLst/>
              <a:ahLst/>
              <a:cxnLst/>
              <a:rect r="r" b="b" t="t" l="l"/>
              <a:pathLst>
                <a:path h="664731" w="10414407">
                  <a:moveTo>
                    <a:pt x="0" y="0"/>
                  </a:moveTo>
                  <a:lnTo>
                    <a:pt x="10414407" y="0"/>
                  </a:lnTo>
                  <a:lnTo>
                    <a:pt x="10414407" y="664731"/>
                  </a:lnTo>
                  <a:lnTo>
                    <a:pt x="0" y="664731"/>
                  </a:lnTo>
                  <a:close/>
                </a:path>
              </a:pathLst>
            </a:custGeom>
            <a:blipFill>
              <a:blip r:embed="rId5">
                <a:alphaModFix amt="0"/>
              </a:blip>
              <a:stretch>
                <a:fillRect l="0" t="-276569" r="0" b="-233978"/>
              </a:stretch>
            </a:blipFill>
          </p:spPr>
        </p:sp>
        <p:sp>
          <p:nvSpPr>
            <p:cNvPr name="TextBox 66" id="66"/>
            <p:cNvSpPr txBox="true"/>
            <p:nvPr/>
          </p:nvSpPr>
          <p:spPr>
            <a:xfrm>
              <a:off x="0" y="-9525"/>
              <a:ext cx="10414406" cy="674256"/>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ƯU ĐIỂM ĐỂ ÁP DỤNG VÀO GIÁ CỔ PHIẾU</a:t>
              </a:r>
            </a:p>
          </p:txBody>
        </p:sp>
      </p:grpSp>
      <p:grpSp>
        <p:nvGrpSpPr>
          <p:cNvPr name="Group 67" id="67"/>
          <p:cNvGrpSpPr/>
          <p:nvPr/>
        </p:nvGrpSpPr>
        <p:grpSpPr>
          <a:xfrm rot="0">
            <a:off x="761695" y="6154077"/>
            <a:ext cx="8561897" cy="2459558"/>
            <a:chOff x="0" y="0"/>
            <a:chExt cx="11415863" cy="3279410"/>
          </a:xfrm>
        </p:grpSpPr>
        <p:sp>
          <p:nvSpPr>
            <p:cNvPr name="Freeform 68" id="68"/>
            <p:cNvSpPr/>
            <p:nvPr/>
          </p:nvSpPr>
          <p:spPr>
            <a:xfrm flipH="false" flipV="false" rot="0">
              <a:off x="0" y="0"/>
              <a:ext cx="11415863" cy="3279411"/>
            </a:xfrm>
            <a:custGeom>
              <a:avLst/>
              <a:gdLst/>
              <a:ahLst/>
              <a:cxnLst/>
              <a:rect r="r" b="b" t="t" l="l"/>
              <a:pathLst>
                <a:path h="3279411" w="11415863">
                  <a:moveTo>
                    <a:pt x="0" y="0"/>
                  </a:moveTo>
                  <a:lnTo>
                    <a:pt x="11415863" y="0"/>
                  </a:lnTo>
                  <a:lnTo>
                    <a:pt x="11415863" y="3279411"/>
                  </a:lnTo>
                  <a:lnTo>
                    <a:pt x="0" y="3279411"/>
                  </a:lnTo>
                  <a:close/>
                </a:path>
              </a:pathLst>
            </a:custGeom>
            <a:blipFill>
              <a:blip r:embed="rId5">
                <a:alphaModFix amt="0"/>
              </a:blip>
              <a:stretch>
                <a:fillRect l="0" t="-48650" r="19121" b="38932"/>
              </a:stretch>
            </a:blipFill>
          </p:spPr>
        </p:sp>
        <p:sp>
          <p:nvSpPr>
            <p:cNvPr name="TextBox 69" id="69"/>
            <p:cNvSpPr txBox="true"/>
            <p:nvPr/>
          </p:nvSpPr>
          <p:spPr>
            <a:xfrm>
              <a:off x="0" y="-9525"/>
              <a:ext cx="11415863" cy="3288935"/>
            </a:xfrm>
            <a:prstGeom prst="rect">
              <a:avLst/>
            </a:prstGeom>
          </p:spPr>
          <p:txBody>
            <a:bodyPr anchor="ctr" rtlCol="false" tIns="0" lIns="0" bIns="0" rIns="0"/>
            <a:lstStyle/>
            <a:p>
              <a:pPr algn="l" marL="561334" indent="-280667" lvl="1">
                <a:lnSpc>
                  <a:spcPts val="3119"/>
                </a:lnSpc>
                <a:buFont typeface="Arial"/>
                <a:buChar char="•"/>
              </a:pPr>
              <a:r>
                <a:rPr lang="en-US" sz="2599">
                  <a:solidFill>
                    <a:srgbClr val="000000"/>
                  </a:solidFill>
                  <a:latin typeface="Roboto"/>
                  <a:ea typeface="Roboto"/>
                  <a:cs typeface="Roboto"/>
                  <a:sym typeface="Roboto"/>
                </a:rPr>
                <a:t>Phát hiện realtime: phù hợp luồng tick streaming, không cần batch.</a:t>
              </a:r>
            </a:p>
            <a:p>
              <a:pPr algn="l" marL="561334" indent="-280667" lvl="1">
                <a:lnSpc>
                  <a:spcPts val="3119"/>
                </a:lnSpc>
                <a:buFont typeface="Arial"/>
                <a:buChar char="•"/>
              </a:pPr>
              <a:r>
                <a:rPr lang="en-US" sz="2599">
                  <a:solidFill>
                    <a:srgbClr val="000000"/>
                  </a:solidFill>
                  <a:latin typeface="Roboto"/>
                  <a:ea typeface="Roboto"/>
                  <a:cs typeface="Roboto"/>
                  <a:sym typeface="Roboto"/>
                </a:rPr>
                <a:t>Không cần label: thuật toán unsupervised, không phụ thuộc dữ liệu lịch sử biến động.</a:t>
              </a:r>
            </a:p>
            <a:p>
              <a:pPr algn="l" marL="518155" indent="-259078" lvl="1">
                <a:lnSpc>
                  <a:spcPts val="2879"/>
                </a:lnSpc>
                <a:buFont typeface="Arial"/>
                <a:buChar char="•"/>
              </a:pPr>
              <a:r>
                <a:rPr lang="en-US" sz="2399">
                  <a:solidFill>
                    <a:srgbClr val="000000"/>
                  </a:solidFill>
                  <a:latin typeface="Roboto"/>
                  <a:ea typeface="Roboto"/>
                  <a:cs typeface="Roboto"/>
                  <a:sym typeface="Roboto"/>
                </a:rPr>
                <a:t>Không cần label: thuật toán unsupervised, không phụ thuộc dữ liệu lịch sử biến động.</a:t>
              </a:r>
            </a:p>
          </p:txBody>
        </p:sp>
      </p:grpSp>
      <p:sp>
        <p:nvSpPr>
          <p:cNvPr name="TextBox 70" id="70"/>
          <p:cNvSpPr txBox="true"/>
          <p:nvPr/>
        </p:nvSpPr>
        <p:spPr>
          <a:xfrm rot="0">
            <a:off x="8814162" y="8411471"/>
            <a:ext cx="9365932" cy="247650"/>
          </a:xfrm>
          <a:prstGeom prst="rect">
            <a:avLst/>
          </a:prstGeom>
        </p:spPr>
        <p:txBody>
          <a:bodyPr anchor="t" rtlCol="false" tIns="0" lIns="0" bIns="0" rIns="0">
            <a:spAutoFit/>
          </a:bodyPr>
          <a:lstStyle/>
          <a:p>
            <a:pPr algn="ctr">
              <a:lnSpc>
                <a:spcPts val="1800"/>
              </a:lnSpc>
              <a:spcBef>
                <a:spcPct val="0"/>
              </a:spcBef>
            </a:pPr>
            <a:r>
              <a:rPr lang="en-US" sz="1500" u="sng">
                <a:solidFill>
                  <a:srgbClr val="000000"/>
                </a:solidFill>
                <a:latin typeface="Roboto"/>
                <a:ea typeface="Roboto"/>
                <a:cs typeface="Roboto"/>
                <a:sym typeface="Roboto"/>
                <a:hlinkClick r:id="rId6" tooltip="https://arxiv.org/abs/0710.3742"/>
              </a:rPr>
              <a:t>Adams, R. P., &amp; MacKay, D. J. C. (2007). Bayesian Online Changepoint Detection. arXiv preprint arXiv:0710.3742.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6451290" y="538059"/>
            <a:ext cx="5647334" cy="644490"/>
            <a:chOff x="0" y="0"/>
            <a:chExt cx="7529779" cy="859321"/>
          </a:xfrm>
        </p:grpSpPr>
        <p:grpSp>
          <p:nvGrpSpPr>
            <p:cNvPr name="Group 6" id="6"/>
            <p:cNvGrpSpPr/>
            <p:nvPr/>
          </p:nvGrpSpPr>
          <p:grpSpPr>
            <a:xfrm rot="0">
              <a:off x="3000451" y="795922"/>
              <a:ext cx="1524000" cy="63398"/>
              <a:chOff x="0" y="0"/>
              <a:chExt cx="1524000" cy="63398"/>
            </a:xfrm>
          </p:grpSpPr>
          <p:sp>
            <p:nvSpPr>
              <p:cNvPr name="Freeform 7" id="7"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8" id="8"/>
            <p:cNvGrpSpPr/>
            <p:nvPr/>
          </p:nvGrpSpPr>
          <p:grpSpPr>
            <a:xfrm rot="0">
              <a:off x="0" y="0"/>
              <a:ext cx="7529779" cy="794031"/>
              <a:chOff x="0" y="0"/>
              <a:chExt cx="7529779" cy="794031"/>
            </a:xfrm>
          </p:grpSpPr>
          <p:sp>
            <p:nvSpPr>
              <p:cNvPr name="Freeform 9" id="9"/>
              <p:cNvSpPr/>
              <p:nvPr/>
            </p:nvSpPr>
            <p:spPr>
              <a:xfrm flipH="false" flipV="false" rot="0">
                <a:off x="0" y="0"/>
                <a:ext cx="7529778" cy="794031"/>
              </a:xfrm>
              <a:custGeom>
                <a:avLst/>
                <a:gdLst/>
                <a:ahLst/>
                <a:cxnLst/>
                <a:rect r="r" b="b" t="t" l="l"/>
                <a:pathLst>
                  <a:path h="794031" w="7529778">
                    <a:moveTo>
                      <a:pt x="0" y="0"/>
                    </a:moveTo>
                    <a:lnTo>
                      <a:pt x="7529778" y="0"/>
                    </a:lnTo>
                    <a:lnTo>
                      <a:pt x="7529778" y="794031"/>
                    </a:lnTo>
                    <a:lnTo>
                      <a:pt x="0" y="794031"/>
                    </a:lnTo>
                    <a:close/>
                  </a:path>
                </a:pathLst>
              </a:custGeom>
              <a:blipFill>
                <a:blip r:embed="rId5">
                  <a:alphaModFix amt="0"/>
                </a:blip>
                <a:stretch>
                  <a:fillRect l="0" t="-142320" r="0" b="-127231"/>
                </a:stretch>
              </a:blipFill>
            </p:spPr>
          </p:sp>
          <p:sp>
            <p:nvSpPr>
              <p:cNvPr name="TextBox 10" id="10"/>
              <p:cNvSpPr txBox="true"/>
              <p:nvPr/>
            </p:nvSpPr>
            <p:spPr>
              <a:xfrm>
                <a:off x="0" y="-19050"/>
                <a:ext cx="7529779"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HAI </a:t>
                </a:r>
                <a:r>
                  <a:rPr lang="en-US" sz="3099" b="true">
                    <a:solidFill>
                      <a:srgbClr val="1A1F8E"/>
                    </a:solidFill>
                    <a:latin typeface="Roboto Bold"/>
                    <a:ea typeface="Roboto Bold"/>
                    <a:cs typeface="Roboto Bold"/>
                    <a:sym typeface="Roboto Bold"/>
                  </a:rPr>
                  <a:t>LUỒNG DỮ LIỆU CHÍNH</a:t>
                </a:r>
              </a:p>
            </p:txBody>
          </p:sp>
        </p:grpSp>
      </p:grpSp>
      <p:sp>
        <p:nvSpPr>
          <p:cNvPr name="Freeform 11" id="11"/>
          <p:cNvSpPr/>
          <p:nvPr/>
        </p:nvSpPr>
        <p:spPr>
          <a:xfrm flipH="false" flipV="false" rot="0">
            <a:off x="4929401" y="2086077"/>
            <a:ext cx="8908200" cy="1926398"/>
          </a:xfrm>
          <a:custGeom>
            <a:avLst/>
            <a:gdLst/>
            <a:ahLst/>
            <a:cxnLst/>
            <a:rect r="r" b="b" t="t" l="l"/>
            <a:pathLst>
              <a:path h="1926398" w="8908200">
                <a:moveTo>
                  <a:pt x="0" y="0"/>
                </a:moveTo>
                <a:lnTo>
                  <a:pt x="8908200" y="0"/>
                </a:lnTo>
                <a:lnTo>
                  <a:pt x="8908200" y="1926398"/>
                </a:lnTo>
                <a:lnTo>
                  <a:pt x="0" y="1926398"/>
                </a:lnTo>
                <a:lnTo>
                  <a:pt x="0" y="0"/>
                </a:lnTo>
                <a:close/>
              </a:path>
            </a:pathLst>
          </a:custGeom>
          <a:blipFill>
            <a:blip r:embed="rId6"/>
            <a:stretch>
              <a:fillRect l="0" t="0" r="0" b="0"/>
            </a:stretch>
          </a:blipFill>
        </p:spPr>
      </p:sp>
      <p:sp>
        <p:nvSpPr>
          <p:cNvPr name="Freeform 12" id="12"/>
          <p:cNvSpPr/>
          <p:nvPr/>
        </p:nvSpPr>
        <p:spPr>
          <a:xfrm flipH="false" flipV="false" rot="0">
            <a:off x="4468089" y="5340034"/>
            <a:ext cx="10189311" cy="1935969"/>
          </a:xfrm>
          <a:custGeom>
            <a:avLst/>
            <a:gdLst/>
            <a:ahLst/>
            <a:cxnLst/>
            <a:rect r="r" b="b" t="t" l="l"/>
            <a:pathLst>
              <a:path h="1935969" w="10189311">
                <a:moveTo>
                  <a:pt x="0" y="0"/>
                </a:moveTo>
                <a:lnTo>
                  <a:pt x="10189311" y="0"/>
                </a:lnTo>
                <a:lnTo>
                  <a:pt x="10189311" y="1935969"/>
                </a:lnTo>
                <a:lnTo>
                  <a:pt x="0" y="1935969"/>
                </a:lnTo>
                <a:lnTo>
                  <a:pt x="0" y="0"/>
                </a:lnTo>
                <a:close/>
              </a:path>
            </a:pathLst>
          </a:custGeom>
          <a:blipFill>
            <a:blip r:embed="rId7"/>
            <a:stretch>
              <a:fillRect l="0" t="0" r="0" b="0"/>
            </a:stretch>
          </a:blipFill>
        </p:spPr>
      </p:sp>
      <p:sp>
        <p:nvSpPr>
          <p:cNvPr name="TextBox 13" id="13"/>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4" id="14"/>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11</a:t>
            </a:r>
          </a:p>
        </p:txBody>
      </p:sp>
      <p:grpSp>
        <p:nvGrpSpPr>
          <p:cNvPr name="Group 15" id="15"/>
          <p:cNvGrpSpPr/>
          <p:nvPr/>
        </p:nvGrpSpPr>
        <p:grpSpPr>
          <a:xfrm rot="0">
            <a:off x="6451290" y="7542703"/>
            <a:ext cx="7239305" cy="498549"/>
            <a:chOff x="0" y="0"/>
            <a:chExt cx="9652406" cy="664732"/>
          </a:xfrm>
        </p:grpSpPr>
        <p:sp>
          <p:nvSpPr>
            <p:cNvPr name="Freeform 16" id="16"/>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5">
                <a:alphaModFix amt="0"/>
              </a:blip>
              <a:stretch>
                <a:fillRect l="0" t="-246621" r="0" b="-219253"/>
              </a:stretch>
            </a:blipFill>
          </p:spPr>
        </p:sp>
        <p:sp>
          <p:nvSpPr>
            <p:cNvPr name="TextBox 17" id="17"/>
            <p:cNvSpPr txBox="true"/>
            <p:nvPr/>
          </p:nvSpPr>
          <p:spPr>
            <a:xfrm>
              <a:off x="0" y="-9525"/>
              <a:ext cx="9652406" cy="674257"/>
            </a:xfrm>
            <a:prstGeom prst="rect">
              <a:avLst/>
            </a:prstGeom>
          </p:spPr>
          <p:txBody>
            <a:bodyPr anchor="ctr" rtlCol="false" tIns="0" lIns="0" bIns="0" rIns="0"/>
            <a:lstStyle/>
            <a:p>
              <a:pPr algn="l">
                <a:lnSpc>
                  <a:spcPts val="3119"/>
                </a:lnSpc>
              </a:pPr>
              <a:r>
                <a:rPr lang="en-US" sz="2599" b="true">
                  <a:solidFill>
                    <a:srgbClr val="000000"/>
                  </a:solidFill>
                  <a:latin typeface="Roboto Bold"/>
                  <a:ea typeface="Roboto Bold"/>
                  <a:cs typeface="Roboto Bold"/>
                  <a:sym typeface="Roboto Bold"/>
                </a:rPr>
                <a:t>PHÁT HIỆN BIẾN ĐỘNG VÀ DỰ ĐOÁN</a:t>
              </a:r>
            </a:p>
          </p:txBody>
        </p:sp>
      </p:grpSp>
      <p:grpSp>
        <p:nvGrpSpPr>
          <p:cNvPr name="Group 18" id="18"/>
          <p:cNvGrpSpPr/>
          <p:nvPr/>
        </p:nvGrpSpPr>
        <p:grpSpPr>
          <a:xfrm rot="0">
            <a:off x="6322151" y="4369711"/>
            <a:ext cx="7239305" cy="498549"/>
            <a:chOff x="0" y="0"/>
            <a:chExt cx="9652406" cy="664732"/>
          </a:xfrm>
        </p:grpSpPr>
        <p:sp>
          <p:nvSpPr>
            <p:cNvPr name="Freeform 19" id="19"/>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5">
                <a:alphaModFix amt="0"/>
              </a:blip>
              <a:stretch>
                <a:fillRect l="0" t="-246621" r="0" b="-219253"/>
              </a:stretch>
            </a:blipFill>
          </p:spPr>
        </p:sp>
        <p:sp>
          <p:nvSpPr>
            <p:cNvPr name="TextBox 20" id="20"/>
            <p:cNvSpPr txBox="true"/>
            <p:nvPr/>
          </p:nvSpPr>
          <p:spPr>
            <a:xfrm>
              <a:off x="0" y="-9525"/>
              <a:ext cx="9652406" cy="674257"/>
            </a:xfrm>
            <a:prstGeom prst="rect">
              <a:avLst/>
            </a:prstGeom>
          </p:spPr>
          <p:txBody>
            <a:bodyPr anchor="ctr" rtlCol="false" tIns="0" lIns="0" bIns="0" rIns="0"/>
            <a:lstStyle/>
            <a:p>
              <a:pPr algn="l">
                <a:lnSpc>
                  <a:spcPts val="3119"/>
                </a:lnSpc>
              </a:pPr>
              <a:r>
                <a:rPr lang="en-US" sz="2599" b="true">
                  <a:solidFill>
                    <a:srgbClr val="000000"/>
                  </a:solidFill>
                  <a:latin typeface="Roboto Bold"/>
                  <a:ea typeface="Roboto Bold"/>
                  <a:cs typeface="Roboto Bold"/>
                  <a:sym typeface="Roboto Bold"/>
                </a:rPr>
                <a:t>LẤY VÀ CHUẨN HÓA DỮ LIỆU LƯU TRỮ</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12</a:t>
            </a:r>
          </a:p>
        </p:txBody>
      </p:sp>
      <p:grpSp>
        <p:nvGrpSpPr>
          <p:cNvPr name="Group 7" id="7"/>
          <p:cNvGrpSpPr/>
          <p:nvPr/>
        </p:nvGrpSpPr>
        <p:grpSpPr>
          <a:xfrm rot="0">
            <a:off x="8553298" y="1305956"/>
            <a:ext cx="1143000" cy="47549"/>
            <a:chOff x="0" y="0"/>
            <a:chExt cx="1524000" cy="63398"/>
          </a:xfrm>
        </p:grpSpPr>
        <p:sp>
          <p:nvSpPr>
            <p:cNvPr name="Freeform 8" id="8"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9" id="9"/>
          <p:cNvGrpSpPr/>
          <p:nvPr/>
        </p:nvGrpSpPr>
        <p:grpSpPr>
          <a:xfrm rot="0">
            <a:off x="4693615" y="686908"/>
            <a:ext cx="8872423" cy="595523"/>
            <a:chOff x="0" y="0"/>
            <a:chExt cx="11829898" cy="794031"/>
          </a:xfrm>
        </p:grpSpPr>
        <p:sp>
          <p:nvSpPr>
            <p:cNvPr name="Freeform 10" id="10"/>
            <p:cNvSpPr/>
            <p:nvPr/>
          </p:nvSpPr>
          <p:spPr>
            <a:xfrm flipH="false" flipV="false" rot="0">
              <a:off x="0" y="0"/>
              <a:ext cx="11829897" cy="794031"/>
            </a:xfrm>
            <a:custGeom>
              <a:avLst/>
              <a:gdLst/>
              <a:ahLst/>
              <a:cxnLst/>
              <a:rect r="r" b="b" t="t" l="l"/>
              <a:pathLst>
                <a:path h="794031" w="11829897">
                  <a:moveTo>
                    <a:pt x="0" y="0"/>
                  </a:moveTo>
                  <a:lnTo>
                    <a:pt x="11829897" y="0"/>
                  </a:lnTo>
                  <a:lnTo>
                    <a:pt x="11829897" y="794031"/>
                  </a:lnTo>
                  <a:lnTo>
                    <a:pt x="0" y="794031"/>
                  </a:lnTo>
                  <a:close/>
                </a:path>
              </a:pathLst>
            </a:custGeom>
            <a:blipFill>
              <a:blip r:embed="rId5">
                <a:alphaModFix amt="0"/>
              </a:blip>
              <a:stretch>
                <a:fillRect l="0" t="-247843" r="0" b="-232753"/>
              </a:stretch>
            </a:blipFill>
          </p:spPr>
        </p:sp>
        <p:sp>
          <p:nvSpPr>
            <p:cNvPr name="TextBox 11" id="11"/>
            <p:cNvSpPr txBox="true"/>
            <p:nvPr/>
          </p:nvSpPr>
          <p:spPr>
            <a:xfrm>
              <a:off x="0" y="-19050"/>
              <a:ext cx="11829898"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SCHEMA CLICKHOUSE</a:t>
              </a:r>
            </a:p>
          </p:txBody>
        </p:sp>
      </p:grpSp>
      <p:grpSp>
        <p:nvGrpSpPr>
          <p:cNvPr name="Group 12" id="12"/>
          <p:cNvGrpSpPr/>
          <p:nvPr/>
        </p:nvGrpSpPr>
        <p:grpSpPr>
          <a:xfrm rot="0">
            <a:off x="708626" y="1641054"/>
            <a:ext cx="17240555" cy="498549"/>
            <a:chOff x="0" y="0"/>
            <a:chExt cx="22987406" cy="664731"/>
          </a:xfrm>
        </p:grpSpPr>
        <p:sp>
          <p:nvSpPr>
            <p:cNvPr name="Freeform 13" id="13"/>
            <p:cNvSpPr/>
            <p:nvPr/>
          </p:nvSpPr>
          <p:spPr>
            <a:xfrm flipH="false" flipV="false" rot="0">
              <a:off x="0" y="0"/>
              <a:ext cx="22987408" cy="664732"/>
            </a:xfrm>
            <a:custGeom>
              <a:avLst/>
              <a:gdLst/>
              <a:ahLst/>
              <a:cxnLst/>
              <a:rect r="r" b="b" t="t" l="l"/>
              <a:pathLst>
                <a:path h="664732" w="22987408">
                  <a:moveTo>
                    <a:pt x="0" y="0"/>
                  </a:moveTo>
                  <a:lnTo>
                    <a:pt x="22987408" y="0"/>
                  </a:lnTo>
                  <a:lnTo>
                    <a:pt x="22987408" y="664732"/>
                  </a:lnTo>
                  <a:lnTo>
                    <a:pt x="0" y="664732"/>
                  </a:lnTo>
                  <a:close/>
                </a:path>
              </a:pathLst>
            </a:custGeom>
            <a:blipFill>
              <a:blip r:embed="rId5">
                <a:alphaModFix amt="0"/>
              </a:blip>
              <a:stretch>
                <a:fillRect l="0" t="-606105" r="6075" b="-559661"/>
              </a:stretch>
            </a:blipFill>
          </p:spPr>
        </p:sp>
        <p:sp>
          <p:nvSpPr>
            <p:cNvPr name="TextBox 14" id="14"/>
            <p:cNvSpPr txBox="true"/>
            <p:nvPr/>
          </p:nvSpPr>
          <p:spPr>
            <a:xfrm>
              <a:off x="0" y="-9525"/>
              <a:ext cx="22987406" cy="674256"/>
            </a:xfrm>
            <a:prstGeom prst="rect">
              <a:avLst/>
            </a:prstGeom>
          </p:spPr>
          <p:txBody>
            <a:bodyPr anchor="ctr" rtlCol="false" tIns="0" lIns="0" bIns="0" rIns="0"/>
            <a:lstStyle/>
            <a:p>
              <a:pPr algn="ctr">
                <a:lnSpc>
                  <a:spcPts val="3119"/>
                </a:lnSpc>
              </a:pPr>
              <a:r>
                <a:rPr lang="en-US" sz="2599">
                  <a:solidFill>
                    <a:srgbClr val="000000"/>
                  </a:solidFill>
                  <a:latin typeface="Roboto"/>
                  <a:ea typeface="Roboto"/>
                  <a:cs typeface="Roboto"/>
                  <a:sym typeface="Roboto"/>
                </a:rPr>
                <a:t>ClickHouse đóng vài trò Data Warehouse trung tâm lưu lịch sử giá, OHLCV, changepoint events pipeline Whale ML.</a:t>
              </a:r>
            </a:p>
          </p:txBody>
        </p:sp>
      </p:grpSp>
      <p:graphicFrame>
        <p:nvGraphicFramePr>
          <p:cNvPr name="Table 15" id="15"/>
          <p:cNvGraphicFramePr>
            <a:graphicFrameLocks noGrp="true"/>
          </p:cNvGraphicFramePr>
          <p:nvPr/>
        </p:nvGraphicFramePr>
        <p:xfrm>
          <a:off x="922621" y="2291600"/>
          <a:ext cx="16686789" cy="6470728"/>
        </p:xfrm>
        <a:graphic>
          <a:graphicData uri="http://schemas.openxmlformats.org/drawingml/2006/table">
            <a:tbl>
              <a:tblPr/>
              <a:tblGrid>
                <a:gridCol w="3637545"/>
                <a:gridCol w="7012149"/>
                <a:gridCol w="6037095"/>
              </a:tblGrid>
              <a:tr h="638645">
                <a:tc>
                  <a:txBody>
                    <a:bodyPr anchor="t" rtlCol="false"/>
                    <a:lstStyle/>
                    <a:p>
                      <a:pPr algn="l">
                        <a:lnSpc>
                          <a:spcPts val="2039"/>
                        </a:lnSpc>
                        <a:defRPr/>
                      </a:pPr>
                      <a:r>
                        <a:rPr lang="en-US" b="true" sz="1699">
                          <a:solidFill>
                            <a:srgbClr val="FFFFFF"/>
                          </a:solidFill>
                          <a:latin typeface="Roboto Bold"/>
                          <a:ea typeface="Roboto Bold"/>
                          <a:cs typeface="Roboto Bold"/>
                          <a:sym typeface="Roboto Bold"/>
                        </a:rPr>
                        <a:t>TABLE / VIEW</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c>
                  <a:txBody>
                    <a:bodyPr anchor="t" rtlCol="false"/>
                    <a:lstStyle/>
                    <a:p>
                      <a:pPr algn="l">
                        <a:lnSpc>
                          <a:spcPts val="2039"/>
                        </a:lnSpc>
                        <a:defRPr/>
                      </a:pPr>
                      <a:r>
                        <a:rPr lang="en-US" b="true" sz="1699">
                          <a:solidFill>
                            <a:srgbClr val="FFFFFF"/>
                          </a:solidFill>
                          <a:latin typeface="Roboto Bold"/>
                          <a:ea typeface="Roboto Bold"/>
                          <a:cs typeface="Roboto Bold"/>
                          <a:sym typeface="Roboto Bold"/>
                        </a:rPr>
                        <a:t>MÔ TẢ</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c>
                  <a:txBody>
                    <a:bodyPr anchor="t" rtlCol="false"/>
                    <a:lstStyle/>
                    <a:p>
                      <a:pPr algn="l">
                        <a:lnSpc>
                          <a:spcPts val="2039"/>
                        </a:lnSpc>
                        <a:defRPr/>
                      </a:pPr>
                      <a:r>
                        <a:rPr lang="en-US" b="true" sz="1699">
                          <a:solidFill>
                            <a:srgbClr val="FFFFFF"/>
                          </a:solidFill>
                          <a:latin typeface="Roboto Bold"/>
                          <a:ea typeface="Roboto Bold"/>
                          <a:cs typeface="Roboto Bold"/>
                          <a:sym typeface="Roboto Bold"/>
                        </a:rPr>
                        <a:t>ENGINE / TYPE</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r>
              <a:tr h="638645">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stock_ticks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Bảng raw ticks giá realtime — mỗi event giá từ WebSocket</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MergeTree, TTL 2 năm</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r>
              <a:tr h="866910">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mv_ohlcv_1m → stock_ohlcv_1m</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Materialized View OHLCV 1 phút (open / high / low / close / volume)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AggregatingMergeTree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r>
              <a:tr h="866910">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mv_ohlcv_5m → stock_ohlcv_5m</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Materialized View OHLCV 5 phút</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AggregatingMergeTree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r>
              <a:tr h="866910">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mv_ohlcv_1h → stock_ohlcv_1h</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Materialized View OHLCV 1 giờ</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AggregatingMergeTree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r>
              <a:tr h="648177">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v_ohlcv_3h, v_ohlcv_6h</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Views OHLCV 3h / 6h derived từ 1h</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View (compute-on-read)</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r>
              <a:tr h="648177">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stock_changepoint_events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Event stream BOCPD — source-of-truth cho train / backtest</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MergeTree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r>
              <a:tr h="648177">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v_changepoint_latest</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Snapshot BOCPD mới nhất theo từng mã</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c>
                  <a:txBody>
                    <a:bodyPr anchor="t" rtlCol="false"/>
                    <a:lstStyle/>
                    <a:p>
                      <a:pPr algn="l">
                        <a:lnSpc>
                          <a:spcPts val="2039"/>
                        </a:lnSpc>
                        <a:defRPr/>
                      </a:pPr>
                      <a:r>
                        <a:rPr lang="en-US" sz="1699">
                          <a:solidFill>
                            <a:srgbClr val="000000"/>
                          </a:solidFill>
                          <a:latin typeface="Roboto"/>
                          <a:ea typeface="Roboto"/>
                          <a:cs typeface="Roboto"/>
                          <a:sym typeface="Roboto"/>
                        </a:rPr>
                        <a:t>View</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tcPr>
                </a:tc>
              </a:tr>
              <a:tr h="648177">
                <a:tc>
                  <a:txBody>
                    <a:bodyPr anchor="t" rtlCol="false"/>
                    <a:lstStyle/>
                    <a:p>
                      <a:pPr algn="l">
                        <a:lnSpc>
                          <a:spcPts val="2039"/>
                        </a:lnSpc>
                        <a:defRPr/>
                      </a:pPr>
                      <a:r>
                        <a:rPr lang="en-US" sz="1699" b="true">
                          <a:solidFill>
                            <a:srgbClr val="1A1F8E"/>
                          </a:solidFill>
                          <a:latin typeface="Roboto Bold"/>
                          <a:ea typeface="Roboto Bold"/>
                          <a:cs typeface="Roboto Bold"/>
                          <a:sym typeface="Roboto Bold"/>
                        </a:rPr>
                        <a:t>v_ohlcv_daily</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Daily close — phục vụ gắn nhãn (label) cho Whale ML</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c>
                  <a:txBody>
                    <a:bodyPr anchor="t" rtlCol="false"/>
                    <a:lstStyle/>
                    <a:p>
                      <a:pPr algn="l">
                        <a:lnSpc>
                          <a:spcPts val="2039"/>
                        </a:lnSpc>
                        <a:defRPr/>
                      </a:pPr>
                      <a:r>
                        <a:rPr lang="en-US" sz="1699">
                          <a:solidFill>
                            <a:srgbClr val="000000"/>
                          </a:solidFill>
                          <a:latin typeface="Roboto"/>
                          <a:ea typeface="Roboto"/>
                          <a:cs typeface="Roboto"/>
                          <a:sym typeface="Roboto"/>
                        </a:rPr>
                        <a:t>View</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8F9FE"/>
                    </a:solidFill>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238640" y="1338682"/>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5000396" y="671170"/>
            <a:ext cx="9620402" cy="632408"/>
            <a:chOff x="0" y="0"/>
            <a:chExt cx="12827203" cy="843211"/>
          </a:xfrm>
        </p:grpSpPr>
        <p:sp>
          <p:nvSpPr>
            <p:cNvPr name="Freeform 8" id="8"/>
            <p:cNvSpPr/>
            <p:nvPr/>
          </p:nvSpPr>
          <p:spPr>
            <a:xfrm flipH="false" flipV="false" rot="0">
              <a:off x="0" y="0"/>
              <a:ext cx="12827202" cy="843211"/>
            </a:xfrm>
            <a:custGeom>
              <a:avLst/>
              <a:gdLst/>
              <a:ahLst/>
              <a:cxnLst/>
              <a:rect r="r" b="b" t="t" l="l"/>
              <a:pathLst>
                <a:path h="843211" w="12827202">
                  <a:moveTo>
                    <a:pt x="0" y="0"/>
                  </a:moveTo>
                  <a:lnTo>
                    <a:pt x="12827202" y="0"/>
                  </a:lnTo>
                  <a:lnTo>
                    <a:pt x="12827202" y="843211"/>
                  </a:lnTo>
                  <a:lnTo>
                    <a:pt x="0" y="843211"/>
                  </a:lnTo>
                  <a:close/>
                </a:path>
              </a:pathLst>
            </a:custGeom>
            <a:blipFill>
              <a:blip r:embed="rId5">
                <a:alphaModFix amt="0"/>
              </a:blip>
              <a:stretch>
                <a:fillRect l="0" t="-254192" r="0" b="-238633"/>
              </a:stretch>
            </a:blipFill>
          </p:spPr>
        </p:sp>
        <p:sp>
          <p:nvSpPr>
            <p:cNvPr name="TextBox 9" id="9"/>
            <p:cNvSpPr txBox="true"/>
            <p:nvPr/>
          </p:nvSpPr>
          <p:spPr>
            <a:xfrm>
              <a:off x="0" y="-9525"/>
              <a:ext cx="12827203"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CLICKHOUSE &amp; SCYLLADB — TẦNG LƯU TRỮ</a:t>
              </a:r>
            </a:p>
          </p:txBody>
        </p:sp>
      </p:grpSp>
      <p:sp>
        <p:nvSpPr>
          <p:cNvPr name="Freeform 10" id="10"/>
          <p:cNvSpPr/>
          <p:nvPr/>
        </p:nvSpPr>
        <p:spPr>
          <a:xfrm flipH="false" flipV="false" rot="0">
            <a:off x="193270" y="1718319"/>
            <a:ext cx="3168856" cy="950657"/>
          </a:xfrm>
          <a:custGeom>
            <a:avLst/>
            <a:gdLst/>
            <a:ahLst/>
            <a:cxnLst/>
            <a:rect r="r" b="b" t="t" l="l"/>
            <a:pathLst>
              <a:path h="950657" w="3168856">
                <a:moveTo>
                  <a:pt x="0" y="0"/>
                </a:moveTo>
                <a:lnTo>
                  <a:pt x="3168856" y="0"/>
                </a:lnTo>
                <a:lnTo>
                  <a:pt x="3168856" y="950657"/>
                </a:lnTo>
                <a:lnTo>
                  <a:pt x="0" y="950657"/>
                </a:lnTo>
                <a:lnTo>
                  <a:pt x="0" y="0"/>
                </a:lnTo>
                <a:close/>
              </a:path>
            </a:pathLst>
          </a:custGeom>
          <a:blipFill>
            <a:blip r:embed="rId6"/>
            <a:stretch>
              <a:fillRect l="0" t="0" r="0" b="0"/>
            </a:stretch>
          </a:blipFill>
        </p:spPr>
      </p:sp>
      <p:sp>
        <p:nvSpPr>
          <p:cNvPr name="Freeform 11" id="11"/>
          <p:cNvSpPr/>
          <p:nvPr/>
        </p:nvSpPr>
        <p:spPr>
          <a:xfrm flipH="false" flipV="false" rot="0">
            <a:off x="3964451" y="1718319"/>
            <a:ext cx="12834380" cy="6684963"/>
          </a:xfrm>
          <a:custGeom>
            <a:avLst/>
            <a:gdLst/>
            <a:ahLst/>
            <a:cxnLst/>
            <a:rect r="r" b="b" t="t" l="l"/>
            <a:pathLst>
              <a:path h="6684963" w="12834380">
                <a:moveTo>
                  <a:pt x="0" y="0"/>
                </a:moveTo>
                <a:lnTo>
                  <a:pt x="12834379" y="0"/>
                </a:lnTo>
                <a:lnTo>
                  <a:pt x="12834379" y="6684963"/>
                </a:lnTo>
                <a:lnTo>
                  <a:pt x="0" y="6684963"/>
                </a:lnTo>
                <a:lnTo>
                  <a:pt x="0" y="0"/>
                </a:lnTo>
                <a:close/>
              </a:path>
            </a:pathLst>
          </a:custGeom>
          <a:blipFill>
            <a:blip r:embed="rId7"/>
            <a:stretch>
              <a:fillRect l="0" t="-255" r="0" b="-1498"/>
            </a:stretch>
          </a:blipFill>
        </p:spPr>
      </p:sp>
      <p:sp>
        <p:nvSpPr>
          <p:cNvPr name="TextBox 12" id="12"/>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3" id="13"/>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TextBox 5" id="5"/>
          <p:cNvSpPr txBox="true"/>
          <p:nvPr/>
        </p:nvSpPr>
        <p:spPr>
          <a:xfrm rot="0">
            <a:off x="14953999" y="9367837"/>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6" id="6"/>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14</a:t>
            </a:r>
          </a:p>
        </p:txBody>
      </p:sp>
      <p:grpSp>
        <p:nvGrpSpPr>
          <p:cNvPr name="Group 7" id="7"/>
          <p:cNvGrpSpPr/>
          <p:nvPr/>
        </p:nvGrpSpPr>
        <p:grpSpPr>
          <a:xfrm rot="0">
            <a:off x="8553298" y="1285646"/>
            <a:ext cx="1143000" cy="47549"/>
            <a:chOff x="0" y="0"/>
            <a:chExt cx="1524000" cy="63398"/>
          </a:xfrm>
        </p:grpSpPr>
        <p:sp>
          <p:nvSpPr>
            <p:cNvPr name="Freeform 8" id="8"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9" id="9"/>
          <p:cNvGrpSpPr/>
          <p:nvPr/>
        </p:nvGrpSpPr>
        <p:grpSpPr>
          <a:xfrm rot="0">
            <a:off x="4640114" y="544191"/>
            <a:ext cx="9368028" cy="595523"/>
            <a:chOff x="0" y="0"/>
            <a:chExt cx="12490704" cy="794031"/>
          </a:xfrm>
        </p:grpSpPr>
        <p:sp>
          <p:nvSpPr>
            <p:cNvPr name="Freeform 10" id="10"/>
            <p:cNvSpPr/>
            <p:nvPr/>
          </p:nvSpPr>
          <p:spPr>
            <a:xfrm flipH="false" flipV="false" rot="0">
              <a:off x="0" y="0"/>
              <a:ext cx="12490704" cy="794031"/>
            </a:xfrm>
            <a:custGeom>
              <a:avLst/>
              <a:gdLst/>
              <a:ahLst/>
              <a:cxnLst/>
              <a:rect r="r" b="b" t="t" l="l"/>
              <a:pathLst>
                <a:path h="794031" w="12490704">
                  <a:moveTo>
                    <a:pt x="0" y="0"/>
                  </a:moveTo>
                  <a:lnTo>
                    <a:pt x="12490704" y="0"/>
                  </a:lnTo>
                  <a:lnTo>
                    <a:pt x="12490704" y="794031"/>
                  </a:lnTo>
                  <a:lnTo>
                    <a:pt x="0" y="794031"/>
                  </a:lnTo>
                  <a:close/>
                </a:path>
              </a:pathLst>
            </a:custGeom>
            <a:blipFill>
              <a:blip r:embed="rId5">
                <a:alphaModFix amt="0"/>
              </a:blip>
              <a:stretch>
                <a:fillRect l="0" t="-264058" r="0" b="-248969"/>
              </a:stretch>
            </a:blipFill>
          </p:spPr>
        </p:sp>
        <p:sp>
          <p:nvSpPr>
            <p:cNvPr name="TextBox 11" id="11"/>
            <p:cNvSpPr txBox="true"/>
            <p:nvPr/>
          </p:nvSpPr>
          <p:spPr>
            <a:xfrm>
              <a:off x="0" y="-19050"/>
              <a:ext cx="12490704"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SCHEMA SCYLLADB</a:t>
              </a:r>
            </a:p>
          </p:txBody>
        </p:sp>
      </p:grpSp>
      <p:grpSp>
        <p:nvGrpSpPr>
          <p:cNvPr name="Group 12" id="12"/>
          <p:cNvGrpSpPr/>
          <p:nvPr/>
        </p:nvGrpSpPr>
        <p:grpSpPr>
          <a:xfrm rot="0">
            <a:off x="708626" y="2018439"/>
            <a:ext cx="14675491" cy="461664"/>
            <a:chOff x="0" y="0"/>
            <a:chExt cx="19567321" cy="615552"/>
          </a:xfrm>
        </p:grpSpPr>
        <p:sp>
          <p:nvSpPr>
            <p:cNvPr name="Freeform 13" id="13"/>
            <p:cNvSpPr/>
            <p:nvPr/>
          </p:nvSpPr>
          <p:spPr>
            <a:xfrm flipH="false" flipV="false" rot="0">
              <a:off x="0" y="0"/>
              <a:ext cx="19567322" cy="615553"/>
            </a:xfrm>
            <a:custGeom>
              <a:avLst/>
              <a:gdLst/>
              <a:ahLst/>
              <a:cxnLst/>
              <a:rect r="r" b="b" t="t" l="l"/>
              <a:pathLst>
                <a:path h="615553" w="19567322">
                  <a:moveTo>
                    <a:pt x="0" y="0"/>
                  </a:moveTo>
                  <a:lnTo>
                    <a:pt x="19567322" y="0"/>
                  </a:lnTo>
                  <a:lnTo>
                    <a:pt x="19567322" y="615553"/>
                  </a:lnTo>
                  <a:lnTo>
                    <a:pt x="0" y="615553"/>
                  </a:lnTo>
                  <a:close/>
                </a:path>
              </a:pathLst>
            </a:custGeom>
            <a:blipFill>
              <a:blip r:embed="rId5">
                <a:alphaModFix amt="0"/>
              </a:blip>
              <a:stretch>
                <a:fillRect l="0" t="-654529" r="-10341" b="-612365"/>
              </a:stretch>
            </a:blipFill>
          </p:spPr>
        </p:sp>
        <p:sp>
          <p:nvSpPr>
            <p:cNvPr name="TextBox 14" id="14"/>
            <p:cNvSpPr txBox="true"/>
            <p:nvPr/>
          </p:nvSpPr>
          <p:spPr>
            <a:xfrm>
              <a:off x="0" y="-9525"/>
              <a:ext cx="19567321" cy="625077"/>
            </a:xfrm>
            <a:prstGeom prst="rect">
              <a:avLst/>
            </a:prstGeom>
          </p:spPr>
          <p:txBody>
            <a:bodyPr anchor="ctr" rtlCol="false" tIns="0" lIns="0" bIns="0" rIns="0"/>
            <a:lstStyle/>
            <a:p>
              <a:pPr algn="ctr">
                <a:lnSpc>
                  <a:spcPts val="2879"/>
                </a:lnSpc>
              </a:pPr>
              <a:r>
                <a:rPr lang="en-US" sz="2399">
                  <a:solidFill>
                    <a:srgbClr val="000000"/>
                  </a:solidFill>
                  <a:latin typeface="Roboto"/>
                  <a:ea typeface="Roboto"/>
                  <a:cs typeface="Roboto"/>
                  <a:sym typeface="Roboto"/>
                </a:rPr>
                <a:t>ScyllaDB lưu hot data phục vụ truy vấn nhanh, cluster 3 node, Replica 3 node, Change Data Capture bảng giá </a:t>
              </a:r>
            </a:p>
          </p:txBody>
        </p:sp>
      </p:grpSp>
      <p:graphicFrame>
        <p:nvGraphicFramePr>
          <p:cNvPr name="Table 15" id="15"/>
          <p:cNvGraphicFramePr>
            <a:graphicFrameLocks noGrp="true"/>
          </p:cNvGraphicFramePr>
          <p:nvPr/>
        </p:nvGraphicFramePr>
        <p:xfrm>
          <a:off x="762000" y="2730945"/>
          <a:ext cx="16764000" cy="5757862"/>
        </p:xfrm>
        <a:graphic>
          <a:graphicData uri="http://schemas.openxmlformats.org/drawingml/2006/table">
            <a:tbl>
              <a:tblPr/>
              <a:tblGrid>
                <a:gridCol w="3924462"/>
                <a:gridCol w="8915076"/>
                <a:gridCol w="3924462"/>
              </a:tblGrid>
              <a:tr h="676835">
                <a:tc>
                  <a:txBody>
                    <a:bodyPr anchor="t" rtlCol="false"/>
                    <a:lstStyle/>
                    <a:p>
                      <a:pPr algn="l">
                        <a:lnSpc>
                          <a:spcPts val="2279"/>
                        </a:lnSpc>
                        <a:defRPr/>
                      </a:pPr>
                      <a:r>
                        <a:rPr lang="en-US" sz="1899" b="true">
                          <a:solidFill>
                            <a:srgbClr val="FFFFFF"/>
                          </a:solidFill>
                          <a:latin typeface="Roboto Bold"/>
                          <a:ea typeface="Roboto Bold"/>
                          <a:cs typeface="Roboto Bold"/>
                          <a:sym typeface="Roboto Bold"/>
                        </a:rPr>
                        <a:t>TABLE</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c>
                  <a:txBody>
                    <a:bodyPr anchor="t" rtlCol="false"/>
                    <a:lstStyle/>
                    <a:p>
                      <a:pPr algn="l">
                        <a:lnSpc>
                          <a:spcPts val="2279"/>
                        </a:lnSpc>
                        <a:defRPr/>
                      </a:pPr>
                      <a:r>
                        <a:rPr lang="en-US" b="true" sz="1899">
                          <a:solidFill>
                            <a:srgbClr val="FFFFFF"/>
                          </a:solidFill>
                          <a:latin typeface="Roboto Bold"/>
                          <a:ea typeface="Roboto Bold"/>
                          <a:cs typeface="Roboto Bold"/>
                          <a:sym typeface="Roboto Bold"/>
                        </a:rPr>
                        <a:t>MÔ TẢ</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c>
                  <a:txBody>
                    <a:bodyPr anchor="t" rtlCol="false"/>
                    <a:lstStyle/>
                    <a:p>
                      <a:pPr algn="l">
                        <a:lnSpc>
                          <a:spcPts val="2279"/>
                        </a:lnSpc>
                        <a:defRPr/>
                      </a:pPr>
                      <a:r>
                        <a:rPr lang="en-US" b="true" sz="1899">
                          <a:solidFill>
                            <a:srgbClr val="FFFFFF"/>
                          </a:solidFill>
                          <a:latin typeface="Roboto Bold"/>
                          <a:ea typeface="Roboto Bold"/>
                          <a:cs typeface="Roboto Bold"/>
                          <a:sym typeface="Roboto Bold"/>
                        </a:rPr>
                        <a:t>FEATURES</a:t>
                      </a:r>
                      <a:endParaRPr lang="en-US" sz="1100"/>
                    </a:p>
                  </a:txBody>
                  <a:tcPr marL="152705" marR="152705" marT="152705" marB="152705" anchor="ctr">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0">
                      <a:solidFill>
                        <a:srgbClr val="E6E9F4"/>
                      </a:solidFill>
                      <a:prstDash val="solid"/>
                      <a:round/>
                      <a:headEnd type="none" w="med" len="med"/>
                      <a:tailEnd type="none" w="med" len="med"/>
                    </a:lnB>
                    <a:solidFill>
                      <a:srgbClr val="1A1F8E"/>
                    </a:solidFill>
                  </a:tcPr>
                </a:tc>
              </a:tr>
              <a:tr h="676835">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stock_prices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Raw ticks từ WebSocket  replicate từ Kafka</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ts) </a:t>
                      </a:r>
                      <a:r>
                        <a:rPr lang="en-US" sz="1899" b="true">
                          <a:solidFill>
                            <a:srgbClr val="000000"/>
                          </a:solidFill>
                          <a:latin typeface="Roboto Bold"/>
                          <a:ea typeface="Roboto Bold"/>
                          <a:cs typeface="Roboto Bold"/>
                          <a:sym typeface="Roboto Bold"/>
                        </a:rPr>
                        <a:t>CDC enabled</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686368">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stock_prices_agg</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OHLCV đã aggregate (1m / 5m / 1h / 3h / 6h)</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interval, bucket_ts)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686368">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stock_daily_summary</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Tóm tắt ngày giao dịch: OHLCV + VWAP + volume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trade_date)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686368">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stock_latest_prices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Giá mới nhất theo mã (upsert) — phục vụ realtime push</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a:t>
                      </a:r>
                      <a:r>
                        <a:rPr lang="en-US" sz="1899" b="true">
                          <a:solidFill>
                            <a:srgbClr val="000000"/>
                          </a:solidFill>
                          <a:latin typeface="Roboto Bold"/>
                          <a:ea typeface="Roboto Bold"/>
                          <a:cs typeface="Roboto Bold"/>
                          <a:sym typeface="Roboto Bold"/>
                        </a:rPr>
                        <a:t>CDC enabled</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972354">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stock_news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Tin tức + sentiment_score + sentiment_label</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news_id) + GSI theo time</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686368">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stock_changepoint_latest</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Snapshot BOCPD mới nhất theo mã</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r h="686368">
                <a:tc>
                  <a:txBody>
                    <a:bodyPr anchor="t" rtlCol="false"/>
                    <a:lstStyle/>
                    <a:p>
                      <a:pPr algn="l">
                        <a:lnSpc>
                          <a:spcPts val="2279"/>
                        </a:lnSpc>
                        <a:defRPr/>
                      </a:pPr>
                      <a:r>
                        <a:rPr lang="en-US" b="true" sz="1899">
                          <a:solidFill>
                            <a:srgbClr val="000000"/>
                          </a:solidFill>
                          <a:latin typeface="Roboto Bold"/>
                          <a:ea typeface="Roboto Bold"/>
                          <a:cs typeface="Roboto Bold"/>
                          <a:sym typeface="Roboto Bold"/>
                        </a:rPr>
                        <a:t>stock_changepoint_history</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Lịch sử r_t và cp_prob theo mã + thời điểm</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c>
                  <a:txBody>
                    <a:bodyPr anchor="t" rtlCol="false"/>
                    <a:lstStyle/>
                    <a:p>
                      <a:pPr algn="l">
                        <a:lnSpc>
                          <a:spcPts val="2279"/>
                        </a:lnSpc>
                        <a:defRPr/>
                      </a:pPr>
                      <a:r>
                        <a:rPr lang="en-US" sz="1899">
                          <a:solidFill>
                            <a:srgbClr val="000000"/>
                          </a:solidFill>
                          <a:latin typeface="Roboto"/>
                          <a:ea typeface="Roboto"/>
                          <a:cs typeface="Roboto"/>
                          <a:sym typeface="Roboto"/>
                        </a:rPr>
                        <a:t>(symbol, event_ts)</a:t>
                      </a:r>
                      <a:endParaRPr lang="en-US" sz="1100"/>
                    </a:p>
                  </a:txBody>
                  <a:tcPr marL="152705" marR="152705" marT="152705" marB="152705" anchor="t">
                    <a:lnL cmpd="sng" algn="ctr" cap="flat" w="0">
                      <a:solidFill>
                        <a:srgbClr val="E6E9F4"/>
                      </a:solidFill>
                      <a:prstDash val="solid"/>
                      <a:round/>
                      <a:headEnd type="none" w="med" len="med"/>
                      <a:tailEnd type="none" w="med" len="med"/>
                    </a:lnL>
                    <a:lnR cmpd="sng" algn="ctr" cap="flat" w="0">
                      <a:solidFill>
                        <a:srgbClr val="E6E9F4"/>
                      </a:solidFill>
                      <a:prstDash val="solid"/>
                      <a:round/>
                      <a:headEnd type="none" w="med" len="med"/>
                      <a:tailEnd type="none" w="med" len="med"/>
                    </a:lnR>
                    <a:lnT cmpd="sng" algn="ctr" cap="flat" w="0">
                      <a:solidFill>
                        <a:srgbClr val="E6E9F4"/>
                      </a:solidFill>
                      <a:prstDash val="solid"/>
                      <a:round/>
                      <a:headEnd type="none" w="med" len="med"/>
                      <a:tailEnd type="none" w="med" len="med"/>
                    </a:lnT>
                    <a:lnB cmpd="sng" algn="ctr" cap="flat" w="9525">
                      <a:solidFill>
                        <a:srgbClr val="E6E9F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8553298" y="1285646"/>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1274040" y="4248764"/>
            <a:ext cx="16193110" cy="498549"/>
            <a:chOff x="0" y="0"/>
            <a:chExt cx="21590813" cy="664731"/>
          </a:xfrm>
        </p:grpSpPr>
        <p:sp>
          <p:nvSpPr>
            <p:cNvPr name="Freeform 8" id="8"/>
            <p:cNvSpPr/>
            <p:nvPr/>
          </p:nvSpPr>
          <p:spPr>
            <a:xfrm flipH="false" flipV="false" rot="0">
              <a:off x="0" y="0"/>
              <a:ext cx="21590814" cy="664731"/>
            </a:xfrm>
            <a:custGeom>
              <a:avLst/>
              <a:gdLst/>
              <a:ahLst/>
              <a:cxnLst/>
              <a:rect r="r" b="b" t="t" l="l"/>
              <a:pathLst>
                <a:path h="664731" w="21590814">
                  <a:moveTo>
                    <a:pt x="0" y="0"/>
                  </a:moveTo>
                  <a:lnTo>
                    <a:pt x="21590814" y="0"/>
                  </a:lnTo>
                  <a:lnTo>
                    <a:pt x="21590814" y="664731"/>
                  </a:lnTo>
                  <a:lnTo>
                    <a:pt x="0" y="664731"/>
                  </a:lnTo>
                  <a:close/>
                </a:path>
              </a:pathLst>
            </a:custGeom>
            <a:blipFill>
              <a:blip r:embed="rId5">
                <a:alphaModFix amt="0"/>
              </a:blip>
              <a:stretch>
                <a:fillRect l="0" t="-604180" r="0" b="-561588"/>
              </a:stretch>
            </a:blipFill>
          </p:spPr>
        </p:sp>
        <p:sp>
          <p:nvSpPr>
            <p:cNvPr name="TextBox 9" id="9"/>
            <p:cNvSpPr txBox="true"/>
            <p:nvPr/>
          </p:nvSpPr>
          <p:spPr>
            <a:xfrm>
              <a:off x="0" y="-9525"/>
              <a:ext cx="21590813" cy="674256"/>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AVRO SCHEMA giá cổ phiếu</a:t>
              </a:r>
            </a:p>
          </p:txBody>
        </p:sp>
      </p:grpSp>
      <p:grpSp>
        <p:nvGrpSpPr>
          <p:cNvPr name="Group 10" id="10"/>
          <p:cNvGrpSpPr/>
          <p:nvPr/>
        </p:nvGrpSpPr>
        <p:grpSpPr>
          <a:xfrm rot="0">
            <a:off x="1089098" y="6413649"/>
            <a:ext cx="16204892" cy="575053"/>
            <a:chOff x="0" y="0"/>
            <a:chExt cx="21606523" cy="766737"/>
          </a:xfrm>
        </p:grpSpPr>
        <p:sp>
          <p:nvSpPr>
            <p:cNvPr name="Freeform 11" id="11"/>
            <p:cNvSpPr/>
            <p:nvPr/>
          </p:nvSpPr>
          <p:spPr>
            <a:xfrm flipH="false" flipV="false" rot="0">
              <a:off x="8509" y="8509"/>
              <a:ext cx="21589492" cy="749808"/>
            </a:xfrm>
            <a:custGeom>
              <a:avLst/>
              <a:gdLst/>
              <a:ahLst/>
              <a:cxnLst/>
              <a:rect r="r" b="b" t="t" l="l"/>
              <a:pathLst>
                <a:path h="749808" w="21589492">
                  <a:moveTo>
                    <a:pt x="0" y="374904"/>
                  </a:moveTo>
                  <a:cubicBezTo>
                    <a:pt x="0" y="167767"/>
                    <a:pt x="171450" y="0"/>
                    <a:pt x="383032" y="0"/>
                  </a:cubicBezTo>
                  <a:lnTo>
                    <a:pt x="21206460" y="0"/>
                  </a:lnTo>
                  <a:cubicBezTo>
                    <a:pt x="21418042" y="0"/>
                    <a:pt x="21589492" y="167894"/>
                    <a:pt x="21589492" y="374904"/>
                  </a:cubicBezTo>
                  <a:cubicBezTo>
                    <a:pt x="21589492" y="581914"/>
                    <a:pt x="21418042" y="749808"/>
                    <a:pt x="21206460" y="749808"/>
                  </a:cubicBezTo>
                  <a:lnTo>
                    <a:pt x="383032" y="749808"/>
                  </a:lnTo>
                  <a:cubicBezTo>
                    <a:pt x="171450" y="749808"/>
                    <a:pt x="0" y="581914"/>
                    <a:pt x="0" y="374904"/>
                  </a:cubicBezTo>
                  <a:close/>
                </a:path>
              </a:pathLst>
            </a:custGeom>
            <a:solidFill>
              <a:srgbClr val="FFFFFF">
                <a:alpha val="0"/>
              </a:srgbClr>
            </a:solidFill>
          </p:spPr>
        </p:sp>
      </p:grpSp>
      <p:sp>
        <p:nvSpPr>
          <p:cNvPr name="Freeform 12" id="12"/>
          <p:cNvSpPr/>
          <p:nvPr/>
        </p:nvSpPr>
        <p:spPr>
          <a:xfrm flipH="false" flipV="false" rot="0">
            <a:off x="11926090" y="15955"/>
            <a:ext cx="5683320" cy="1896808"/>
          </a:xfrm>
          <a:custGeom>
            <a:avLst/>
            <a:gdLst/>
            <a:ahLst/>
            <a:cxnLst/>
            <a:rect r="r" b="b" t="t" l="l"/>
            <a:pathLst>
              <a:path h="1896808" w="5683320">
                <a:moveTo>
                  <a:pt x="0" y="0"/>
                </a:moveTo>
                <a:lnTo>
                  <a:pt x="5683320" y="0"/>
                </a:lnTo>
                <a:lnTo>
                  <a:pt x="5683320" y="1896808"/>
                </a:lnTo>
                <a:lnTo>
                  <a:pt x="0" y="1896808"/>
                </a:lnTo>
                <a:lnTo>
                  <a:pt x="0" y="0"/>
                </a:lnTo>
                <a:close/>
              </a:path>
            </a:pathLst>
          </a:custGeom>
          <a:blipFill>
            <a:blip r:embed="rId6"/>
            <a:stretch>
              <a:fillRect l="0" t="0" r="0" b="0"/>
            </a:stretch>
          </a:blipFill>
        </p:spPr>
      </p:sp>
      <p:grpSp>
        <p:nvGrpSpPr>
          <p:cNvPr name="Group 13" id="13"/>
          <p:cNvGrpSpPr/>
          <p:nvPr/>
        </p:nvGrpSpPr>
        <p:grpSpPr>
          <a:xfrm rot="0">
            <a:off x="4777740" y="666598"/>
            <a:ext cx="8696858" cy="595523"/>
            <a:chOff x="0" y="0"/>
            <a:chExt cx="11595811" cy="794031"/>
          </a:xfrm>
        </p:grpSpPr>
        <p:sp>
          <p:nvSpPr>
            <p:cNvPr name="Freeform 14" id="14"/>
            <p:cNvSpPr/>
            <p:nvPr/>
          </p:nvSpPr>
          <p:spPr>
            <a:xfrm flipH="false" flipV="false" rot="0">
              <a:off x="0" y="0"/>
              <a:ext cx="11595811" cy="794031"/>
            </a:xfrm>
            <a:custGeom>
              <a:avLst/>
              <a:gdLst/>
              <a:ahLst/>
              <a:cxnLst/>
              <a:rect r="r" b="b" t="t" l="l"/>
              <a:pathLst>
                <a:path h="794031" w="11595811">
                  <a:moveTo>
                    <a:pt x="0" y="0"/>
                  </a:moveTo>
                  <a:lnTo>
                    <a:pt x="11595811" y="0"/>
                  </a:lnTo>
                  <a:lnTo>
                    <a:pt x="11595811" y="794031"/>
                  </a:lnTo>
                  <a:lnTo>
                    <a:pt x="0" y="794031"/>
                  </a:lnTo>
                  <a:close/>
                </a:path>
              </a:pathLst>
            </a:custGeom>
            <a:blipFill>
              <a:blip r:embed="rId5">
                <a:alphaModFix amt="0"/>
              </a:blip>
              <a:stretch>
                <a:fillRect l="0" t="-242098" r="0" b="-227009"/>
              </a:stretch>
            </a:blipFill>
          </p:spPr>
        </p:sp>
        <p:sp>
          <p:nvSpPr>
            <p:cNvPr name="TextBox 15" id="15"/>
            <p:cNvSpPr txBox="true"/>
            <p:nvPr/>
          </p:nvSpPr>
          <p:spPr>
            <a:xfrm>
              <a:off x="0" y="-19050"/>
              <a:ext cx="11595811" cy="813081"/>
            </a:xfrm>
            <a:prstGeom prst="rect">
              <a:avLst/>
            </a:prstGeom>
          </p:spPr>
          <p:txBody>
            <a:bodyPr anchor="ctr" rtlCol="false" tIns="0" lIns="0" bIns="0" rIns="0"/>
            <a:lstStyle/>
            <a:p>
              <a:pPr algn="ctr">
                <a:lnSpc>
                  <a:spcPts val="3719"/>
                </a:lnSpc>
              </a:pPr>
              <a:r>
                <a:rPr lang="en-US" b="true" sz="3099">
                  <a:solidFill>
                    <a:srgbClr val="000000"/>
                  </a:solidFill>
                  <a:latin typeface="Roboto Bold"/>
                  <a:ea typeface="Roboto Bold"/>
                  <a:cs typeface="Roboto Bold"/>
                  <a:sym typeface="Roboto Bold"/>
                </a:rPr>
                <a:t>THIẾT KẾ KAFKA TOPICS &amp; AVRO SCHEMA</a:t>
              </a:r>
            </a:p>
          </p:txBody>
        </p:sp>
      </p:grpSp>
      <p:sp>
        <p:nvSpPr>
          <p:cNvPr name="TextBox 16" id="16"/>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7" id="17"/>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15</a:t>
            </a:r>
          </a:p>
        </p:txBody>
      </p:sp>
      <p:sp>
        <p:nvSpPr>
          <p:cNvPr name="TextBox 18" id="18"/>
          <p:cNvSpPr txBox="true"/>
          <p:nvPr/>
        </p:nvSpPr>
        <p:spPr>
          <a:xfrm rot="0">
            <a:off x="1373148" y="5048250"/>
            <a:ext cx="16646300" cy="3059177"/>
          </a:xfrm>
          <a:prstGeom prst="rect">
            <a:avLst/>
          </a:prstGeom>
        </p:spPr>
        <p:txBody>
          <a:bodyPr anchor="t" rtlCol="false" tIns="0" lIns="0" bIns="0" rIns="0">
            <a:spAutoFit/>
          </a:bodyPr>
          <a:lstStyle/>
          <a:p>
            <a:pPr algn="l" marL="561334" indent="-280667" lvl="1">
              <a:lnSpc>
                <a:spcPts val="4081"/>
              </a:lnSpc>
              <a:buFont typeface="Arial"/>
              <a:buChar char="•"/>
            </a:pPr>
            <a:r>
              <a:rPr lang="en-US" sz="2599">
                <a:solidFill>
                  <a:srgbClr val="000000"/>
                </a:solidFill>
                <a:latin typeface="Roboto"/>
                <a:ea typeface="Roboto"/>
                <a:cs typeface="Roboto"/>
                <a:sym typeface="Roboto"/>
              </a:rPr>
              <a:t>Ch</a:t>
            </a:r>
            <a:r>
              <a:rPr lang="en-US" sz="2599">
                <a:solidFill>
                  <a:srgbClr val="000000"/>
                </a:solidFill>
                <a:latin typeface="Roboto"/>
                <a:ea typeface="Roboto"/>
                <a:cs typeface="Roboto"/>
                <a:sym typeface="Roboto"/>
              </a:rPr>
              <a:t>uẩn hóa cấu trúc dữ liệu giữa producer và consumer.</a:t>
            </a:r>
          </a:p>
          <a:p>
            <a:pPr algn="l" marL="561334" indent="-280667" lvl="1">
              <a:lnSpc>
                <a:spcPts val="4081"/>
              </a:lnSpc>
              <a:buFont typeface="Arial"/>
              <a:buChar char="•"/>
            </a:pPr>
            <a:r>
              <a:rPr lang="en-US" sz="2599">
                <a:solidFill>
                  <a:srgbClr val="000000"/>
                </a:solidFill>
                <a:latin typeface="Roboto"/>
                <a:ea typeface="Roboto"/>
                <a:cs typeface="Roboto"/>
                <a:sym typeface="Roboto"/>
              </a:rPr>
              <a:t>Serializer/Deserializer giúp ghi và đọc dữ liệu chính xác trên Kafka.</a:t>
            </a:r>
          </a:p>
          <a:p>
            <a:pPr algn="l" marL="561334" indent="-280667" lvl="1">
              <a:lnSpc>
                <a:spcPts val="4081"/>
              </a:lnSpc>
              <a:buFont typeface="Arial"/>
              <a:buChar char="•"/>
            </a:pPr>
            <a:r>
              <a:rPr lang="en-US" sz="2599">
                <a:solidFill>
                  <a:srgbClr val="000000"/>
                </a:solidFill>
                <a:latin typeface="Roboto"/>
                <a:ea typeface="Roboto"/>
                <a:cs typeface="Roboto"/>
                <a:sym typeface="Roboto"/>
              </a:rPr>
              <a:t>Schema Registry hỗ trợ quản lý và tương thích khi thay đổi schema.</a:t>
            </a:r>
          </a:p>
          <a:p>
            <a:pPr algn="l" marL="561334" indent="-280667" lvl="1">
              <a:lnSpc>
                <a:spcPts val="4081"/>
              </a:lnSpc>
              <a:buFont typeface="Arial"/>
              <a:buChar char="•"/>
            </a:pPr>
            <a:r>
              <a:rPr lang="en-US" sz="2599">
                <a:solidFill>
                  <a:srgbClr val="000000"/>
                </a:solidFill>
                <a:latin typeface="Roboto"/>
                <a:ea typeface="Roboto"/>
                <a:cs typeface="Roboto"/>
                <a:sym typeface="Roboto"/>
              </a:rPr>
              <a:t>Timestamp được chuẩn hóa để tính latency và lưu trữ DB.</a:t>
            </a:r>
          </a:p>
          <a:p>
            <a:pPr algn="l" marL="561334" indent="-280667" lvl="1">
              <a:lnSpc>
                <a:spcPts val="4081"/>
              </a:lnSpc>
              <a:buFont typeface="Arial"/>
              <a:buChar char="•"/>
            </a:pPr>
            <a:r>
              <a:rPr lang="en-US" sz="2599">
                <a:solidFill>
                  <a:srgbClr val="000000"/>
                </a:solidFill>
                <a:latin typeface="Roboto"/>
                <a:ea typeface="Roboto"/>
                <a:cs typeface="Roboto"/>
                <a:sym typeface="Roboto"/>
              </a:rPr>
              <a:t>Dữ liệu dễ mapping vào ClickHouse, ScyllaDB và Dashboard UI.</a:t>
            </a:r>
          </a:p>
          <a:p>
            <a:pPr algn="l" marL="561334" indent="-280667" lvl="1">
              <a:lnSpc>
                <a:spcPts val="4081"/>
              </a:lnSpc>
              <a:buFont typeface="Arial"/>
              <a:buChar char="•"/>
            </a:pPr>
            <a:r>
              <a:rPr lang="en-US" sz="2599">
                <a:solidFill>
                  <a:srgbClr val="000000"/>
                </a:solidFill>
                <a:latin typeface="Roboto"/>
                <a:ea typeface="Roboto"/>
                <a:cs typeface="Roboto"/>
                <a:sym typeface="Roboto"/>
              </a:rPr>
              <a:t>Hỗ trợ kiểm tra và loại bỏ record không hợp lệ.</a:t>
            </a:r>
          </a:p>
        </p:txBody>
      </p:sp>
      <p:sp>
        <p:nvSpPr>
          <p:cNvPr name="TextBox 19" id="19"/>
          <p:cNvSpPr txBox="true"/>
          <p:nvPr/>
        </p:nvSpPr>
        <p:spPr>
          <a:xfrm rot="0">
            <a:off x="1274040" y="2680714"/>
            <a:ext cx="14166048" cy="790575"/>
          </a:xfrm>
          <a:prstGeom prst="rect">
            <a:avLst/>
          </a:prstGeom>
        </p:spPr>
        <p:txBody>
          <a:bodyPr anchor="t" rtlCol="false" tIns="0" lIns="0" bIns="0" rIns="0">
            <a:spAutoFit/>
          </a:bodyPr>
          <a:lstStyle/>
          <a:p>
            <a:pPr algn="l">
              <a:lnSpc>
                <a:spcPts val="3120"/>
              </a:lnSpc>
              <a:spcBef>
                <a:spcPct val="0"/>
              </a:spcBef>
            </a:pPr>
            <a:r>
              <a:rPr lang="en-US" sz="2600">
                <a:solidFill>
                  <a:srgbClr val="000000"/>
                </a:solidFill>
                <a:latin typeface="Roboto"/>
                <a:ea typeface="Roboto"/>
                <a:cs typeface="Roboto"/>
                <a:sym typeface="Roboto"/>
              </a:rPr>
              <a:t>Hệ thống gồm ba nguồn dữ liệu chính: giá cổ phiếu Việt Nam, giá cổ phiếu quốc tế và dữ liệu tin tức thị trường phục vụ phân tích sentiment theo thời gian thực.</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25" b="0"/>
              </a:stretch>
            </a:blipFill>
          </p:spPr>
        </p:sp>
      </p:grpSp>
      <p:grpSp>
        <p:nvGrpSpPr>
          <p:cNvPr name="Group 4" id="4"/>
          <p:cNvGrpSpPr/>
          <p:nvPr/>
        </p:nvGrpSpPr>
        <p:grpSpPr>
          <a:xfrm rot="0">
            <a:off x="666598" y="495605"/>
            <a:ext cx="3448202" cy="981151"/>
            <a:chOff x="0" y="0"/>
            <a:chExt cx="4597603" cy="1308202"/>
          </a:xfrm>
        </p:grpSpPr>
        <p:sp>
          <p:nvSpPr>
            <p:cNvPr name="Freeform 5" id="5"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4"/>
              <a:stretch>
                <a:fillRect l="0" t="0" r="1" b="-117"/>
              </a:stretch>
            </a:blipFill>
          </p:spPr>
        </p:sp>
      </p:grpSp>
      <p:grpSp>
        <p:nvGrpSpPr>
          <p:cNvPr name="Group 6" id="6"/>
          <p:cNvGrpSpPr/>
          <p:nvPr/>
        </p:nvGrpSpPr>
        <p:grpSpPr>
          <a:xfrm rot="0">
            <a:off x="7811719" y="3238805"/>
            <a:ext cx="2667305" cy="715702"/>
            <a:chOff x="0" y="0"/>
            <a:chExt cx="3556406" cy="954269"/>
          </a:xfrm>
        </p:grpSpPr>
        <p:sp>
          <p:nvSpPr>
            <p:cNvPr name="Freeform 7" id="7"/>
            <p:cNvSpPr/>
            <p:nvPr/>
          </p:nvSpPr>
          <p:spPr>
            <a:xfrm flipH="false" flipV="false" rot="0">
              <a:off x="0" y="0"/>
              <a:ext cx="3556407" cy="954270"/>
            </a:xfrm>
            <a:custGeom>
              <a:avLst/>
              <a:gdLst/>
              <a:ahLst/>
              <a:cxnLst/>
              <a:rect r="r" b="b" t="t" l="l"/>
              <a:pathLst>
                <a:path h="954270" w="3556407">
                  <a:moveTo>
                    <a:pt x="0" y="0"/>
                  </a:moveTo>
                  <a:lnTo>
                    <a:pt x="3556407" y="0"/>
                  </a:lnTo>
                  <a:lnTo>
                    <a:pt x="3556407" y="954270"/>
                  </a:lnTo>
                  <a:lnTo>
                    <a:pt x="0" y="954270"/>
                  </a:lnTo>
                  <a:close/>
                </a:path>
              </a:pathLst>
            </a:custGeom>
            <a:blipFill>
              <a:blip r:embed="rId5">
                <a:alphaModFix amt="0"/>
              </a:blip>
              <a:stretch>
                <a:fillRect l="0" t="-30647" r="0" b="-14587"/>
              </a:stretch>
            </a:blipFill>
          </p:spPr>
        </p:sp>
        <p:sp>
          <p:nvSpPr>
            <p:cNvPr name="TextBox 8" id="8"/>
            <p:cNvSpPr txBox="true"/>
            <p:nvPr/>
          </p:nvSpPr>
          <p:spPr>
            <a:xfrm>
              <a:off x="0" y="0"/>
              <a:ext cx="3556406" cy="954269"/>
            </a:xfrm>
            <a:prstGeom prst="rect">
              <a:avLst/>
            </a:prstGeom>
          </p:spPr>
          <p:txBody>
            <a:bodyPr anchor="ctr" rtlCol="false" tIns="0" lIns="0" bIns="0" rIns="0"/>
            <a:lstStyle/>
            <a:p>
              <a:pPr algn="ctr">
                <a:lnSpc>
                  <a:spcPts val="4440"/>
                </a:lnSpc>
              </a:pPr>
              <a:r>
                <a:rPr lang="en-US" b="true" sz="3700" spc="600">
                  <a:solidFill>
                    <a:srgbClr val="F5B82E"/>
                  </a:solidFill>
                  <a:latin typeface="Roboto Bold"/>
                  <a:ea typeface="Roboto Bold"/>
                  <a:cs typeface="Roboto Bold"/>
                  <a:sym typeface="Roboto Bold"/>
                </a:rPr>
                <a:t>PHẦN 03</a:t>
              </a:r>
            </a:p>
          </p:txBody>
        </p:sp>
      </p:grpSp>
      <p:grpSp>
        <p:nvGrpSpPr>
          <p:cNvPr name="Group 9" id="9"/>
          <p:cNvGrpSpPr/>
          <p:nvPr/>
        </p:nvGrpSpPr>
        <p:grpSpPr>
          <a:xfrm rot="0">
            <a:off x="2390699" y="4469312"/>
            <a:ext cx="14457544" cy="1588467"/>
            <a:chOff x="0" y="0"/>
            <a:chExt cx="19276726" cy="2117957"/>
          </a:xfrm>
        </p:grpSpPr>
        <p:sp>
          <p:nvSpPr>
            <p:cNvPr name="Freeform 10" id="10"/>
            <p:cNvSpPr/>
            <p:nvPr/>
          </p:nvSpPr>
          <p:spPr>
            <a:xfrm flipH="false" flipV="false" rot="0">
              <a:off x="0" y="0"/>
              <a:ext cx="19276726" cy="2117956"/>
            </a:xfrm>
            <a:custGeom>
              <a:avLst/>
              <a:gdLst/>
              <a:ahLst/>
              <a:cxnLst/>
              <a:rect r="r" b="b" t="t" l="l"/>
              <a:pathLst>
                <a:path h="2117956" w="19276726">
                  <a:moveTo>
                    <a:pt x="0" y="0"/>
                  </a:moveTo>
                  <a:lnTo>
                    <a:pt x="19276726" y="0"/>
                  </a:lnTo>
                  <a:lnTo>
                    <a:pt x="19276726" y="2117956"/>
                  </a:lnTo>
                  <a:lnTo>
                    <a:pt x="0" y="2117956"/>
                  </a:lnTo>
                  <a:close/>
                </a:path>
              </a:pathLst>
            </a:custGeom>
            <a:blipFill>
              <a:blip r:embed="rId5">
                <a:alphaModFix amt="0"/>
              </a:blip>
              <a:stretch>
                <a:fillRect l="0" t="-81480" r="30554" b="-64834"/>
              </a:stretch>
            </a:blipFill>
          </p:spPr>
        </p:sp>
        <p:sp>
          <p:nvSpPr>
            <p:cNvPr name="TextBox 11" id="11"/>
            <p:cNvSpPr txBox="true"/>
            <p:nvPr/>
          </p:nvSpPr>
          <p:spPr>
            <a:xfrm>
              <a:off x="0" y="0"/>
              <a:ext cx="19276726" cy="2117957"/>
            </a:xfrm>
            <a:prstGeom prst="rect">
              <a:avLst/>
            </a:prstGeom>
          </p:spPr>
          <p:txBody>
            <a:bodyPr anchor="ctr" rtlCol="false" tIns="0" lIns="0" bIns="0" rIns="0"/>
            <a:lstStyle/>
            <a:p>
              <a:pPr algn="ctr">
                <a:lnSpc>
                  <a:spcPts val="9840"/>
                </a:lnSpc>
              </a:pPr>
              <a:r>
                <a:rPr lang="en-US" b="true" sz="8200" spc="150">
                  <a:solidFill>
                    <a:srgbClr val="FFFFFF"/>
                  </a:solidFill>
                  <a:latin typeface="Roboto Bold"/>
                  <a:ea typeface="Roboto Bold"/>
                  <a:cs typeface="Roboto Bold"/>
                  <a:sym typeface="Roboto Bold"/>
                </a:rPr>
                <a:t>CÁC CÔNG NGHỆ SỬ DỤNG</a:t>
              </a:r>
            </a:p>
          </p:txBody>
        </p:sp>
      </p:grpSp>
      <p:grpSp>
        <p:nvGrpSpPr>
          <p:cNvPr name="Group 12" id="12"/>
          <p:cNvGrpSpPr/>
          <p:nvPr/>
        </p:nvGrpSpPr>
        <p:grpSpPr>
          <a:xfrm rot="0">
            <a:off x="486461" y="9620402"/>
            <a:ext cx="171907" cy="424780"/>
            <a:chOff x="0" y="0"/>
            <a:chExt cx="229210" cy="566374"/>
          </a:xfrm>
        </p:grpSpPr>
        <p:sp>
          <p:nvSpPr>
            <p:cNvPr name="Freeform 13" id="13"/>
            <p:cNvSpPr/>
            <p:nvPr/>
          </p:nvSpPr>
          <p:spPr>
            <a:xfrm flipH="false" flipV="false" rot="0">
              <a:off x="0" y="0"/>
              <a:ext cx="229209" cy="566373"/>
            </a:xfrm>
            <a:custGeom>
              <a:avLst/>
              <a:gdLst/>
              <a:ahLst/>
              <a:cxnLst/>
              <a:rect r="r" b="b" t="t" l="l"/>
              <a:pathLst>
                <a:path h="566373" w="229209">
                  <a:moveTo>
                    <a:pt x="0" y="0"/>
                  </a:moveTo>
                  <a:lnTo>
                    <a:pt x="229209" y="0"/>
                  </a:lnTo>
                  <a:lnTo>
                    <a:pt x="229209" y="566373"/>
                  </a:lnTo>
                  <a:lnTo>
                    <a:pt x="0" y="566373"/>
                  </a:lnTo>
                  <a:close/>
                </a:path>
              </a:pathLst>
            </a:custGeom>
            <a:blipFill>
              <a:blip r:embed="rId5">
                <a:alphaModFix amt="0"/>
              </a:blip>
              <a:stretch>
                <a:fillRect l="-220256" t="0" r="-220256" b="14755"/>
              </a:stretch>
            </a:blipFill>
          </p:spPr>
        </p:sp>
        <p:sp>
          <p:nvSpPr>
            <p:cNvPr name="TextBox 14" id="14"/>
            <p:cNvSpPr txBox="true"/>
            <p:nvPr/>
          </p:nvSpPr>
          <p:spPr>
            <a:xfrm>
              <a:off x="0" y="-9525"/>
              <a:ext cx="229210"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7</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266830" y="1254776"/>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5697927" y="587264"/>
            <a:ext cx="8287207" cy="632408"/>
            <a:chOff x="0" y="0"/>
            <a:chExt cx="11049610" cy="843211"/>
          </a:xfrm>
        </p:grpSpPr>
        <p:sp>
          <p:nvSpPr>
            <p:cNvPr name="Freeform 8" id="8"/>
            <p:cNvSpPr/>
            <p:nvPr/>
          </p:nvSpPr>
          <p:spPr>
            <a:xfrm flipH="false" flipV="false" rot="0">
              <a:off x="0" y="0"/>
              <a:ext cx="11049609" cy="843211"/>
            </a:xfrm>
            <a:custGeom>
              <a:avLst/>
              <a:gdLst/>
              <a:ahLst/>
              <a:cxnLst/>
              <a:rect r="r" b="b" t="t" l="l"/>
              <a:pathLst>
                <a:path h="843211" w="11049609">
                  <a:moveTo>
                    <a:pt x="0" y="0"/>
                  </a:moveTo>
                  <a:lnTo>
                    <a:pt x="11049609" y="0"/>
                  </a:lnTo>
                  <a:lnTo>
                    <a:pt x="11049609" y="843211"/>
                  </a:lnTo>
                  <a:lnTo>
                    <a:pt x="0" y="843211"/>
                  </a:lnTo>
                  <a:close/>
                </a:path>
              </a:pathLst>
            </a:custGeom>
            <a:blipFill>
              <a:blip r:embed="rId5">
                <a:alphaModFix amt="0"/>
              </a:blip>
              <a:stretch>
                <a:fillRect l="0" t="-213115" r="0" b="-197556"/>
              </a:stretch>
            </a:blipFill>
          </p:spPr>
        </p:sp>
        <p:sp>
          <p:nvSpPr>
            <p:cNvPr name="TextBox 9" id="9"/>
            <p:cNvSpPr txBox="true"/>
            <p:nvPr/>
          </p:nvSpPr>
          <p:spPr>
            <a:xfrm>
              <a:off x="0" y="-9525"/>
              <a:ext cx="11049610" cy="852736"/>
            </a:xfrm>
            <a:prstGeom prst="rect">
              <a:avLst/>
            </a:prstGeom>
          </p:spPr>
          <p:txBody>
            <a:bodyPr anchor="ctr" rtlCol="false" tIns="0" lIns="0" bIns="0" rIns="0"/>
            <a:lstStyle/>
            <a:p>
              <a:pPr algn="ctr">
                <a:lnSpc>
                  <a:spcPts val="3960"/>
                </a:lnSpc>
              </a:pPr>
              <a:r>
                <a:rPr lang="en-US" b="true" sz="3300">
                  <a:solidFill>
                    <a:srgbClr val="000000"/>
                  </a:solidFill>
                  <a:latin typeface="Roboto Bold"/>
                  <a:ea typeface="Roboto Bold"/>
                  <a:cs typeface="Roboto Bold"/>
                  <a:sym typeface="Roboto Bold"/>
                </a:rPr>
                <a:t>KIẾN TRÚC STREAMING &amp; LAKEHOUSE</a:t>
              </a:r>
            </a:p>
          </p:txBody>
        </p:sp>
      </p:grpSp>
      <p:grpSp>
        <p:nvGrpSpPr>
          <p:cNvPr name="Group 10" id="10"/>
          <p:cNvGrpSpPr/>
          <p:nvPr/>
        </p:nvGrpSpPr>
        <p:grpSpPr>
          <a:xfrm rot="0">
            <a:off x="1240454" y="1882770"/>
            <a:ext cx="4763110" cy="498550"/>
            <a:chOff x="0" y="0"/>
            <a:chExt cx="6350813" cy="664733"/>
          </a:xfrm>
        </p:grpSpPr>
        <p:sp>
          <p:nvSpPr>
            <p:cNvPr name="Freeform 11" id="11"/>
            <p:cNvSpPr/>
            <p:nvPr/>
          </p:nvSpPr>
          <p:spPr>
            <a:xfrm flipH="false" flipV="false" rot="0">
              <a:off x="0" y="0"/>
              <a:ext cx="6350814" cy="664733"/>
            </a:xfrm>
            <a:custGeom>
              <a:avLst/>
              <a:gdLst/>
              <a:ahLst/>
              <a:cxnLst/>
              <a:rect r="r" b="b" t="t" l="l"/>
              <a:pathLst>
                <a:path h="664733" w="6350814">
                  <a:moveTo>
                    <a:pt x="0" y="0"/>
                  </a:moveTo>
                  <a:lnTo>
                    <a:pt x="6350814" y="0"/>
                  </a:lnTo>
                  <a:lnTo>
                    <a:pt x="6350814" y="664733"/>
                  </a:lnTo>
                  <a:lnTo>
                    <a:pt x="0" y="664733"/>
                  </a:lnTo>
                  <a:close/>
                </a:path>
              </a:pathLst>
            </a:custGeom>
            <a:blipFill>
              <a:blip r:embed="rId5">
                <a:alphaModFix amt="0"/>
              </a:blip>
              <a:stretch>
                <a:fillRect l="0" t="-154611" r="0" b="-117705"/>
              </a:stretch>
            </a:blipFill>
          </p:spPr>
        </p:sp>
        <p:sp>
          <p:nvSpPr>
            <p:cNvPr name="TextBox 12" id="12"/>
            <p:cNvSpPr txBox="true"/>
            <p:nvPr/>
          </p:nvSpPr>
          <p:spPr>
            <a:xfrm>
              <a:off x="0" y="-9525"/>
              <a:ext cx="6350813" cy="674258"/>
            </a:xfrm>
            <a:prstGeom prst="rect">
              <a:avLst/>
            </a:prstGeom>
          </p:spPr>
          <p:txBody>
            <a:bodyPr anchor="ctr" rtlCol="false" tIns="0" lIns="0" bIns="0" rIns="0"/>
            <a:lstStyle/>
            <a:p>
              <a:pPr algn="l">
                <a:lnSpc>
                  <a:spcPts val="3120"/>
                </a:lnSpc>
              </a:pPr>
              <a:r>
                <a:rPr lang="en-US" b="true" sz="2600">
                  <a:solidFill>
                    <a:srgbClr val="000000"/>
                  </a:solidFill>
                  <a:latin typeface="Roboto Bold"/>
                  <a:ea typeface="Roboto Bold"/>
                  <a:cs typeface="Roboto Bold"/>
                  <a:sym typeface="Roboto Bold"/>
                </a:rPr>
                <a:t>STREAM PROCESSING</a:t>
              </a:r>
            </a:p>
          </p:txBody>
        </p:sp>
      </p:grpSp>
      <p:grpSp>
        <p:nvGrpSpPr>
          <p:cNvPr name="Group 13" id="13"/>
          <p:cNvGrpSpPr/>
          <p:nvPr/>
        </p:nvGrpSpPr>
        <p:grpSpPr>
          <a:xfrm rot="0">
            <a:off x="1028700" y="2689715"/>
            <a:ext cx="7406676" cy="2832428"/>
            <a:chOff x="0" y="0"/>
            <a:chExt cx="9875568" cy="3776571"/>
          </a:xfrm>
        </p:grpSpPr>
        <p:sp>
          <p:nvSpPr>
            <p:cNvPr name="Freeform 14" id="14"/>
            <p:cNvSpPr/>
            <p:nvPr/>
          </p:nvSpPr>
          <p:spPr>
            <a:xfrm flipH="false" flipV="false" rot="0">
              <a:off x="0" y="0"/>
              <a:ext cx="9875569" cy="3776569"/>
            </a:xfrm>
            <a:custGeom>
              <a:avLst/>
              <a:gdLst/>
              <a:ahLst/>
              <a:cxnLst/>
              <a:rect r="r" b="b" t="t" l="l"/>
              <a:pathLst>
                <a:path h="3776569" w="9875569">
                  <a:moveTo>
                    <a:pt x="0" y="0"/>
                  </a:moveTo>
                  <a:lnTo>
                    <a:pt x="9875569" y="0"/>
                  </a:lnTo>
                  <a:lnTo>
                    <a:pt x="9875569" y="3776569"/>
                  </a:lnTo>
                  <a:lnTo>
                    <a:pt x="0" y="3776569"/>
                  </a:lnTo>
                  <a:close/>
                </a:path>
              </a:pathLst>
            </a:custGeom>
            <a:blipFill>
              <a:blip r:embed="rId5">
                <a:alphaModFix amt="0"/>
              </a:blip>
              <a:stretch>
                <a:fillRect l="0" t="-27552" r="35691" b="62019"/>
              </a:stretch>
            </a:blipFill>
          </p:spPr>
        </p:sp>
        <p:sp>
          <p:nvSpPr>
            <p:cNvPr name="TextBox 15" id="15"/>
            <p:cNvSpPr txBox="true"/>
            <p:nvPr/>
          </p:nvSpPr>
          <p:spPr>
            <a:xfrm>
              <a:off x="0" y="-66675"/>
              <a:ext cx="9875568" cy="3843246"/>
            </a:xfrm>
            <a:prstGeom prst="rect">
              <a:avLst/>
            </a:prstGeom>
          </p:spPr>
          <p:txBody>
            <a:bodyPr anchor="ctr" rtlCol="false" tIns="0" lIns="0" bIns="0" rIns="0"/>
            <a:lstStyle/>
            <a:p>
              <a:pPr algn="l" marL="561341" indent="-280670" lvl="1">
                <a:lnSpc>
                  <a:spcPts val="3718"/>
                </a:lnSpc>
                <a:buFont typeface="Arial"/>
                <a:buChar char="•"/>
              </a:pPr>
              <a:r>
                <a:rPr lang="en-US" sz="2600">
                  <a:solidFill>
                    <a:srgbClr val="000000"/>
                  </a:solidFill>
                  <a:latin typeface="Roboto"/>
                  <a:ea typeface="Roboto"/>
                  <a:cs typeface="Roboto"/>
                  <a:sym typeface="Roboto"/>
                </a:rPr>
                <a:t>Xử lý dữ liệu giá và tin tức ngay khi phát sinh để giảm độ trễ.</a:t>
              </a:r>
            </a:p>
            <a:p>
              <a:pPr algn="l" marL="561341" indent="-280670" lvl="1">
                <a:lnSpc>
                  <a:spcPts val="3718"/>
                </a:lnSpc>
                <a:buFont typeface="Arial"/>
                <a:buChar char="•"/>
              </a:pPr>
              <a:r>
                <a:rPr lang="en-US" sz="2600">
                  <a:solidFill>
                    <a:srgbClr val="000000"/>
                  </a:solidFill>
                  <a:latin typeface="Roboto"/>
                  <a:ea typeface="Roboto"/>
                  <a:cs typeface="Roboto"/>
                  <a:sym typeface="Roboto"/>
                </a:rPr>
                <a:t>Hỗ trợ phát hiện biến động bất thường và cập nhật realtime cho dashboard.</a:t>
              </a:r>
            </a:p>
            <a:p>
              <a:pPr algn="l" marL="561341" indent="-280670" lvl="1">
                <a:lnSpc>
                  <a:spcPts val="3718"/>
                </a:lnSpc>
                <a:buFont typeface="Arial"/>
                <a:buChar char="•"/>
              </a:pPr>
              <a:r>
                <a:rPr lang="en-US" sz="2600">
                  <a:solidFill>
                    <a:srgbClr val="000000"/>
                  </a:solidFill>
                  <a:latin typeface="Roboto"/>
                  <a:ea typeface="Roboto"/>
                  <a:cs typeface="Roboto"/>
                  <a:sym typeface="Roboto"/>
                </a:rPr>
                <a:t>Giúp hệ thống phản ứng nhanh với thay đổi của thị trường chứng khoán.</a:t>
              </a:r>
            </a:p>
          </p:txBody>
        </p:sp>
      </p:grpSp>
      <p:grpSp>
        <p:nvGrpSpPr>
          <p:cNvPr name="Group 16" id="16"/>
          <p:cNvGrpSpPr/>
          <p:nvPr/>
        </p:nvGrpSpPr>
        <p:grpSpPr>
          <a:xfrm rot="0">
            <a:off x="9222024" y="1882770"/>
            <a:ext cx="4763110" cy="498550"/>
            <a:chOff x="0" y="0"/>
            <a:chExt cx="6350813" cy="664733"/>
          </a:xfrm>
        </p:grpSpPr>
        <p:sp>
          <p:nvSpPr>
            <p:cNvPr name="Freeform 17" id="17"/>
            <p:cNvSpPr/>
            <p:nvPr/>
          </p:nvSpPr>
          <p:spPr>
            <a:xfrm flipH="false" flipV="false" rot="0">
              <a:off x="0" y="0"/>
              <a:ext cx="6350814" cy="664733"/>
            </a:xfrm>
            <a:custGeom>
              <a:avLst/>
              <a:gdLst/>
              <a:ahLst/>
              <a:cxnLst/>
              <a:rect r="r" b="b" t="t" l="l"/>
              <a:pathLst>
                <a:path h="664733" w="6350814">
                  <a:moveTo>
                    <a:pt x="0" y="0"/>
                  </a:moveTo>
                  <a:lnTo>
                    <a:pt x="6350814" y="0"/>
                  </a:lnTo>
                  <a:lnTo>
                    <a:pt x="6350814" y="664733"/>
                  </a:lnTo>
                  <a:lnTo>
                    <a:pt x="0" y="664733"/>
                  </a:lnTo>
                  <a:close/>
                </a:path>
              </a:pathLst>
            </a:custGeom>
            <a:blipFill>
              <a:blip r:embed="rId5">
                <a:alphaModFix amt="0"/>
              </a:blip>
              <a:stretch>
                <a:fillRect l="0" t="-144065" r="0" b="-128251"/>
              </a:stretch>
            </a:blipFill>
          </p:spPr>
        </p:sp>
        <p:sp>
          <p:nvSpPr>
            <p:cNvPr name="TextBox 18" id="18"/>
            <p:cNvSpPr txBox="true"/>
            <p:nvPr/>
          </p:nvSpPr>
          <p:spPr>
            <a:xfrm>
              <a:off x="0" y="-9525"/>
              <a:ext cx="6350813" cy="674258"/>
            </a:xfrm>
            <a:prstGeom prst="rect">
              <a:avLst/>
            </a:prstGeom>
          </p:spPr>
          <p:txBody>
            <a:bodyPr anchor="ctr" rtlCol="false" tIns="0" lIns="0" bIns="0" rIns="0"/>
            <a:lstStyle/>
            <a:p>
              <a:pPr algn="l">
                <a:lnSpc>
                  <a:spcPts val="3120"/>
                </a:lnSpc>
              </a:pPr>
              <a:r>
                <a:rPr lang="en-US" b="true" sz="2600">
                  <a:solidFill>
                    <a:srgbClr val="000000"/>
                  </a:solidFill>
                  <a:latin typeface="Roboto Bold"/>
                  <a:ea typeface="Roboto Bold"/>
                  <a:cs typeface="Roboto Bold"/>
                  <a:sym typeface="Roboto Bold"/>
                </a:rPr>
                <a:t>LAKEHOUSE PATTERN</a:t>
              </a:r>
            </a:p>
          </p:txBody>
        </p:sp>
      </p:grpSp>
      <p:grpSp>
        <p:nvGrpSpPr>
          <p:cNvPr name="Group 19" id="19"/>
          <p:cNvGrpSpPr/>
          <p:nvPr/>
        </p:nvGrpSpPr>
        <p:grpSpPr>
          <a:xfrm rot="0">
            <a:off x="9144000" y="2689715"/>
            <a:ext cx="8465410" cy="2785184"/>
            <a:chOff x="0" y="0"/>
            <a:chExt cx="11287214" cy="3713579"/>
          </a:xfrm>
        </p:grpSpPr>
        <p:sp>
          <p:nvSpPr>
            <p:cNvPr name="Freeform 20" id="20"/>
            <p:cNvSpPr/>
            <p:nvPr/>
          </p:nvSpPr>
          <p:spPr>
            <a:xfrm flipH="false" flipV="false" rot="0">
              <a:off x="0" y="0"/>
              <a:ext cx="11287215" cy="3713577"/>
            </a:xfrm>
            <a:custGeom>
              <a:avLst/>
              <a:gdLst/>
              <a:ahLst/>
              <a:cxnLst/>
              <a:rect r="r" b="b" t="t" l="l"/>
              <a:pathLst>
                <a:path h="3713577" w="11287215">
                  <a:moveTo>
                    <a:pt x="0" y="0"/>
                  </a:moveTo>
                  <a:lnTo>
                    <a:pt x="11287215" y="0"/>
                  </a:lnTo>
                  <a:lnTo>
                    <a:pt x="11287215" y="3713577"/>
                  </a:lnTo>
                  <a:lnTo>
                    <a:pt x="0" y="3713577"/>
                  </a:lnTo>
                  <a:close/>
                </a:path>
              </a:pathLst>
            </a:custGeom>
            <a:blipFill>
              <a:blip r:embed="rId5">
                <a:alphaModFix amt="0"/>
              </a:blip>
              <a:stretch>
                <a:fillRect l="0" t="-22718" r="43734" b="56073"/>
              </a:stretch>
            </a:blipFill>
          </p:spPr>
        </p:sp>
        <p:sp>
          <p:nvSpPr>
            <p:cNvPr name="TextBox 21" id="21"/>
            <p:cNvSpPr txBox="true"/>
            <p:nvPr/>
          </p:nvSpPr>
          <p:spPr>
            <a:xfrm>
              <a:off x="0" y="-57150"/>
              <a:ext cx="11287214" cy="3770729"/>
            </a:xfrm>
            <a:prstGeom prst="rect">
              <a:avLst/>
            </a:prstGeom>
          </p:spPr>
          <p:txBody>
            <a:bodyPr anchor="ctr" rtlCol="false" tIns="0" lIns="0" bIns="0" rIns="0"/>
            <a:lstStyle/>
            <a:p>
              <a:pPr algn="l" marL="561341" indent="-280670" lvl="1">
                <a:lnSpc>
                  <a:spcPts val="3640"/>
                </a:lnSpc>
                <a:buFont typeface="Arial"/>
                <a:buChar char="•"/>
              </a:pPr>
              <a:r>
                <a:rPr lang="en-US" sz="2600">
                  <a:solidFill>
                    <a:srgbClr val="000000"/>
                  </a:solidFill>
                  <a:latin typeface="Roboto"/>
                  <a:ea typeface="Roboto"/>
                  <a:cs typeface="Roboto"/>
                  <a:sym typeface="Roboto"/>
                </a:rPr>
                <a:t>Kết hợp lưu trữ dữ liệu lịch sử và phân tích realtime trên cùng hệ thống.</a:t>
              </a:r>
            </a:p>
            <a:p>
              <a:pPr algn="l" marL="561341" indent="-280670" lvl="1">
                <a:lnSpc>
                  <a:spcPts val="3640"/>
                </a:lnSpc>
                <a:buFont typeface="Arial"/>
                <a:buChar char="•"/>
              </a:pPr>
              <a:r>
                <a:rPr lang="en-US" sz="2600">
                  <a:solidFill>
                    <a:srgbClr val="000000"/>
                  </a:solidFill>
                  <a:latin typeface="Roboto"/>
                  <a:ea typeface="Roboto"/>
                  <a:cs typeface="Roboto"/>
                  <a:sym typeface="Roboto"/>
                </a:rPr>
                <a:t>Hỗ trợ cả dashboard phân tích và pipeline Machine Learning.</a:t>
              </a:r>
            </a:p>
            <a:p>
              <a:pPr algn="l" marL="561341" indent="-280670" lvl="1">
                <a:lnSpc>
                  <a:spcPts val="3640"/>
                </a:lnSpc>
                <a:buFont typeface="Arial"/>
                <a:buChar char="•"/>
              </a:pPr>
              <a:r>
                <a:rPr lang="en-US" sz="2600">
                  <a:solidFill>
                    <a:srgbClr val="000000"/>
                  </a:solidFill>
                  <a:latin typeface="Roboto"/>
                  <a:ea typeface="Roboto"/>
                  <a:cs typeface="Roboto"/>
                  <a:sym typeface="Roboto"/>
                </a:rPr>
                <a:t>Giảm độ phức tạp khi quản lý dữ liệu và mở rộng hệ thống sau này.</a:t>
              </a:r>
            </a:p>
          </p:txBody>
        </p:sp>
      </p:grpSp>
      <p:sp>
        <p:nvSpPr>
          <p:cNvPr name="Freeform 22" id="22"/>
          <p:cNvSpPr/>
          <p:nvPr/>
        </p:nvSpPr>
        <p:spPr>
          <a:xfrm flipH="false" flipV="false" rot="0">
            <a:off x="1546091" y="6068793"/>
            <a:ext cx="4151835" cy="2016118"/>
          </a:xfrm>
          <a:custGeom>
            <a:avLst/>
            <a:gdLst/>
            <a:ahLst/>
            <a:cxnLst/>
            <a:rect r="r" b="b" t="t" l="l"/>
            <a:pathLst>
              <a:path h="2016118" w="4151835">
                <a:moveTo>
                  <a:pt x="0" y="0"/>
                </a:moveTo>
                <a:lnTo>
                  <a:pt x="4151836" y="0"/>
                </a:lnTo>
                <a:lnTo>
                  <a:pt x="4151836" y="2016117"/>
                </a:lnTo>
                <a:lnTo>
                  <a:pt x="0" y="2016117"/>
                </a:lnTo>
                <a:lnTo>
                  <a:pt x="0" y="0"/>
                </a:lnTo>
                <a:close/>
              </a:path>
            </a:pathLst>
          </a:custGeom>
          <a:blipFill>
            <a:blip r:embed="rId6"/>
            <a:stretch>
              <a:fillRect l="0" t="0" r="0" b="0"/>
            </a:stretch>
          </a:blipFill>
        </p:spPr>
      </p:sp>
      <p:sp>
        <p:nvSpPr>
          <p:cNvPr name="Freeform 23" id="23"/>
          <p:cNvSpPr/>
          <p:nvPr/>
        </p:nvSpPr>
        <p:spPr>
          <a:xfrm flipH="false" flipV="false" rot="0">
            <a:off x="10070043" y="5951149"/>
            <a:ext cx="4352748" cy="2448421"/>
          </a:xfrm>
          <a:custGeom>
            <a:avLst/>
            <a:gdLst/>
            <a:ahLst/>
            <a:cxnLst/>
            <a:rect r="r" b="b" t="t" l="l"/>
            <a:pathLst>
              <a:path h="2448421" w="4352748">
                <a:moveTo>
                  <a:pt x="0" y="0"/>
                </a:moveTo>
                <a:lnTo>
                  <a:pt x="4352748" y="0"/>
                </a:lnTo>
                <a:lnTo>
                  <a:pt x="4352748" y="2448421"/>
                </a:lnTo>
                <a:lnTo>
                  <a:pt x="0" y="2448421"/>
                </a:lnTo>
                <a:lnTo>
                  <a:pt x="0" y="0"/>
                </a:lnTo>
                <a:close/>
              </a:path>
            </a:pathLst>
          </a:custGeom>
          <a:blipFill>
            <a:blip r:embed="rId7"/>
            <a:stretch>
              <a:fillRect l="0" t="0" r="0" b="0"/>
            </a:stretch>
          </a:blipFill>
        </p:spPr>
      </p:sp>
      <p:sp>
        <p:nvSpPr>
          <p:cNvPr name="TextBox 24" id="24"/>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25" id="25"/>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063730" y="1121683"/>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5614613" y="454171"/>
            <a:ext cx="8049463" cy="632408"/>
            <a:chOff x="0" y="0"/>
            <a:chExt cx="10732618" cy="843211"/>
          </a:xfrm>
        </p:grpSpPr>
        <p:sp>
          <p:nvSpPr>
            <p:cNvPr name="Freeform 8" id="8"/>
            <p:cNvSpPr/>
            <p:nvPr/>
          </p:nvSpPr>
          <p:spPr>
            <a:xfrm flipH="false" flipV="false" rot="0">
              <a:off x="0" y="0"/>
              <a:ext cx="10732617" cy="843211"/>
            </a:xfrm>
            <a:custGeom>
              <a:avLst/>
              <a:gdLst/>
              <a:ahLst/>
              <a:cxnLst/>
              <a:rect r="r" b="b" t="t" l="l"/>
              <a:pathLst>
                <a:path h="843211" w="10732617">
                  <a:moveTo>
                    <a:pt x="0" y="0"/>
                  </a:moveTo>
                  <a:lnTo>
                    <a:pt x="10732617" y="0"/>
                  </a:lnTo>
                  <a:lnTo>
                    <a:pt x="10732617" y="843211"/>
                  </a:lnTo>
                  <a:lnTo>
                    <a:pt x="0" y="843211"/>
                  </a:lnTo>
                  <a:close/>
                </a:path>
              </a:pathLst>
            </a:custGeom>
            <a:blipFill>
              <a:blip r:embed="rId5">
                <a:alphaModFix amt="0"/>
              </a:blip>
              <a:stretch>
                <a:fillRect l="0" t="-205790" r="0" b="-190231"/>
              </a:stretch>
            </a:blipFill>
          </p:spPr>
        </p:sp>
        <p:sp>
          <p:nvSpPr>
            <p:cNvPr name="TextBox 9" id="9"/>
            <p:cNvSpPr txBox="true"/>
            <p:nvPr/>
          </p:nvSpPr>
          <p:spPr>
            <a:xfrm>
              <a:off x="0" y="-9525"/>
              <a:ext cx="10732618" cy="852736"/>
            </a:xfrm>
            <a:prstGeom prst="rect">
              <a:avLst/>
            </a:prstGeom>
          </p:spPr>
          <p:txBody>
            <a:bodyPr anchor="ctr" rtlCol="false" tIns="0" lIns="0" bIns="0" rIns="0"/>
            <a:lstStyle/>
            <a:p>
              <a:pPr algn="ctr">
                <a:lnSpc>
                  <a:spcPts val="3960"/>
                </a:lnSpc>
              </a:pPr>
              <a:r>
                <a:rPr lang="en-US" b="true" sz="3300">
                  <a:solidFill>
                    <a:srgbClr val="000000"/>
                  </a:solidFill>
                  <a:latin typeface="Roboto Bold"/>
                  <a:ea typeface="Roboto Bold"/>
                  <a:cs typeface="Roboto Bold"/>
                  <a:sym typeface="Roboto Bold"/>
                </a:rPr>
                <a:t>APACHE KAFKA — MESSAGE BROKER</a:t>
              </a:r>
            </a:p>
          </p:txBody>
        </p:sp>
      </p:grpSp>
      <p:grpSp>
        <p:nvGrpSpPr>
          <p:cNvPr name="Group 10" id="10"/>
          <p:cNvGrpSpPr/>
          <p:nvPr/>
        </p:nvGrpSpPr>
        <p:grpSpPr>
          <a:xfrm rot="0">
            <a:off x="1455824" y="5533267"/>
            <a:ext cx="15786468" cy="2228754"/>
            <a:chOff x="0" y="0"/>
            <a:chExt cx="21779823" cy="3074904"/>
          </a:xfrm>
        </p:grpSpPr>
        <p:sp>
          <p:nvSpPr>
            <p:cNvPr name="Freeform 11" id="11"/>
            <p:cNvSpPr/>
            <p:nvPr/>
          </p:nvSpPr>
          <p:spPr>
            <a:xfrm flipH="false" flipV="false" rot="0">
              <a:off x="0" y="0"/>
              <a:ext cx="21779823" cy="3074930"/>
            </a:xfrm>
            <a:custGeom>
              <a:avLst/>
              <a:gdLst/>
              <a:ahLst/>
              <a:cxnLst/>
              <a:rect r="r" b="b" t="t" l="l"/>
              <a:pathLst>
                <a:path h="3074930" w="21779823">
                  <a:moveTo>
                    <a:pt x="0" y="14718"/>
                  </a:moveTo>
                  <a:cubicBezTo>
                    <a:pt x="0" y="6600"/>
                    <a:pt x="39488" y="0"/>
                    <a:pt x="88051" y="0"/>
                  </a:cubicBezTo>
                  <a:lnTo>
                    <a:pt x="21691771" y="0"/>
                  </a:lnTo>
                  <a:cubicBezTo>
                    <a:pt x="21740335" y="0"/>
                    <a:pt x="21779823" y="6600"/>
                    <a:pt x="21779823" y="14718"/>
                  </a:cubicBezTo>
                  <a:lnTo>
                    <a:pt x="21779823" y="3060195"/>
                  </a:lnTo>
                  <a:cubicBezTo>
                    <a:pt x="21779823" y="3068312"/>
                    <a:pt x="21740335" y="3074930"/>
                    <a:pt x="21691771" y="3074930"/>
                  </a:cubicBezTo>
                  <a:lnTo>
                    <a:pt x="88051" y="3074930"/>
                  </a:lnTo>
                  <a:cubicBezTo>
                    <a:pt x="39488" y="3074930"/>
                    <a:pt x="0" y="3068312"/>
                    <a:pt x="0" y="3060195"/>
                  </a:cubicBezTo>
                  <a:lnTo>
                    <a:pt x="0" y="14718"/>
                  </a:lnTo>
                  <a:close/>
                </a:path>
              </a:pathLst>
            </a:custGeom>
            <a:solidFill>
              <a:srgbClr val="F0FCF6"/>
            </a:solidFill>
          </p:spPr>
        </p:sp>
      </p:grpSp>
      <p:grpSp>
        <p:nvGrpSpPr>
          <p:cNvPr name="Group 12" id="12"/>
          <p:cNvGrpSpPr/>
          <p:nvPr/>
        </p:nvGrpSpPr>
        <p:grpSpPr>
          <a:xfrm rot="0">
            <a:off x="1240293" y="4768018"/>
            <a:ext cx="16002000" cy="498550"/>
            <a:chOff x="0" y="0"/>
            <a:chExt cx="21336000" cy="664733"/>
          </a:xfrm>
        </p:grpSpPr>
        <p:sp>
          <p:nvSpPr>
            <p:cNvPr name="Freeform 13" id="13"/>
            <p:cNvSpPr/>
            <p:nvPr/>
          </p:nvSpPr>
          <p:spPr>
            <a:xfrm flipH="false" flipV="false" rot="0">
              <a:off x="0" y="0"/>
              <a:ext cx="21336000" cy="664732"/>
            </a:xfrm>
            <a:custGeom>
              <a:avLst/>
              <a:gdLst/>
              <a:ahLst/>
              <a:cxnLst/>
              <a:rect r="r" b="b" t="t" l="l"/>
              <a:pathLst>
                <a:path h="664732" w="21336000">
                  <a:moveTo>
                    <a:pt x="0" y="0"/>
                  </a:moveTo>
                  <a:lnTo>
                    <a:pt x="21336000" y="0"/>
                  </a:lnTo>
                  <a:lnTo>
                    <a:pt x="21336000" y="664732"/>
                  </a:lnTo>
                  <a:lnTo>
                    <a:pt x="0" y="664732"/>
                  </a:lnTo>
                  <a:close/>
                </a:path>
              </a:pathLst>
            </a:custGeom>
            <a:blipFill>
              <a:blip r:embed="rId5">
                <a:alphaModFix amt="0"/>
              </a:blip>
              <a:stretch>
                <a:fillRect l="0" t="-596709" r="0" b="-554117"/>
              </a:stretch>
            </a:blipFill>
          </p:spPr>
        </p:sp>
        <p:sp>
          <p:nvSpPr>
            <p:cNvPr name="TextBox 14" id="14"/>
            <p:cNvSpPr txBox="true"/>
            <p:nvPr/>
          </p:nvSpPr>
          <p:spPr>
            <a:xfrm>
              <a:off x="0" y="-9525"/>
              <a:ext cx="21336000" cy="674258"/>
            </a:xfrm>
            <a:prstGeom prst="rect">
              <a:avLst/>
            </a:prstGeom>
          </p:spPr>
          <p:txBody>
            <a:bodyPr anchor="ctr" rtlCol="false" tIns="0" lIns="0" bIns="0" rIns="0"/>
            <a:lstStyle/>
            <a:p>
              <a:pPr algn="l">
                <a:lnSpc>
                  <a:spcPts val="3120"/>
                </a:lnSpc>
              </a:pPr>
              <a:r>
                <a:rPr lang="en-US" b="true" sz="2600">
                  <a:solidFill>
                    <a:srgbClr val="000000"/>
                  </a:solidFill>
                  <a:latin typeface="Roboto Bold"/>
                  <a:ea typeface="Roboto Bold"/>
                  <a:cs typeface="Roboto Bold"/>
                  <a:sym typeface="Roboto Bold"/>
                </a:rPr>
                <a:t>TRIỂN KHAI</a:t>
              </a:r>
            </a:p>
          </p:txBody>
        </p:sp>
      </p:grpSp>
      <p:grpSp>
        <p:nvGrpSpPr>
          <p:cNvPr name="Group 15" id="15"/>
          <p:cNvGrpSpPr/>
          <p:nvPr/>
        </p:nvGrpSpPr>
        <p:grpSpPr>
          <a:xfrm rot="0">
            <a:off x="1621788" y="5900212"/>
            <a:ext cx="14255337" cy="1494864"/>
            <a:chOff x="0" y="0"/>
            <a:chExt cx="19007116" cy="1993153"/>
          </a:xfrm>
        </p:grpSpPr>
        <p:sp>
          <p:nvSpPr>
            <p:cNvPr name="Freeform 16" id="16"/>
            <p:cNvSpPr/>
            <p:nvPr/>
          </p:nvSpPr>
          <p:spPr>
            <a:xfrm flipH="false" flipV="false" rot="0">
              <a:off x="0" y="0"/>
              <a:ext cx="19007116" cy="1993153"/>
            </a:xfrm>
            <a:custGeom>
              <a:avLst/>
              <a:gdLst/>
              <a:ahLst/>
              <a:cxnLst/>
              <a:rect r="r" b="b" t="t" l="l"/>
              <a:pathLst>
                <a:path h="1993153" w="19007116">
                  <a:moveTo>
                    <a:pt x="0" y="0"/>
                  </a:moveTo>
                  <a:lnTo>
                    <a:pt x="19007116" y="0"/>
                  </a:lnTo>
                  <a:lnTo>
                    <a:pt x="19007116" y="1993153"/>
                  </a:lnTo>
                  <a:lnTo>
                    <a:pt x="0" y="1993153"/>
                  </a:lnTo>
                  <a:close/>
                </a:path>
              </a:pathLst>
            </a:custGeom>
            <a:blipFill>
              <a:blip r:embed="rId5">
                <a:alphaModFix amt="0"/>
              </a:blip>
              <a:stretch>
                <a:fillRect l="0" t="-198365" r="-12252" b="-118795"/>
              </a:stretch>
            </a:blipFill>
          </p:spPr>
        </p:sp>
        <p:sp>
          <p:nvSpPr>
            <p:cNvPr name="TextBox 17" id="17"/>
            <p:cNvSpPr txBox="true"/>
            <p:nvPr/>
          </p:nvSpPr>
          <p:spPr>
            <a:xfrm>
              <a:off x="0" y="-85725"/>
              <a:ext cx="19007116" cy="2078878"/>
            </a:xfrm>
            <a:prstGeom prst="rect">
              <a:avLst/>
            </a:prstGeom>
          </p:spPr>
          <p:txBody>
            <a:bodyPr anchor="ctr" rtlCol="false" tIns="0" lIns="0" bIns="0" rIns="0"/>
            <a:lstStyle/>
            <a:p>
              <a:pPr algn="l" marL="561341" indent="-280670" lvl="1">
                <a:lnSpc>
                  <a:spcPts val="3900"/>
                </a:lnSpc>
                <a:buFont typeface="Arial"/>
                <a:buChar char="•"/>
              </a:pPr>
              <a:r>
                <a:rPr lang="en-US" sz="2600">
                  <a:solidFill>
                    <a:srgbClr val="000000"/>
                  </a:solidFill>
                  <a:latin typeface="Roboto"/>
                  <a:ea typeface="Roboto"/>
                  <a:cs typeface="Roboto"/>
                  <a:sym typeface="Roboto"/>
                </a:rPr>
                <a:t>Sử dụng</a:t>
              </a:r>
              <a:r>
                <a:rPr lang="en-US" sz="2600">
                  <a:solidFill>
                    <a:srgbClr val="000000"/>
                  </a:solidFill>
                  <a:latin typeface="Roboto"/>
                  <a:ea typeface="Roboto"/>
                  <a:cs typeface="Roboto"/>
                  <a:sym typeface="Roboto"/>
                </a:rPr>
                <a:t> cluster Kafka </a:t>
              </a:r>
              <a:r>
                <a:rPr lang="en-US" sz="2600">
                  <a:solidFill>
                    <a:srgbClr val="000000"/>
                  </a:solidFill>
                  <a:latin typeface="Roboto"/>
                  <a:ea typeface="Roboto"/>
                  <a:cs typeface="Roboto"/>
                  <a:sym typeface="Roboto"/>
                </a:rPr>
                <a:t>3 broker</a:t>
              </a:r>
              <a:r>
                <a:rPr lang="en-US" sz="2600">
                  <a:solidFill>
                    <a:srgbClr val="000000"/>
                  </a:solidFill>
                  <a:latin typeface="Roboto"/>
                  <a:ea typeface="Roboto"/>
                  <a:cs typeface="Roboto"/>
                  <a:sym typeface="Roboto"/>
                </a:rPr>
                <a:t> để </a:t>
              </a:r>
              <a:r>
                <a:rPr lang="en-US" sz="2600">
                  <a:solidFill>
                    <a:srgbClr val="000000"/>
                  </a:solidFill>
                  <a:latin typeface="Roboto"/>
                  <a:ea typeface="Roboto"/>
                  <a:cs typeface="Roboto"/>
                  <a:sym typeface="Roboto"/>
                </a:rPr>
                <a:t>t</a:t>
              </a:r>
              <a:r>
                <a:rPr lang="en-US" sz="2600">
                  <a:solidFill>
                    <a:srgbClr val="000000"/>
                  </a:solidFill>
                  <a:latin typeface="Roboto"/>
                  <a:ea typeface="Roboto"/>
                  <a:cs typeface="Roboto"/>
                  <a:sym typeface="Roboto"/>
                </a:rPr>
                <a:t>ăng</a:t>
              </a:r>
              <a:r>
                <a:rPr lang="en-US" sz="2600">
                  <a:solidFill>
                    <a:srgbClr val="000000"/>
                  </a:solidFill>
                  <a:latin typeface="Roboto"/>
                  <a:ea typeface="Roboto"/>
                  <a:cs typeface="Roboto"/>
                  <a:sym typeface="Roboto"/>
                </a:rPr>
                <a:t> </a:t>
              </a:r>
              <a:r>
                <a:rPr lang="en-US" sz="2600">
                  <a:solidFill>
                    <a:srgbClr val="000000"/>
                  </a:solidFill>
                  <a:latin typeface="Roboto"/>
                  <a:ea typeface="Roboto"/>
                  <a:cs typeface="Roboto"/>
                  <a:sym typeface="Roboto"/>
                </a:rPr>
                <a:t>độ ổn định và khả năng chịu lỗi.</a:t>
              </a:r>
            </a:p>
            <a:p>
              <a:pPr algn="l" marL="561341" indent="-280670" lvl="1">
                <a:lnSpc>
                  <a:spcPts val="3900"/>
                </a:lnSpc>
                <a:buFont typeface="Arial"/>
                <a:buChar char="•"/>
              </a:pPr>
              <a:r>
                <a:rPr lang="en-US" sz="2600">
                  <a:solidFill>
                    <a:srgbClr val="000000"/>
                  </a:solidFill>
                  <a:latin typeface="Roboto"/>
                  <a:ea typeface="Roboto"/>
                  <a:cs typeface="Roboto"/>
                  <a:sym typeface="Roboto"/>
                </a:rPr>
                <a:t>Dữ liệu giá được stream realtime từ Yahoo Finance WebSocket.</a:t>
              </a:r>
            </a:p>
            <a:p>
              <a:pPr algn="l" marL="561341" indent="-280670" lvl="1">
                <a:lnSpc>
                  <a:spcPts val="3900"/>
                </a:lnSpc>
                <a:buFont typeface="Arial"/>
                <a:buChar char="•"/>
              </a:pPr>
              <a:r>
                <a:rPr lang="en-US" sz="2600">
                  <a:solidFill>
                    <a:srgbClr val="000000"/>
                  </a:solidFill>
                  <a:latin typeface="Roboto"/>
                  <a:ea typeface="Roboto"/>
                  <a:cs typeface="Roboto"/>
                  <a:sym typeface="Roboto"/>
                </a:rPr>
                <a:t>Kafka kết nối các thành phần xử lý như Flink, sentiment analysis và dashboard realtime.</a:t>
              </a:r>
            </a:p>
          </p:txBody>
        </p:sp>
      </p:grpSp>
      <p:sp>
        <p:nvSpPr>
          <p:cNvPr name="Freeform 18" id="18"/>
          <p:cNvSpPr/>
          <p:nvPr/>
        </p:nvSpPr>
        <p:spPr>
          <a:xfrm flipH="false" flipV="false" rot="0">
            <a:off x="15452609" y="216410"/>
            <a:ext cx="2458831" cy="1292462"/>
          </a:xfrm>
          <a:custGeom>
            <a:avLst/>
            <a:gdLst/>
            <a:ahLst/>
            <a:cxnLst/>
            <a:rect r="r" b="b" t="t" l="l"/>
            <a:pathLst>
              <a:path h="1292462" w="2458831">
                <a:moveTo>
                  <a:pt x="0" y="0"/>
                </a:moveTo>
                <a:lnTo>
                  <a:pt x="2458831" y="0"/>
                </a:lnTo>
                <a:lnTo>
                  <a:pt x="2458831" y="1292462"/>
                </a:lnTo>
                <a:lnTo>
                  <a:pt x="0" y="1292462"/>
                </a:lnTo>
                <a:lnTo>
                  <a:pt x="0" y="0"/>
                </a:lnTo>
                <a:close/>
              </a:path>
            </a:pathLst>
          </a:custGeom>
          <a:blipFill>
            <a:blip r:embed="rId6"/>
            <a:stretch>
              <a:fillRect l="0" t="0" r="0" b="0"/>
            </a:stretch>
          </a:blipFill>
        </p:spPr>
      </p:sp>
      <p:sp>
        <p:nvSpPr>
          <p:cNvPr name="TextBox 19" id="19"/>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20" id="20"/>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18</a:t>
            </a:r>
          </a:p>
        </p:txBody>
      </p:sp>
      <p:sp>
        <p:nvSpPr>
          <p:cNvPr name="TextBox 21" id="21"/>
          <p:cNvSpPr txBox="true"/>
          <p:nvPr/>
        </p:nvSpPr>
        <p:spPr>
          <a:xfrm rot="0">
            <a:off x="1621788" y="2142793"/>
            <a:ext cx="15620504" cy="2277110"/>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000000"/>
                </a:solidFill>
                <a:latin typeface="Roboto"/>
                <a:ea typeface="Roboto"/>
                <a:cs typeface="Roboto"/>
                <a:sym typeface="Roboto"/>
              </a:rPr>
              <a:t>Kafka</a:t>
            </a:r>
            <a:r>
              <a:rPr lang="en-US" sz="2600">
                <a:solidFill>
                  <a:srgbClr val="000000"/>
                </a:solidFill>
                <a:latin typeface="Roboto"/>
                <a:ea typeface="Roboto"/>
                <a:cs typeface="Roboto"/>
                <a:sym typeface="Roboto"/>
              </a:rPr>
              <a:t> đóng vai trò trung tâm tiếp nhận và phân phối dữ liệu giá cổ phiếu và tin tức theo thời gian thực.</a:t>
            </a:r>
          </a:p>
          <a:p>
            <a:pPr algn="l" marL="561341" indent="-280670" lvl="1">
              <a:lnSpc>
                <a:spcPts val="3640"/>
              </a:lnSpc>
              <a:buFont typeface="Arial"/>
              <a:buChar char="•"/>
            </a:pPr>
            <a:r>
              <a:rPr lang="en-US" sz="2600">
                <a:solidFill>
                  <a:srgbClr val="000000"/>
                </a:solidFill>
                <a:latin typeface="Roboto"/>
                <a:ea typeface="Roboto"/>
                <a:cs typeface="Roboto"/>
                <a:sym typeface="Roboto"/>
              </a:rPr>
              <a:t>Dữ liệu được chia thành nhiều topic giúp xử lý song song và mở rộng hệ thống dễ dàng.</a:t>
            </a:r>
          </a:p>
          <a:p>
            <a:pPr algn="l" marL="561341" indent="-280670" lvl="1">
              <a:lnSpc>
                <a:spcPts val="3640"/>
              </a:lnSpc>
              <a:buFont typeface="Arial"/>
              <a:buChar char="•"/>
            </a:pPr>
            <a:r>
              <a:rPr lang="en-US" sz="2600">
                <a:solidFill>
                  <a:srgbClr val="000000"/>
                </a:solidFill>
                <a:latin typeface="Roboto"/>
                <a:ea typeface="Roboto"/>
                <a:cs typeface="Roboto"/>
                <a:sym typeface="Roboto"/>
              </a:rPr>
              <a:t>Replication giúp hệ thống ổn định và hạn chế mất dữ liệu khi có lỗi.</a:t>
            </a:r>
          </a:p>
          <a:p>
            <a:pPr algn="l" marL="561341" indent="-280670" lvl="1">
              <a:lnSpc>
                <a:spcPts val="3640"/>
              </a:lnSpc>
              <a:buFont typeface="Arial"/>
              <a:buChar char="•"/>
            </a:pPr>
            <a:r>
              <a:rPr lang="en-US" sz="2600">
                <a:solidFill>
                  <a:srgbClr val="000000"/>
                </a:solidFill>
                <a:latin typeface="Roboto"/>
                <a:ea typeface="Roboto"/>
                <a:cs typeface="Roboto"/>
                <a:sym typeface="Roboto"/>
              </a:rPr>
              <a:t>Schema Registry chuẩn hóa dữ liệu giữa các service, đảm bảo producer và consumer hoạt động đồng nhất.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141179" y="1391031"/>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4715104" y="592215"/>
            <a:ext cx="10306202" cy="632408"/>
            <a:chOff x="0" y="0"/>
            <a:chExt cx="13741603" cy="843211"/>
          </a:xfrm>
        </p:grpSpPr>
        <p:sp>
          <p:nvSpPr>
            <p:cNvPr name="Freeform 8" id="8"/>
            <p:cNvSpPr/>
            <p:nvPr/>
          </p:nvSpPr>
          <p:spPr>
            <a:xfrm flipH="false" flipV="false" rot="0">
              <a:off x="0" y="0"/>
              <a:ext cx="13741603" cy="843211"/>
            </a:xfrm>
            <a:custGeom>
              <a:avLst/>
              <a:gdLst/>
              <a:ahLst/>
              <a:cxnLst/>
              <a:rect r="r" b="b" t="t" l="l"/>
              <a:pathLst>
                <a:path h="843211" w="13741603">
                  <a:moveTo>
                    <a:pt x="0" y="0"/>
                  </a:moveTo>
                  <a:lnTo>
                    <a:pt x="13741603" y="0"/>
                  </a:lnTo>
                  <a:lnTo>
                    <a:pt x="13741603" y="843211"/>
                  </a:lnTo>
                  <a:lnTo>
                    <a:pt x="0" y="843211"/>
                  </a:lnTo>
                  <a:close/>
                </a:path>
              </a:pathLst>
            </a:custGeom>
            <a:blipFill>
              <a:blip r:embed="rId5">
                <a:alphaModFix amt="0"/>
              </a:blip>
              <a:stretch>
                <a:fillRect l="0" t="-275322" r="0" b="-259763"/>
              </a:stretch>
            </a:blipFill>
          </p:spPr>
        </p:sp>
        <p:sp>
          <p:nvSpPr>
            <p:cNvPr name="TextBox 9" id="9"/>
            <p:cNvSpPr txBox="true"/>
            <p:nvPr/>
          </p:nvSpPr>
          <p:spPr>
            <a:xfrm>
              <a:off x="0" y="-9525"/>
              <a:ext cx="13741603"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APACHE FLINK — STREAM PROCESSING ENGINE</a:t>
              </a:r>
            </a:p>
          </p:txBody>
        </p:sp>
      </p:grpSp>
      <p:grpSp>
        <p:nvGrpSpPr>
          <p:cNvPr name="Group 10" id="10"/>
          <p:cNvGrpSpPr/>
          <p:nvPr/>
        </p:nvGrpSpPr>
        <p:grpSpPr>
          <a:xfrm rot="0">
            <a:off x="1712631" y="2493369"/>
            <a:ext cx="13241368" cy="1506929"/>
            <a:chOff x="0" y="0"/>
            <a:chExt cx="17655158" cy="2009239"/>
          </a:xfrm>
        </p:grpSpPr>
        <p:sp>
          <p:nvSpPr>
            <p:cNvPr name="Freeform 11" id="11"/>
            <p:cNvSpPr/>
            <p:nvPr/>
          </p:nvSpPr>
          <p:spPr>
            <a:xfrm flipH="false" flipV="false" rot="0">
              <a:off x="0" y="0"/>
              <a:ext cx="17655158" cy="2009239"/>
            </a:xfrm>
            <a:custGeom>
              <a:avLst/>
              <a:gdLst/>
              <a:ahLst/>
              <a:cxnLst/>
              <a:rect r="r" b="b" t="t" l="l"/>
              <a:pathLst>
                <a:path h="2009239" w="17655158">
                  <a:moveTo>
                    <a:pt x="0" y="0"/>
                  </a:moveTo>
                  <a:lnTo>
                    <a:pt x="17655158" y="0"/>
                  </a:lnTo>
                  <a:lnTo>
                    <a:pt x="17655158" y="2009239"/>
                  </a:lnTo>
                  <a:lnTo>
                    <a:pt x="0" y="2009239"/>
                  </a:lnTo>
                  <a:close/>
                </a:path>
              </a:pathLst>
            </a:custGeom>
            <a:blipFill>
              <a:blip r:embed="rId5">
                <a:alphaModFix amt="0"/>
              </a:blip>
              <a:stretch>
                <a:fillRect l="0" t="-82595" r="45114" b="-5350"/>
              </a:stretch>
            </a:blipFill>
          </p:spPr>
        </p:sp>
        <p:sp>
          <p:nvSpPr>
            <p:cNvPr name="TextBox 12" id="12"/>
            <p:cNvSpPr txBox="true"/>
            <p:nvPr/>
          </p:nvSpPr>
          <p:spPr>
            <a:xfrm>
              <a:off x="0" y="-95250"/>
              <a:ext cx="17655158" cy="2104489"/>
            </a:xfrm>
            <a:prstGeom prst="rect">
              <a:avLst/>
            </a:prstGeom>
          </p:spPr>
          <p:txBody>
            <a:bodyPr anchor="ctr" rtlCol="false" tIns="0" lIns="0" bIns="0" rIns="0"/>
            <a:lstStyle/>
            <a:p>
              <a:pPr algn="l" marL="561337" indent="-280669" lvl="1">
                <a:lnSpc>
                  <a:spcPts val="4029"/>
                </a:lnSpc>
                <a:buFont typeface="Arial"/>
                <a:buChar char="•"/>
              </a:pPr>
              <a:r>
                <a:rPr lang="en-US" sz="2599">
                  <a:solidFill>
                    <a:srgbClr val="000000"/>
                  </a:solidFill>
                  <a:latin typeface="Roboto"/>
                  <a:ea typeface="Roboto"/>
                  <a:cs typeface="Roboto"/>
                  <a:sym typeface="Roboto"/>
                </a:rPr>
                <a:t>F</a:t>
              </a:r>
              <a:r>
                <a:rPr lang="en-US" sz="2599">
                  <a:solidFill>
                    <a:srgbClr val="000000"/>
                  </a:solidFill>
                  <a:latin typeface="Roboto"/>
                  <a:ea typeface="Roboto"/>
                  <a:cs typeface="Roboto"/>
                  <a:sym typeface="Roboto"/>
                </a:rPr>
                <a:t>link là tầng xử lý dữ liệu realtime với độ trễ thấp và khả năng xử lý song song cao.</a:t>
              </a:r>
            </a:p>
            <a:p>
              <a:pPr algn="l" marL="561337" indent="-280669" lvl="1">
                <a:lnSpc>
                  <a:spcPts val="4029"/>
                </a:lnSpc>
                <a:buFont typeface="Arial"/>
                <a:buChar char="•"/>
              </a:pPr>
              <a:r>
                <a:rPr lang="en-US" sz="2599">
                  <a:solidFill>
                    <a:srgbClr val="000000"/>
                  </a:solidFill>
                  <a:latin typeface="Roboto"/>
                  <a:ea typeface="Roboto"/>
                  <a:cs typeface="Roboto"/>
                  <a:sym typeface="Roboto"/>
                </a:rPr>
                <a:t>Hỗ trợ xử lý dữ liệu liên tục, kể cả event đến trễ hoặc sai thứ tự.</a:t>
              </a:r>
            </a:p>
            <a:p>
              <a:pPr algn="l" marL="561337" indent="-280669" lvl="1">
                <a:lnSpc>
                  <a:spcPts val="4029"/>
                </a:lnSpc>
                <a:buFont typeface="Arial"/>
                <a:buChar char="•"/>
              </a:pPr>
              <a:r>
                <a:rPr lang="en-US" sz="2599">
                  <a:solidFill>
                    <a:srgbClr val="000000"/>
                  </a:solidFill>
                  <a:latin typeface="Roboto"/>
                  <a:ea typeface="Roboto"/>
                  <a:cs typeface="Roboto"/>
                  <a:sym typeface="Roboto"/>
                </a:rPr>
                <a:t>Đảm bảo dữ liệu được xử lý ổn định và chính xác trong môi trường streaming.</a:t>
              </a:r>
            </a:p>
          </p:txBody>
        </p:sp>
      </p:grpSp>
      <p:grpSp>
        <p:nvGrpSpPr>
          <p:cNvPr name="Group 13" id="13"/>
          <p:cNvGrpSpPr/>
          <p:nvPr/>
        </p:nvGrpSpPr>
        <p:grpSpPr>
          <a:xfrm rot="0">
            <a:off x="1459512" y="4644951"/>
            <a:ext cx="7239305" cy="498549"/>
            <a:chOff x="0" y="0"/>
            <a:chExt cx="9652406" cy="664732"/>
          </a:xfrm>
        </p:grpSpPr>
        <p:sp>
          <p:nvSpPr>
            <p:cNvPr name="Freeform 14" id="14"/>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5">
                <a:alphaModFix amt="0"/>
              </a:blip>
              <a:stretch>
                <a:fillRect l="0" t="-251390" r="0" b="-214484"/>
              </a:stretch>
            </a:blipFill>
          </p:spPr>
        </p:sp>
        <p:sp>
          <p:nvSpPr>
            <p:cNvPr name="TextBox 15" id="15"/>
            <p:cNvSpPr txBox="true"/>
            <p:nvPr/>
          </p:nvSpPr>
          <p:spPr>
            <a:xfrm>
              <a:off x="0" y="-9525"/>
              <a:ext cx="9652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Triển khai:</a:t>
              </a:r>
            </a:p>
          </p:txBody>
        </p:sp>
      </p:grpSp>
      <p:sp>
        <p:nvSpPr>
          <p:cNvPr name="Freeform 16" id="16"/>
          <p:cNvSpPr/>
          <p:nvPr/>
        </p:nvSpPr>
        <p:spPr>
          <a:xfrm flipH="false" flipV="false" rot="0">
            <a:off x="15516910" y="199042"/>
            <a:ext cx="2406869" cy="1239537"/>
          </a:xfrm>
          <a:custGeom>
            <a:avLst/>
            <a:gdLst/>
            <a:ahLst/>
            <a:cxnLst/>
            <a:rect r="r" b="b" t="t" l="l"/>
            <a:pathLst>
              <a:path h="1239537" w="2406869">
                <a:moveTo>
                  <a:pt x="0" y="0"/>
                </a:moveTo>
                <a:lnTo>
                  <a:pt x="2406869" y="0"/>
                </a:lnTo>
                <a:lnTo>
                  <a:pt x="2406869" y="1239538"/>
                </a:lnTo>
                <a:lnTo>
                  <a:pt x="0" y="1239538"/>
                </a:lnTo>
                <a:lnTo>
                  <a:pt x="0" y="0"/>
                </a:lnTo>
                <a:close/>
              </a:path>
            </a:pathLst>
          </a:custGeom>
          <a:blipFill>
            <a:blip r:embed="rId6"/>
            <a:stretch>
              <a:fillRect l="0" t="0" r="0" b="0"/>
            </a:stretch>
          </a:blipFill>
        </p:spPr>
      </p:sp>
      <p:sp>
        <p:nvSpPr>
          <p:cNvPr name="TextBox 17" id="17"/>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8" id="18"/>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19</a:t>
            </a:r>
          </a:p>
        </p:txBody>
      </p:sp>
      <p:grpSp>
        <p:nvGrpSpPr>
          <p:cNvPr name="Group 19" id="19"/>
          <p:cNvGrpSpPr/>
          <p:nvPr/>
        </p:nvGrpSpPr>
        <p:grpSpPr>
          <a:xfrm rot="0">
            <a:off x="1712631" y="5466436"/>
            <a:ext cx="14433890" cy="2422668"/>
            <a:chOff x="0" y="0"/>
            <a:chExt cx="21396359" cy="3591289"/>
          </a:xfrm>
        </p:grpSpPr>
        <p:sp>
          <p:nvSpPr>
            <p:cNvPr name="Freeform 20" id="20"/>
            <p:cNvSpPr/>
            <p:nvPr/>
          </p:nvSpPr>
          <p:spPr>
            <a:xfrm flipH="false" flipV="false" rot="0">
              <a:off x="0" y="0"/>
              <a:ext cx="21396359" cy="3591315"/>
            </a:xfrm>
            <a:custGeom>
              <a:avLst/>
              <a:gdLst/>
              <a:ahLst/>
              <a:cxnLst/>
              <a:rect r="r" b="b" t="t" l="l"/>
              <a:pathLst>
                <a:path h="3591315" w="21396359">
                  <a:moveTo>
                    <a:pt x="0" y="17189"/>
                  </a:moveTo>
                  <a:cubicBezTo>
                    <a:pt x="0" y="7709"/>
                    <a:pt x="38793" y="0"/>
                    <a:pt x="86501" y="0"/>
                  </a:cubicBezTo>
                  <a:lnTo>
                    <a:pt x="21309857" y="0"/>
                  </a:lnTo>
                  <a:cubicBezTo>
                    <a:pt x="21357566" y="0"/>
                    <a:pt x="21396359" y="7709"/>
                    <a:pt x="21396359" y="17189"/>
                  </a:cubicBezTo>
                  <a:lnTo>
                    <a:pt x="21396359" y="3574109"/>
                  </a:lnTo>
                  <a:cubicBezTo>
                    <a:pt x="21396359" y="3583589"/>
                    <a:pt x="21357566" y="3591315"/>
                    <a:pt x="21309857" y="3591315"/>
                  </a:cubicBezTo>
                  <a:lnTo>
                    <a:pt x="86501" y="3591315"/>
                  </a:lnTo>
                  <a:cubicBezTo>
                    <a:pt x="38793" y="3591315"/>
                    <a:pt x="0" y="3583589"/>
                    <a:pt x="0" y="3574109"/>
                  </a:cubicBezTo>
                  <a:lnTo>
                    <a:pt x="0" y="17189"/>
                  </a:lnTo>
                  <a:close/>
                </a:path>
              </a:pathLst>
            </a:custGeom>
            <a:solidFill>
              <a:srgbClr val="F0FCF6"/>
            </a:solidFill>
          </p:spPr>
        </p:sp>
      </p:grpSp>
      <p:sp>
        <p:nvSpPr>
          <p:cNvPr name="TextBox 21" id="21"/>
          <p:cNvSpPr txBox="true"/>
          <p:nvPr/>
        </p:nvSpPr>
        <p:spPr>
          <a:xfrm rot="0">
            <a:off x="1825093" y="5967840"/>
            <a:ext cx="13894918" cy="1362710"/>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000000"/>
                </a:solidFill>
                <a:latin typeface="Roboto"/>
                <a:ea typeface="Roboto"/>
                <a:cs typeface="Roboto"/>
                <a:sym typeface="Roboto"/>
              </a:rPr>
              <a:t>Flink đọc dữ liệu giá realtime từ Kafka và hợp nhất các luồng dữ liệu.</a:t>
            </a:r>
          </a:p>
          <a:p>
            <a:pPr algn="l" marL="561341" indent="-280670" lvl="1">
              <a:lnSpc>
                <a:spcPts val="3640"/>
              </a:lnSpc>
              <a:buFont typeface="Arial"/>
              <a:buChar char="•"/>
            </a:pPr>
            <a:r>
              <a:rPr lang="en-US" sz="2600">
                <a:solidFill>
                  <a:srgbClr val="000000"/>
                </a:solidFill>
                <a:latin typeface="Roboto"/>
                <a:ea typeface="Roboto"/>
                <a:cs typeface="Roboto"/>
                <a:sym typeface="Roboto"/>
              </a:rPr>
              <a:t>Dữ liệu sau xử lý được lưu vào ClickHouse và ScyllaDB phục vụ dashboard và API realtime.</a:t>
            </a:r>
          </a:p>
          <a:p>
            <a:pPr algn="l" marL="561341" indent="-280670" lvl="1">
              <a:lnSpc>
                <a:spcPts val="3640"/>
              </a:lnSpc>
              <a:buFont typeface="Arial"/>
              <a:buChar char="•"/>
            </a:pPr>
            <a:r>
              <a:rPr lang="en-US" sz="2600">
                <a:solidFill>
                  <a:srgbClr val="000000"/>
                </a:solidFill>
                <a:latin typeface="Roboto"/>
                <a:ea typeface="Roboto"/>
                <a:cs typeface="Roboto"/>
                <a:sym typeface="Roboto"/>
              </a:rPr>
              <a:t>Hệ thống triển khai theo mô hình cluster giúp dễ mở rộng và tăng khả năng chịu tải.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238640" y="1338682"/>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5000396" y="671170"/>
            <a:ext cx="9620402" cy="632408"/>
            <a:chOff x="0" y="0"/>
            <a:chExt cx="12827203" cy="843211"/>
          </a:xfrm>
        </p:grpSpPr>
        <p:sp>
          <p:nvSpPr>
            <p:cNvPr name="Freeform 8" id="8"/>
            <p:cNvSpPr/>
            <p:nvPr/>
          </p:nvSpPr>
          <p:spPr>
            <a:xfrm flipH="false" flipV="false" rot="0">
              <a:off x="0" y="0"/>
              <a:ext cx="12827202" cy="843211"/>
            </a:xfrm>
            <a:custGeom>
              <a:avLst/>
              <a:gdLst/>
              <a:ahLst/>
              <a:cxnLst/>
              <a:rect r="r" b="b" t="t" l="l"/>
              <a:pathLst>
                <a:path h="843211" w="12827202">
                  <a:moveTo>
                    <a:pt x="0" y="0"/>
                  </a:moveTo>
                  <a:lnTo>
                    <a:pt x="12827202" y="0"/>
                  </a:lnTo>
                  <a:lnTo>
                    <a:pt x="12827202" y="843211"/>
                  </a:lnTo>
                  <a:lnTo>
                    <a:pt x="0" y="843211"/>
                  </a:lnTo>
                  <a:close/>
                </a:path>
              </a:pathLst>
            </a:custGeom>
            <a:blipFill>
              <a:blip r:embed="rId5">
                <a:alphaModFix amt="0"/>
              </a:blip>
              <a:stretch>
                <a:fillRect l="0" t="-254192" r="0" b="-238633"/>
              </a:stretch>
            </a:blipFill>
          </p:spPr>
        </p:sp>
        <p:sp>
          <p:nvSpPr>
            <p:cNvPr name="TextBox 9" id="9"/>
            <p:cNvSpPr txBox="true"/>
            <p:nvPr/>
          </p:nvSpPr>
          <p:spPr>
            <a:xfrm>
              <a:off x="0" y="-9525"/>
              <a:ext cx="12827203" cy="852736"/>
            </a:xfrm>
            <a:prstGeom prst="rect">
              <a:avLst/>
            </a:prstGeom>
          </p:spPr>
          <p:txBody>
            <a:bodyPr anchor="ctr" rtlCol="false" tIns="0" lIns="0" bIns="0" rIns="0"/>
            <a:lstStyle/>
            <a:p>
              <a:pPr algn="ctr">
                <a:lnSpc>
                  <a:spcPts val="3960"/>
                </a:lnSpc>
              </a:pPr>
              <a:r>
                <a:rPr lang="en-US" sz="3300" b="true">
                  <a:solidFill>
                    <a:srgbClr val="1A1F8E"/>
                  </a:solidFill>
                  <a:latin typeface="Roboto Bold"/>
                  <a:ea typeface="Roboto Bold"/>
                  <a:cs typeface="Roboto Bold"/>
                  <a:sym typeface="Roboto Bold"/>
                </a:rPr>
                <a:t>CLICKHOUSE &amp; SCYLLADB — TẦNG LƯU TRỮ</a:t>
              </a:r>
            </a:p>
          </p:txBody>
        </p:sp>
      </p:grpSp>
      <p:grpSp>
        <p:nvGrpSpPr>
          <p:cNvPr name="Group 10" id="10"/>
          <p:cNvGrpSpPr/>
          <p:nvPr/>
        </p:nvGrpSpPr>
        <p:grpSpPr>
          <a:xfrm rot="0">
            <a:off x="1548644" y="3200184"/>
            <a:ext cx="7239305" cy="498549"/>
            <a:chOff x="0" y="0"/>
            <a:chExt cx="9652406" cy="664732"/>
          </a:xfrm>
        </p:grpSpPr>
        <p:sp>
          <p:nvSpPr>
            <p:cNvPr name="Freeform 11" id="11"/>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5">
                <a:alphaModFix amt="0"/>
              </a:blip>
              <a:stretch>
                <a:fillRect l="0" t="-260927" r="0" b="-204946"/>
              </a:stretch>
            </a:blipFill>
          </p:spPr>
        </p:sp>
        <p:sp>
          <p:nvSpPr>
            <p:cNvPr name="TextBox 12" id="12"/>
            <p:cNvSpPr txBox="true"/>
            <p:nvPr/>
          </p:nvSpPr>
          <p:spPr>
            <a:xfrm>
              <a:off x="0" y="-9525"/>
              <a:ext cx="9652406" cy="674257"/>
            </a:xfrm>
            <a:prstGeom prst="rect">
              <a:avLst/>
            </a:prstGeom>
          </p:spPr>
          <p:txBody>
            <a:bodyPr anchor="ctr" rtlCol="false" tIns="0" lIns="0" bIns="0" rIns="0"/>
            <a:lstStyle/>
            <a:p>
              <a:pPr algn="l">
                <a:lnSpc>
                  <a:spcPts val="3119"/>
                </a:lnSpc>
              </a:pPr>
              <a:r>
                <a:rPr lang="en-US" b="true" sz="2599" spc="225">
                  <a:solidFill>
                    <a:srgbClr val="000000"/>
                  </a:solidFill>
                  <a:latin typeface="Roboto Bold"/>
                  <a:ea typeface="Roboto Bold"/>
                  <a:cs typeface="Roboto Bold"/>
                  <a:sym typeface="Roboto Bold"/>
                </a:rPr>
                <a:t>DATA WAREHOUSE • COLUMNAR OLAP</a:t>
              </a:r>
            </a:p>
          </p:txBody>
        </p:sp>
      </p:grpSp>
      <p:grpSp>
        <p:nvGrpSpPr>
          <p:cNvPr name="Group 13" id="13"/>
          <p:cNvGrpSpPr/>
          <p:nvPr/>
        </p:nvGrpSpPr>
        <p:grpSpPr>
          <a:xfrm rot="0">
            <a:off x="1219114" y="3803508"/>
            <a:ext cx="7924886" cy="3979499"/>
            <a:chOff x="0" y="0"/>
            <a:chExt cx="17181438" cy="8627697"/>
          </a:xfrm>
        </p:grpSpPr>
        <p:sp>
          <p:nvSpPr>
            <p:cNvPr name="Freeform 14" id="14"/>
            <p:cNvSpPr/>
            <p:nvPr/>
          </p:nvSpPr>
          <p:spPr>
            <a:xfrm flipH="false" flipV="false" rot="0">
              <a:off x="0" y="0"/>
              <a:ext cx="17181438" cy="8627723"/>
            </a:xfrm>
            <a:custGeom>
              <a:avLst/>
              <a:gdLst/>
              <a:ahLst/>
              <a:cxnLst/>
              <a:rect r="r" b="b" t="t" l="l"/>
              <a:pathLst>
                <a:path h="8627723" w="17181438">
                  <a:moveTo>
                    <a:pt x="0" y="41295"/>
                  </a:moveTo>
                  <a:cubicBezTo>
                    <a:pt x="0" y="18520"/>
                    <a:pt x="31151" y="0"/>
                    <a:pt x="69461" y="0"/>
                  </a:cubicBezTo>
                  <a:lnTo>
                    <a:pt x="17111977" y="0"/>
                  </a:lnTo>
                  <a:cubicBezTo>
                    <a:pt x="17150288" y="0"/>
                    <a:pt x="17181438" y="18520"/>
                    <a:pt x="17181438" y="41295"/>
                  </a:cubicBezTo>
                  <a:lnTo>
                    <a:pt x="17181438" y="8586426"/>
                  </a:lnTo>
                  <a:cubicBezTo>
                    <a:pt x="17181438" y="8609201"/>
                    <a:pt x="17150288" y="8627723"/>
                    <a:pt x="17111977" y="8627723"/>
                  </a:cubicBezTo>
                  <a:lnTo>
                    <a:pt x="69461" y="8627723"/>
                  </a:lnTo>
                  <a:cubicBezTo>
                    <a:pt x="31151" y="8627723"/>
                    <a:pt x="0" y="8609201"/>
                    <a:pt x="0" y="8586426"/>
                  </a:cubicBezTo>
                  <a:lnTo>
                    <a:pt x="0" y="41295"/>
                  </a:lnTo>
                  <a:close/>
                </a:path>
              </a:pathLst>
            </a:custGeom>
            <a:solidFill>
              <a:srgbClr val="F0FCF6"/>
            </a:solidFill>
          </p:spPr>
        </p:sp>
      </p:grpSp>
      <p:grpSp>
        <p:nvGrpSpPr>
          <p:cNvPr name="Group 15" id="15"/>
          <p:cNvGrpSpPr/>
          <p:nvPr/>
        </p:nvGrpSpPr>
        <p:grpSpPr>
          <a:xfrm rot="0">
            <a:off x="9810598" y="3200184"/>
            <a:ext cx="7239305" cy="498549"/>
            <a:chOff x="0" y="0"/>
            <a:chExt cx="9652406" cy="664732"/>
          </a:xfrm>
        </p:grpSpPr>
        <p:sp>
          <p:nvSpPr>
            <p:cNvPr name="Freeform 16" id="16"/>
            <p:cNvSpPr/>
            <p:nvPr/>
          </p:nvSpPr>
          <p:spPr>
            <a:xfrm flipH="false" flipV="false" rot="0">
              <a:off x="0" y="0"/>
              <a:ext cx="9652407" cy="664732"/>
            </a:xfrm>
            <a:custGeom>
              <a:avLst/>
              <a:gdLst/>
              <a:ahLst/>
              <a:cxnLst/>
              <a:rect r="r" b="b" t="t" l="l"/>
              <a:pathLst>
                <a:path h="664732" w="9652407">
                  <a:moveTo>
                    <a:pt x="0" y="0"/>
                  </a:moveTo>
                  <a:lnTo>
                    <a:pt x="9652407" y="0"/>
                  </a:lnTo>
                  <a:lnTo>
                    <a:pt x="9652407" y="664732"/>
                  </a:lnTo>
                  <a:lnTo>
                    <a:pt x="0" y="664732"/>
                  </a:lnTo>
                  <a:close/>
                </a:path>
              </a:pathLst>
            </a:custGeom>
            <a:blipFill>
              <a:blip r:embed="rId5">
                <a:alphaModFix amt="0"/>
              </a:blip>
              <a:stretch>
                <a:fillRect l="0" t="-260927" r="0" b="-204946"/>
              </a:stretch>
            </a:blipFill>
          </p:spPr>
        </p:sp>
        <p:sp>
          <p:nvSpPr>
            <p:cNvPr name="TextBox 17" id="17"/>
            <p:cNvSpPr txBox="true"/>
            <p:nvPr/>
          </p:nvSpPr>
          <p:spPr>
            <a:xfrm>
              <a:off x="0" y="-9525"/>
              <a:ext cx="9652406" cy="674257"/>
            </a:xfrm>
            <a:prstGeom prst="rect">
              <a:avLst/>
            </a:prstGeom>
          </p:spPr>
          <p:txBody>
            <a:bodyPr anchor="ctr" rtlCol="false" tIns="0" lIns="0" bIns="0" rIns="0"/>
            <a:lstStyle/>
            <a:p>
              <a:pPr algn="l">
                <a:lnSpc>
                  <a:spcPts val="3119"/>
                </a:lnSpc>
              </a:pPr>
              <a:r>
                <a:rPr lang="en-US" b="true" sz="2599" spc="225">
                  <a:solidFill>
                    <a:srgbClr val="000000"/>
                  </a:solidFill>
                  <a:latin typeface="Roboto Bold"/>
                  <a:ea typeface="Roboto Bold"/>
                  <a:cs typeface="Roboto Bold"/>
                  <a:sym typeface="Roboto Bold"/>
                </a:rPr>
                <a:t>NOSQL • WIDE-COLUMN • LOW-LATENCY</a:t>
              </a:r>
            </a:p>
          </p:txBody>
        </p:sp>
      </p:grpSp>
      <p:grpSp>
        <p:nvGrpSpPr>
          <p:cNvPr name="Group 18" id="18"/>
          <p:cNvGrpSpPr/>
          <p:nvPr/>
        </p:nvGrpSpPr>
        <p:grpSpPr>
          <a:xfrm rot="0">
            <a:off x="9627350" y="3803508"/>
            <a:ext cx="8357810" cy="3922349"/>
            <a:chOff x="0" y="0"/>
            <a:chExt cx="10790937" cy="5064224"/>
          </a:xfrm>
        </p:grpSpPr>
        <p:sp>
          <p:nvSpPr>
            <p:cNvPr name="Freeform 19" id="19"/>
            <p:cNvSpPr/>
            <p:nvPr/>
          </p:nvSpPr>
          <p:spPr>
            <a:xfrm flipH="false" flipV="false" rot="0">
              <a:off x="0" y="0"/>
              <a:ext cx="10790937" cy="5064250"/>
            </a:xfrm>
            <a:custGeom>
              <a:avLst/>
              <a:gdLst/>
              <a:ahLst/>
              <a:cxnLst/>
              <a:rect r="r" b="b" t="t" l="l"/>
              <a:pathLst>
                <a:path h="5064250" w="10790937">
                  <a:moveTo>
                    <a:pt x="0" y="24239"/>
                  </a:moveTo>
                  <a:cubicBezTo>
                    <a:pt x="0" y="10871"/>
                    <a:pt x="19565" y="0"/>
                    <a:pt x="43626" y="0"/>
                  </a:cubicBezTo>
                  <a:lnTo>
                    <a:pt x="10747311" y="0"/>
                  </a:lnTo>
                  <a:cubicBezTo>
                    <a:pt x="10771373" y="0"/>
                    <a:pt x="10790937" y="10871"/>
                    <a:pt x="10790937" y="24239"/>
                  </a:cubicBezTo>
                  <a:lnTo>
                    <a:pt x="10790937" y="5039998"/>
                  </a:lnTo>
                  <a:cubicBezTo>
                    <a:pt x="10790937" y="5053367"/>
                    <a:pt x="10771373" y="5064250"/>
                    <a:pt x="10747311" y="5064250"/>
                  </a:cubicBezTo>
                  <a:lnTo>
                    <a:pt x="43626" y="5064250"/>
                  </a:lnTo>
                  <a:cubicBezTo>
                    <a:pt x="19565" y="5064250"/>
                    <a:pt x="0" y="5053367"/>
                    <a:pt x="0" y="5039998"/>
                  </a:cubicBezTo>
                  <a:lnTo>
                    <a:pt x="0" y="24239"/>
                  </a:lnTo>
                  <a:close/>
                </a:path>
              </a:pathLst>
            </a:custGeom>
            <a:solidFill>
              <a:srgbClr val="FFF4F0"/>
            </a:solidFill>
          </p:spPr>
        </p:sp>
      </p:grpSp>
      <p:sp>
        <p:nvSpPr>
          <p:cNvPr name="Freeform 20" id="20"/>
          <p:cNvSpPr/>
          <p:nvPr/>
        </p:nvSpPr>
        <p:spPr>
          <a:xfrm flipH="false" flipV="false" rot="0">
            <a:off x="1152599" y="2146327"/>
            <a:ext cx="3168856" cy="950657"/>
          </a:xfrm>
          <a:custGeom>
            <a:avLst/>
            <a:gdLst/>
            <a:ahLst/>
            <a:cxnLst/>
            <a:rect r="r" b="b" t="t" l="l"/>
            <a:pathLst>
              <a:path h="950657" w="3168856">
                <a:moveTo>
                  <a:pt x="0" y="0"/>
                </a:moveTo>
                <a:lnTo>
                  <a:pt x="3168856" y="0"/>
                </a:lnTo>
                <a:lnTo>
                  <a:pt x="3168856" y="950657"/>
                </a:lnTo>
                <a:lnTo>
                  <a:pt x="0" y="950657"/>
                </a:lnTo>
                <a:lnTo>
                  <a:pt x="0" y="0"/>
                </a:lnTo>
                <a:close/>
              </a:path>
            </a:pathLst>
          </a:custGeom>
          <a:blipFill>
            <a:blip r:embed="rId6"/>
            <a:stretch>
              <a:fillRect l="0" t="0" r="0" b="0"/>
            </a:stretch>
          </a:blipFill>
        </p:spPr>
      </p:sp>
      <p:sp>
        <p:nvSpPr>
          <p:cNvPr name="Freeform 21" id="21"/>
          <p:cNvSpPr/>
          <p:nvPr/>
        </p:nvSpPr>
        <p:spPr>
          <a:xfrm flipH="false" flipV="false" rot="0">
            <a:off x="9627350" y="2209227"/>
            <a:ext cx="2472512" cy="824858"/>
          </a:xfrm>
          <a:custGeom>
            <a:avLst/>
            <a:gdLst/>
            <a:ahLst/>
            <a:cxnLst/>
            <a:rect r="r" b="b" t="t" l="l"/>
            <a:pathLst>
              <a:path h="824858" w="2472512">
                <a:moveTo>
                  <a:pt x="0" y="0"/>
                </a:moveTo>
                <a:lnTo>
                  <a:pt x="2472513" y="0"/>
                </a:lnTo>
                <a:lnTo>
                  <a:pt x="2472513" y="824857"/>
                </a:lnTo>
                <a:lnTo>
                  <a:pt x="0" y="824857"/>
                </a:lnTo>
                <a:lnTo>
                  <a:pt x="0" y="0"/>
                </a:lnTo>
                <a:close/>
              </a:path>
            </a:pathLst>
          </a:custGeom>
          <a:blipFill>
            <a:blip r:embed="rId7"/>
            <a:stretch>
              <a:fillRect l="0" t="-24090" r="0" b="-32049"/>
            </a:stretch>
          </a:blipFill>
        </p:spPr>
      </p:sp>
      <p:sp>
        <p:nvSpPr>
          <p:cNvPr name="TextBox 22" id="22"/>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23" id="23"/>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20</a:t>
            </a:r>
          </a:p>
        </p:txBody>
      </p:sp>
      <p:sp>
        <p:nvSpPr>
          <p:cNvPr name="TextBox 24" id="24"/>
          <p:cNvSpPr txBox="true"/>
          <p:nvPr/>
        </p:nvSpPr>
        <p:spPr>
          <a:xfrm rot="0">
            <a:off x="1648882" y="4224761"/>
            <a:ext cx="7312330" cy="2734310"/>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000000"/>
                </a:solidFill>
                <a:latin typeface="Roboto"/>
                <a:ea typeface="Roboto"/>
                <a:cs typeface="Roboto"/>
                <a:sym typeface="Roboto"/>
              </a:rPr>
              <a:t>Lưu trữ dữ liệu lịch sử giá cổ phiếu, OHLCV và các sự kiện biến động.</a:t>
            </a:r>
          </a:p>
          <a:p>
            <a:pPr algn="l" marL="561341" indent="-280670" lvl="1">
              <a:lnSpc>
                <a:spcPts val="3640"/>
              </a:lnSpc>
              <a:buFont typeface="Arial"/>
              <a:buChar char="•"/>
            </a:pPr>
            <a:r>
              <a:rPr lang="en-US" sz="2600">
                <a:solidFill>
                  <a:srgbClr val="000000"/>
                </a:solidFill>
                <a:latin typeface="Roboto"/>
                <a:ea typeface="Roboto"/>
                <a:cs typeface="Roboto"/>
                <a:sym typeface="Roboto"/>
              </a:rPr>
              <a:t>Tối ưu cho truy vấn phân tích khối lượng dữ liệu lớn với tốc độ cao.</a:t>
            </a:r>
          </a:p>
          <a:p>
            <a:pPr algn="l" marL="561341" indent="-280670" lvl="1">
              <a:lnSpc>
                <a:spcPts val="3640"/>
              </a:lnSpc>
              <a:buFont typeface="Arial"/>
              <a:buChar char="•"/>
            </a:pPr>
            <a:r>
              <a:rPr lang="en-US" sz="2600">
                <a:solidFill>
                  <a:srgbClr val="000000"/>
                </a:solidFill>
                <a:latin typeface="Roboto"/>
                <a:ea typeface="Roboto"/>
                <a:cs typeface="Roboto"/>
                <a:sym typeface="Roboto"/>
              </a:rPr>
              <a:t>Hỗ trợ dashboard phân tích và cung cấp feature cho mô hình ML.</a:t>
            </a:r>
          </a:p>
        </p:txBody>
      </p:sp>
      <p:sp>
        <p:nvSpPr>
          <p:cNvPr name="TextBox 25" id="25"/>
          <p:cNvSpPr txBox="true"/>
          <p:nvPr/>
        </p:nvSpPr>
        <p:spPr>
          <a:xfrm rot="0">
            <a:off x="10021585" y="4253336"/>
            <a:ext cx="7758664" cy="2520061"/>
          </a:xfrm>
          <a:prstGeom prst="rect">
            <a:avLst/>
          </a:prstGeom>
        </p:spPr>
        <p:txBody>
          <a:bodyPr anchor="t" rtlCol="false" tIns="0" lIns="0" bIns="0" rIns="0">
            <a:spAutoFit/>
          </a:bodyPr>
          <a:lstStyle/>
          <a:p>
            <a:pPr algn="l" marL="561334" indent="-280667" lvl="1">
              <a:lnSpc>
                <a:spcPts val="3301"/>
              </a:lnSpc>
              <a:buFont typeface="Arial"/>
              <a:buChar char="•"/>
            </a:pPr>
            <a:r>
              <a:rPr lang="en-US" sz="2599">
                <a:solidFill>
                  <a:srgbClr val="000000"/>
                </a:solidFill>
                <a:latin typeface="Roboto"/>
                <a:ea typeface="Roboto"/>
                <a:cs typeface="Roboto"/>
                <a:sym typeface="Roboto"/>
              </a:rPr>
              <a:t>Lưu dữ liệu realtime như giá hiện tại, tin tức và sentiment.</a:t>
            </a:r>
          </a:p>
          <a:p>
            <a:pPr algn="l" marL="561334" indent="-280667" lvl="1">
              <a:lnSpc>
                <a:spcPts val="3301"/>
              </a:lnSpc>
              <a:buFont typeface="Arial"/>
              <a:buChar char="•"/>
            </a:pPr>
            <a:r>
              <a:rPr lang="en-US" sz="2599">
                <a:solidFill>
                  <a:srgbClr val="000000"/>
                </a:solidFill>
                <a:latin typeface="Roboto"/>
                <a:ea typeface="Roboto"/>
                <a:cs typeface="Roboto"/>
                <a:sym typeface="Roboto"/>
              </a:rPr>
              <a:t>Tối ưu truy vấn độ trễ thấp phục vụ API và WebSocket realtime.</a:t>
            </a:r>
          </a:p>
          <a:p>
            <a:pPr algn="l" marL="561334" indent="-280667" lvl="1">
              <a:lnSpc>
                <a:spcPts val="3301"/>
              </a:lnSpc>
              <a:buFont typeface="Arial"/>
              <a:buChar char="•"/>
            </a:pPr>
            <a:r>
              <a:rPr lang="en-US" sz="2599">
                <a:solidFill>
                  <a:srgbClr val="000000"/>
                </a:solidFill>
                <a:latin typeface="Roboto"/>
                <a:ea typeface="Roboto"/>
                <a:cs typeface="Roboto"/>
                <a:sym typeface="Roboto"/>
              </a:rPr>
              <a:t>Hỗ trợ mở rộng hệ thống và đảm bảo tính ổn định khi tải cao.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25" b="0"/>
              </a:stretch>
            </a:blipFill>
          </p:spPr>
        </p:sp>
      </p:grpSp>
      <p:grpSp>
        <p:nvGrpSpPr>
          <p:cNvPr name="Group 4" id="4"/>
          <p:cNvGrpSpPr/>
          <p:nvPr/>
        </p:nvGrpSpPr>
        <p:grpSpPr>
          <a:xfrm rot="0">
            <a:off x="666598" y="495605"/>
            <a:ext cx="3448202" cy="981151"/>
            <a:chOff x="0" y="0"/>
            <a:chExt cx="4597603" cy="1308202"/>
          </a:xfrm>
        </p:grpSpPr>
        <p:sp>
          <p:nvSpPr>
            <p:cNvPr name="Freeform 5" id="5"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4"/>
              <a:stretch>
                <a:fillRect l="0" t="0" r="1" b="-117"/>
              </a:stretch>
            </a:blipFill>
          </p:spPr>
        </p:sp>
      </p:grpSp>
      <p:grpSp>
        <p:nvGrpSpPr>
          <p:cNvPr name="Group 6" id="6"/>
          <p:cNvGrpSpPr/>
          <p:nvPr/>
        </p:nvGrpSpPr>
        <p:grpSpPr>
          <a:xfrm rot="0">
            <a:off x="7808062" y="3238805"/>
            <a:ext cx="2677363" cy="715702"/>
            <a:chOff x="0" y="0"/>
            <a:chExt cx="3569818" cy="954269"/>
          </a:xfrm>
        </p:grpSpPr>
        <p:sp>
          <p:nvSpPr>
            <p:cNvPr name="Freeform 7" id="7"/>
            <p:cNvSpPr/>
            <p:nvPr/>
          </p:nvSpPr>
          <p:spPr>
            <a:xfrm flipH="false" flipV="false" rot="0">
              <a:off x="0" y="0"/>
              <a:ext cx="3569817" cy="954270"/>
            </a:xfrm>
            <a:custGeom>
              <a:avLst/>
              <a:gdLst/>
              <a:ahLst/>
              <a:cxnLst/>
              <a:rect r="r" b="b" t="t" l="l"/>
              <a:pathLst>
                <a:path h="954270" w="3569817">
                  <a:moveTo>
                    <a:pt x="0" y="0"/>
                  </a:moveTo>
                  <a:lnTo>
                    <a:pt x="3569817" y="0"/>
                  </a:lnTo>
                  <a:lnTo>
                    <a:pt x="3569817" y="954270"/>
                  </a:lnTo>
                  <a:lnTo>
                    <a:pt x="0" y="954270"/>
                  </a:lnTo>
                  <a:close/>
                </a:path>
              </a:pathLst>
            </a:custGeom>
            <a:blipFill>
              <a:blip r:embed="rId5">
                <a:alphaModFix amt="0"/>
              </a:blip>
              <a:stretch>
                <a:fillRect l="0" t="-30921" r="0" b="-14861"/>
              </a:stretch>
            </a:blipFill>
          </p:spPr>
        </p:sp>
        <p:sp>
          <p:nvSpPr>
            <p:cNvPr name="TextBox 8" id="8"/>
            <p:cNvSpPr txBox="true"/>
            <p:nvPr/>
          </p:nvSpPr>
          <p:spPr>
            <a:xfrm>
              <a:off x="0" y="0"/>
              <a:ext cx="3569818" cy="954269"/>
            </a:xfrm>
            <a:prstGeom prst="rect">
              <a:avLst/>
            </a:prstGeom>
          </p:spPr>
          <p:txBody>
            <a:bodyPr anchor="ctr" rtlCol="false" tIns="0" lIns="0" bIns="0" rIns="0"/>
            <a:lstStyle/>
            <a:p>
              <a:pPr algn="ctr">
                <a:lnSpc>
                  <a:spcPts val="4440"/>
                </a:lnSpc>
              </a:pPr>
              <a:r>
                <a:rPr lang="en-US" b="true" sz="3700" spc="600">
                  <a:solidFill>
                    <a:srgbClr val="F5B82E"/>
                  </a:solidFill>
                  <a:latin typeface="Roboto Bold"/>
                  <a:ea typeface="Roboto Bold"/>
                  <a:cs typeface="Roboto Bold"/>
                  <a:sym typeface="Roboto Bold"/>
                </a:rPr>
                <a:t>PHẦN 04</a:t>
              </a:r>
            </a:p>
          </p:txBody>
        </p:sp>
      </p:grpSp>
      <p:grpSp>
        <p:nvGrpSpPr>
          <p:cNvPr name="Group 9" id="9"/>
          <p:cNvGrpSpPr/>
          <p:nvPr/>
        </p:nvGrpSpPr>
        <p:grpSpPr>
          <a:xfrm rot="0">
            <a:off x="3784198" y="4631792"/>
            <a:ext cx="11894650" cy="1588467"/>
            <a:chOff x="0" y="0"/>
            <a:chExt cx="15859533" cy="2117957"/>
          </a:xfrm>
        </p:grpSpPr>
        <p:sp>
          <p:nvSpPr>
            <p:cNvPr name="Freeform 10" id="10"/>
            <p:cNvSpPr/>
            <p:nvPr/>
          </p:nvSpPr>
          <p:spPr>
            <a:xfrm flipH="false" flipV="false" rot="0">
              <a:off x="0" y="0"/>
              <a:ext cx="15859533" cy="2117956"/>
            </a:xfrm>
            <a:custGeom>
              <a:avLst/>
              <a:gdLst/>
              <a:ahLst/>
              <a:cxnLst/>
              <a:rect r="r" b="b" t="t" l="l"/>
              <a:pathLst>
                <a:path h="2117956" w="15859533">
                  <a:moveTo>
                    <a:pt x="0" y="0"/>
                  </a:moveTo>
                  <a:lnTo>
                    <a:pt x="15859533" y="0"/>
                  </a:lnTo>
                  <a:lnTo>
                    <a:pt x="15859533" y="2117956"/>
                  </a:lnTo>
                  <a:lnTo>
                    <a:pt x="0" y="2117956"/>
                  </a:lnTo>
                  <a:close/>
                </a:path>
              </a:pathLst>
            </a:custGeom>
            <a:blipFill>
              <a:blip r:embed="rId5">
                <a:alphaModFix amt="0"/>
              </a:blip>
              <a:stretch>
                <a:fillRect l="0" t="-74582" r="20319" b="-57936"/>
              </a:stretch>
            </a:blipFill>
          </p:spPr>
        </p:sp>
        <p:sp>
          <p:nvSpPr>
            <p:cNvPr name="TextBox 11" id="11"/>
            <p:cNvSpPr txBox="true"/>
            <p:nvPr/>
          </p:nvSpPr>
          <p:spPr>
            <a:xfrm>
              <a:off x="0" y="0"/>
              <a:ext cx="15859533" cy="2117957"/>
            </a:xfrm>
            <a:prstGeom prst="rect">
              <a:avLst/>
            </a:prstGeom>
          </p:spPr>
          <p:txBody>
            <a:bodyPr anchor="ctr" rtlCol="false" tIns="0" lIns="0" bIns="0" rIns="0"/>
            <a:lstStyle/>
            <a:p>
              <a:pPr algn="ctr">
                <a:lnSpc>
                  <a:spcPts val="9840"/>
                </a:lnSpc>
              </a:pPr>
              <a:r>
                <a:rPr lang="en-US" b="true" sz="8200" spc="150">
                  <a:solidFill>
                    <a:srgbClr val="FFFFFF"/>
                  </a:solidFill>
                  <a:latin typeface="Roboto Bold"/>
                  <a:ea typeface="Roboto Bold"/>
                  <a:cs typeface="Roboto Bold"/>
                  <a:sym typeface="Roboto Bold"/>
                </a:rPr>
                <a:t>KẾT QUẢ HIỆN THỰC</a:t>
              </a:r>
            </a:p>
          </p:txBody>
        </p:sp>
      </p:grpSp>
      <p:grpSp>
        <p:nvGrpSpPr>
          <p:cNvPr name="Group 12" id="12"/>
          <p:cNvGrpSpPr/>
          <p:nvPr/>
        </p:nvGrpSpPr>
        <p:grpSpPr>
          <a:xfrm rot="0">
            <a:off x="387706" y="9620402"/>
            <a:ext cx="372161" cy="424780"/>
            <a:chOff x="0" y="0"/>
            <a:chExt cx="496214" cy="566374"/>
          </a:xfrm>
        </p:grpSpPr>
        <p:sp>
          <p:nvSpPr>
            <p:cNvPr name="Freeform 13" id="13"/>
            <p:cNvSpPr/>
            <p:nvPr/>
          </p:nvSpPr>
          <p:spPr>
            <a:xfrm flipH="false" flipV="false" rot="0">
              <a:off x="0" y="0"/>
              <a:ext cx="496215" cy="566373"/>
            </a:xfrm>
            <a:custGeom>
              <a:avLst/>
              <a:gdLst/>
              <a:ahLst/>
              <a:cxnLst/>
              <a:rect r="r" b="b" t="t" l="l"/>
              <a:pathLst>
                <a:path h="566373" w="496215">
                  <a:moveTo>
                    <a:pt x="0" y="0"/>
                  </a:moveTo>
                  <a:lnTo>
                    <a:pt x="496215" y="0"/>
                  </a:lnTo>
                  <a:lnTo>
                    <a:pt x="496215" y="566373"/>
                  </a:lnTo>
                  <a:lnTo>
                    <a:pt x="0" y="566373"/>
                  </a:lnTo>
                  <a:close/>
                </a:path>
              </a:pathLst>
            </a:custGeom>
            <a:blipFill>
              <a:blip r:embed="rId5">
                <a:alphaModFix amt="0"/>
              </a:blip>
              <a:stretch>
                <a:fillRect l="-74835" t="0" r="-74835" b="14755"/>
              </a:stretch>
            </a:blipFill>
          </p:spPr>
        </p:sp>
        <p:sp>
          <p:nvSpPr>
            <p:cNvPr name="TextBox 14" id="14"/>
            <p:cNvSpPr txBox="true"/>
            <p:nvPr/>
          </p:nvSpPr>
          <p:spPr>
            <a:xfrm>
              <a:off x="0" y="-9525"/>
              <a:ext cx="496214"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28</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Freeform 5" id="5"/>
          <p:cNvSpPr/>
          <p:nvPr/>
        </p:nvSpPr>
        <p:spPr>
          <a:xfrm flipH="false" flipV="false" rot="0">
            <a:off x="382077" y="2269460"/>
            <a:ext cx="12655580" cy="6153776"/>
          </a:xfrm>
          <a:custGeom>
            <a:avLst/>
            <a:gdLst/>
            <a:ahLst/>
            <a:cxnLst/>
            <a:rect r="r" b="b" t="t" l="l"/>
            <a:pathLst>
              <a:path h="6153776" w="12655580">
                <a:moveTo>
                  <a:pt x="0" y="0"/>
                </a:moveTo>
                <a:lnTo>
                  <a:pt x="12655580" y="0"/>
                </a:lnTo>
                <a:lnTo>
                  <a:pt x="12655580" y="6153775"/>
                </a:lnTo>
                <a:lnTo>
                  <a:pt x="0" y="6153775"/>
                </a:lnTo>
                <a:lnTo>
                  <a:pt x="0" y="0"/>
                </a:lnTo>
                <a:close/>
              </a:path>
            </a:pathLst>
          </a:custGeom>
          <a:blipFill>
            <a:blip r:embed="rId4"/>
            <a:stretch>
              <a:fillRect l="0" t="0" r="0" b="0"/>
            </a:stretch>
          </a:blipFill>
        </p:spPr>
      </p:sp>
      <p:sp>
        <p:nvSpPr>
          <p:cNvPr name="TextBox 6" id="6"/>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7" id="7"/>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22</a:t>
            </a:r>
          </a:p>
        </p:txBody>
      </p:sp>
      <p:grpSp>
        <p:nvGrpSpPr>
          <p:cNvPr name="Group 8" id="8"/>
          <p:cNvGrpSpPr/>
          <p:nvPr/>
        </p:nvGrpSpPr>
        <p:grpSpPr>
          <a:xfrm rot="0">
            <a:off x="13162367" y="1563173"/>
            <a:ext cx="4873554" cy="6952500"/>
            <a:chOff x="0" y="0"/>
            <a:chExt cx="6498072" cy="9269999"/>
          </a:xfrm>
        </p:grpSpPr>
        <p:sp>
          <p:nvSpPr>
            <p:cNvPr name="Freeform 9" id="9"/>
            <p:cNvSpPr/>
            <p:nvPr/>
          </p:nvSpPr>
          <p:spPr>
            <a:xfrm flipH="false" flipV="false" rot="0">
              <a:off x="11869" y="7949"/>
              <a:ext cx="6474280" cy="9254184"/>
            </a:xfrm>
            <a:custGeom>
              <a:avLst/>
              <a:gdLst/>
              <a:ahLst/>
              <a:cxnLst/>
              <a:rect r="r" b="b" t="t" l="l"/>
              <a:pathLst>
                <a:path h="9254184" w="6474280">
                  <a:moveTo>
                    <a:pt x="180" y="88745"/>
                  </a:moveTo>
                  <a:cubicBezTo>
                    <a:pt x="180" y="39746"/>
                    <a:pt x="60245" y="0"/>
                    <a:pt x="134338" y="0"/>
                  </a:cubicBezTo>
                  <a:lnTo>
                    <a:pt x="6339943" y="0"/>
                  </a:lnTo>
                  <a:cubicBezTo>
                    <a:pt x="6414035" y="0"/>
                    <a:pt x="6474280" y="39746"/>
                    <a:pt x="6474280" y="88745"/>
                  </a:cubicBezTo>
                  <a:lnTo>
                    <a:pt x="6474280" y="9165439"/>
                  </a:lnTo>
                  <a:cubicBezTo>
                    <a:pt x="6474280" y="9214439"/>
                    <a:pt x="6414215" y="9254184"/>
                    <a:pt x="6339943" y="9254184"/>
                  </a:cubicBezTo>
                  <a:lnTo>
                    <a:pt x="134338" y="9254184"/>
                  </a:lnTo>
                  <a:cubicBezTo>
                    <a:pt x="60245" y="9254184"/>
                    <a:pt x="0" y="9214439"/>
                    <a:pt x="0" y="9165439"/>
                  </a:cubicBezTo>
                  <a:lnTo>
                    <a:pt x="180" y="88745"/>
                  </a:lnTo>
                  <a:close/>
                </a:path>
              </a:pathLst>
            </a:custGeom>
            <a:solidFill>
              <a:srgbClr val="F4F6FF"/>
            </a:solidFill>
          </p:spPr>
        </p:sp>
      </p:grpSp>
      <p:grpSp>
        <p:nvGrpSpPr>
          <p:cNvPr name="Group 10" id="10"/>
          <p:cNvGrpSpPr/>
          <p:nvPr/>
        </p:nvGrpSpPr>
        <p:grpSpPr>
          <a:xfrm rot="0">
            <a:off x="8553298" y="1285646"/>
            <a:ext cx="1143000" cy="47549"/>
            <a:chOff x="0" y="0"/>
            <a:chExt cx="1524000" cy="63398"/>
          </a:xfrm>
        </p:grpSpPr>
        <p:sp>
          <p:nvSpPr>
            <p:cNvPr name="Freeform 11" id="11"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5"/>
              <a:stretch>
                <a:fillRect l="80" t="0" r="79" b="-40"/>
              </a:stretch>
            </a:blipFill>
          </p:spPr>
        </p:sp>
      </p:grpSp>
      <p:grpSp>
        <p:nvGrpSpPr>
          <p:cNvPr name="Group 12" id="12"/>
          <p:cNvGrpSpPr/>
          <p:nvPr/>
        </p:nvGrpSpPr>
        <p:grpSpPr>
          <a:xfrm rot="0">
            <a:off x="6709867" y="666598"/>
            <a:ext cx="4839005" cy="595523"/>
            <a:chOff x="0" y="0"/>
            <a:chExt cx="6452006" cy="794031"/>
          </a:xfrm>
        </p:grpSpPr>
        <p:sp>
          <p:nvSpPr>
            <p:cNvPr name="Freeform 13" id="13"/>
            <p:cNvSpPr/>
            <p:nvPr/>
          </p:nvSpPr>
          <p:spPr>
            <a:xfrm flipH="false" flipV="false" rot="0">
              <a:off x="0" y="0"/>
              <a:ext cx="6452007" cy="794031"/>
            </a:xfrm>
            <a:custGeom>
              <a:avLst/>
              <a:gdLst/>
              <a:ahLst/>
              <a:cxnLst/>
              <a:rect r="r" b="b" t="t" l="l"/>
              <a:pathLst>
                <a:path h="794031" w="6452007">
                  <a:moveTo>
                    <a:pt x="0" y="0"/>
                  </a:moveTo>
                  <a:lnTo>
                    <a:pt x="6452007" y="0"/>
                  </a:lnTo>
                  <a:lnTo>
                    <a:pt x="6452007" y="794031"/>
                  </a:lnTo>
                  <a:lnTo>
                    <a:pt x="0" y="794031"/>
                  </a:lnTo>
                  <a:close/>
                </a:path>
              </a:pathLst>
            </a:custGeom>
            <a:blipFill>
              <a:blip r:embed="rId6">
                <a:alphaModFix amt="0"/>
              </a:blip>
              <a:stretch>
                <a:fillRect l="0" t="-115872" r="0" b="-100783"/>
              </a:stretch>
            </a:blipFill>
          </p:spPr>
        </p:sp>
        <p:sp>
          <p:nvSpPr>
            <p:cNvPr name="TextBox 14" id="14"/>
            <p:cNvSpPr txBox="true"/>
            <p:nvPr/>
          </p:nvSpPr>
          <p:spPr>
            <a:xfrm>
              <a:off x="0" y="-19050"/>
              <a:ext cx="645200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DASHBOARD REALTIME</a:t>
              </a:r>
            </a:p>
          </p:txBody>
        </p:sp>
      </p:grpSp>
      <p:grpSp>
        <p:nvGrpSpPr>
          <p:cNvPr name="Group 15" id="15"/>
          <p:cNvGrpSpPr/>
          <p:nvPr/>
        </p:nvGrpSpPr>
        <p:grpSpPr>
          <a:xfrm rot="0">
            <a:off x="14480921" y="1725110"/>
            <a:ext cx="3048610" cy="341486"/>
            <a:chOff x="0" y="0"/>
            <a:chExt cx="4064813" cy="455315"/>
          </a:xfrm>
        </p:grpSpPr>
        <p:sp>
          <p:nvSpPr>
            <p:cNvPr name="Freeform 16" id="16"/>
            <p:cNvSpPr/>
            <p:nvPr/>
          </p:nvSpPr>
          <p:spPr>
            <a:xfrm flipH="false" flipV="false" rot="0">
              <a:off x="0" y="0"/>
              <a:ext cx="4064814" cy="455315"/>
            </a:xfrm>
            <a:custGeom>
              <a:avLst/>
              <a:gdLst/>
              <a:ahLst/>
              <a:cxnLst/>
              <a:rect r="r" b="b" t="t" l="l"/>
              <a:pathLst>
                <a:path h="455315" w="4064814">
                  <a:moveTo>
                    <a:pt x="0" y="0"/>
                  </a:moveTo>
                  <a:lnTo>
                    <a:pt x="4064814" y="0"/>
                  </a:lnTo>
                  <a:lnTo>
                    <a:pt x="4064814" y="455315"/>
                  </a:lnTo>
                  <a:lnTo>
                    <a:pt x="0" y="455315"/>
                  </a:lnTo>
                  <a:close/>
                </a:path>
              </a:pathLst>
            </a:custGeom>
            <a:blipFill>
              <a:blip r:embed="rId6">
                <a:alphaModFix amt="0"/>
              </a:blip>
              <a:stretch>
                <a:fillRect l="0" t="-132046" r="0" b="-115858"/>
              </a:stretch>
            </a:blipFill>
          </p:spPr>
        </p:sp>
        <p:sp>
          <p:nvSpPr>
            <p:cNvPr name="TextBox 17" id="17"/>
            <p:cNvSpPr txBox="true"/>
            <p:nvPr/>
          </p:nvSpPr>
          <p:spPr>
            <a:xfrm>
              <a:off x="0" y="-9525"/>
              <a:ext cx="4064813" cy="464840"/>
            </a:xfrm>
            <a:prstGeom prst="rect">
              <a:avLst/>
            </a:prstGeom>
          </p:spPr>
          <p:txBody>
            <a:bodyPr anchor="ctr" rtlCol="false" tIns="0" lIns="0" bIns="0" rIns="0"/>
            <a:lstStyle/>
            <a:p>
              <a:pPr algn="l">
                <a:lnSpc>
                  <a:spcPts val="2160"/>
                </a:lnSpc>
              </a:pPr>
              <a:r>
                <a:rPr lang="en-US" sz="1800" b="true">
                  <a:solidFill>
                    <a:srgbClr val="1A1F8E"/>
                  </a:solidFill>
                  <a:latin typeface="Roboto Bold"/>
                  <a:ea typeface="Roboto Bold"/>
                  <a:cs typeface="Roboto Bold"/>
                  <a:sym typeface="Roboto Bold"/>
                </a:rPr>
                <a:t>CÁC THÀNH PHẦN</a:t>
              </a:r>
            </a:p>
          </p:txBody>
        </p:sp>
      </p:grpSp>
      <p:sp>
        <p:nvSpPr>
          <p:cNvPr name="TextBox 18" id="18"/>
          <p:cNvSpPr txBox="true"/>
          <p:nvPr/>
        </p:nvSpPr>
        <p:spPr>
          <a:xfrm rot="0">
            <a:off x="13415014" y="2305050"/>
            <a:ext cx="4387553" cy="566737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000000"/>
                </a:solidFill>
                <a:latin typeface="Roboto"/>
                <a:ea typeface="Roboto"/>
                <a:cs typeface="Roboto"/>
                <a:sym typeface="Roboto"/>
              </a:rPr>
              <a:t>MÃ: Mã cổ phiếu (ví dụ: AAPL, ABBV)</a:t>
            </a:r>
          </a:p>
          <a:p>
            <a:pPr algn="l" marL="453390" indent="-226695" lvl="1">
              <a:lnSpc>
                <a:spcPts val="2520"/>
              </a:lnSpc>
              <a:buFont typeface="Arial"/>
              <a:buChar char="•"/>
            </a:pPr>
            <a:r>
              <a:rPr lang="en-US" sz="2100">
                <a:solidFill>
                  <a:srgbClr val="000000"/>
                </a:solidFill>
                <a:latin typeface="Roboto"/>
                <a:ea typeface="Roboto"/>
                <a:cs typeface="Roboto"/>
                <a:sym typeface="Roboto"/>
              </a:rPr>
              <a:t>TÊN CÔNG TY: Tên đầy đủ công ty</a:t>
            </a:r>
          </a:p>
          <a:p>
            <a:pPr algn="l" marL="453390" indent="-226695" lvl="1">
              <a:lnSpc>
                <a:spcPts val="2520"/>
              </a:lnSpc>
              <a:buFont typeface="Arial"/>
              <a:buChar char="•"/>
            </a:pPr>
            <a:r>
              <a:rPr lang="en-US" sz="2100">
                <a:solidFill>
                  <a:srgbClr val="000000"/>
                </a:solidFill>
                <a:latin typeface="Roboto"/>
                <a:ea typeface="Roboto"/>
                <a:cs typeface="Roboto"/>
                <a:sym typeface="Roboto"/>
              </a:rPr>
              <a:t>GIÁ: Giá hiện tại</a:t>
            </a:r>
          </a:p>
          <a:p>
            <a:pPr algn="l" marL="453390" indent="-226695" lvl="1">
              <a:lnSpc>
                <a:spcPts val="2520"/>
              </a:lnSpc>
              <a:buFont typeface="Arial"/>
              <a:buChar char="•"/>
            </a:pPr>
            <a:r>
              <a:rPr lang="en-US" sz="2100">
                <a:solidFill>
                  <a:srgbClr val="000000"/>
                </a:solidFill>
                <a:latin typeface="Roboto"/>
                <a:ea typeface="Roboto"/>
                <a:cs typeface="Roboto"/>
                <a:sym typeface="Roboto"/>
              </a:rPr>
              <a:t>THAY ĐỔI: Biến động tuyệt đối</a:t>
            </a:r>
          </a:p>
          <a:p>
            <a:pPr algn="l" marL="453390" indent="-226695" lvl="1">
              <a:lnSpc>
                <a:spcPts val="2520"/>
              </a:lnSpc>
              <a:buFont typeface="Arial"/>
              <a:buChar char="•"/>
            </a:pPr>
            <a:r>
              <a:rPr lang="en-US" sz="2100">
                <a:solidFill>
                  <a:srgbClr val="000000"/>
                </a:solidFill>
                <a:latin typeface="Roboto"/>
                <a:ea typeface="Roboto"/>
                <a:cs typeface="Roboto"/>
                <a:sym typeface="Roboto"/>
              </a:rPr>
              <a:t>%: Biến động theo phần trăm</a:t>
            </a:r>
          </a:p>
          <a:p>
            <a:pPr algn="l" marL="453390" indent="-226695" lvl="1">
              <a:lnSpc>
                <a:spcPts val="2520"/>
              </a:lnSpc>
              <a:buFont typeface="Arial"/>
              <a:buChar char="•"/>
            </a:pPr>
            <a:r>
              <a:rPr lang="en-US" sz="2100">
                <a:solidFill>
                  <a:srgbClr val="000000"/>
                </a:solidFill>
                <a:latin typeface="Roboto"/>
                <a:ea typeface="Roboto"/>
                <a:cs typeface="Roboto"/>
                <a:sym typeface="Roboto"/>
              </a:rPr>
              <a:t>BOCPD: Trạng thái mã (Stable, Whale, …)</a:t>
            </a:r>
          </a:p>
          <a:p>
            <a:pPr algn="l" marL="453390" indent="-226695" lvl="1">
              <a:lnSpc>
                <a:spcPts val="2520"/>
              </a:lnSpc>
              <a:buFont typeface="Arial"/>
              <a:buChar char="•"/>
            </a:pPr>
            <a:r>
              <a:rPr lang="en-US" sz="2100">
                <a:solidFill>
                  <a:srgbClr val="000000"/>
                </a:solidFill>
                <a:latin typeface="Roboto"/>
                <a:ea typeface="Roboto"/>
                <a:cs typeface="Roboto"/>
                <a:sym typeface="Roboto"/>
              </a:rPr>
              <a:t>MỞ CỬA: Giá mở cửa</a:t>
            </a:r>
          </a:p>
          <a:p>
            <a:pPr algn="l" marL="453390" indent="-226695" lvl="1">
              <a:lnSpc>
                <a:spcPts val="2520"/>
              </a:lnSpc>
              <a:buFont typeface="Arial"/>
              <a:buChar char="•"/>
            </a:pPr>
            <a:r>
              <a:rPr lang="en-US" sz="2100">
                <a:solidFill>
                  <a:srgbClr val="000000"/>
                </a:solidFill>
                <a:latin typeface="Roboto"/>
                <a:ea typeface="Roboto"/>
                <a:cs typeface="Roboto"/>
                <a:sym typeface="Roboto"/>
              </a:rPr>
              <a:t>CAO / THẤP: Giá cao nhất / thấp nhất trong phiên</a:t>
            </a:r>
          </a:p>
          <a:p>
            <a:pPr algn="l" marL="453390" indent="-226695" lvl="1">
              <a:lnSpc>
                <a:spcPts val="2520"/>
              </a:lnSpc>
              <a:buFont typeface="Arial"/>
              <a:buChar char="•"/>
            </a:pPr>
            <a:r>
              <a:rPr lang="en-US" sz="2100">
                <a:solidFill>
                  <a:srgbClr val="000000"/>
                </a:solidFill>
                <a:latin typeface="Roboto"/>
                <a:ea typeface="Roboto"/>
                <a:cs typeface="Roboto"/>
                <a:sym typeface="Roboto"/>
              </a:rPr>
              <a:t>KL: Khối lượng giao dịch</a:t>
            </a:r>
          </a:p>
          <a:p>
            <a:pPr algn="l" marL="453390" indent="-226695" lvl="1">
              <a:lnSpc>
                <a:spcPts val="2520"/>
              </a:lnSpc>
              <a:buFont typeface="Arial"/>
              <a:buChar char="•"/>
            </a:pPr>
            <a:r>
              <a:rPr lang="en-US" sz="2100">
                <a:solidFill>
                  <a:srgbClr val="000000"/>
                </a:solidFill>
                <a:latin typeface="Roboto"/>
                <a:ea typeface="Roboto"/>
                <a:cs typeface="Roboto"/>
                <a:sym typeface="Roboto"/>
              </a:rPr>
              <a:t>VWAP: Giá trung bình theo khối lượng</a:t>
            </a:r>
          </a:p>
          <a:p>
            <a:pPr algn="l" marL="453390" indent="-226695" lvl="1">
              <a:lnSpc>
                <a:spcPts val="2520"/>
              </a:lnSpc>
              <a:buFont typeface="Arial"/>
              <a:buChar char="•"/>
            </a:pPr>
            <a:r>
              <a:rPr lang="en-US" sz="2100">
                <a:solidFill>
                  <a:srgbClr val="000000"/>
                </a:solidFill>
                <a:latin typeface="Roboto"/>
                <a:ea typeface="Roboto"/>
                <a:cs typeface="Roboto"/>
                <a:sym typeface="Roboto"/>
              </a:rPr>
              <a:t>THỜI GIAN: Cập nhật giá</a:t>
            </a:r>
          </a:p>
          <a:p>
            <a:pPr algn="l" marL="453390" indent="-226695" lvl="1">
              <a:lnSpc>
                <a:spcPts val="2520"/>
              </a:lnSpc>
              <a:buFont typeface="Arial"/>
              <a:buChar char="•"/>
            </a:pPr>
            <a:r>
              <a:rPr lang="en-US" sz="2100">
                <a:solidFill>
                  <a:srgbClr val="000000"/>
                </a:solidFill>
                <a:latin typeface="Roboto"/>
                <a:ea typeface="Roboto"/>
                <a:cs typeface="Roboto"/>
                <a:sym typeface="Roboto"/>
              </a:rPr>
              <a:t>QUAN TÂM: Nút đánh dấu theo dõi cổ phiếu</a:t>
            </a:r>
          </a:p>
        </p:txBody>
      </p:sp>
      <p:grpSp>
        <p:nvGrpSpPr>
          <p:cNvPr name="Group 19" id="19"/>
          <p:cNvGrpSpPr/>
          <p:nvPr/>
        </p:nvGrpSpPr>
        <p:grpSpPr>
          <a:xfrm rot="0">
            <a:off x="382077" y="1683462"/>
            <a:ext cx="4763110" cy="424780"/>
            <a:chOff x="0" y="0"/>
            <a:chExt cx="6350813" cy="566374"/>
          </a:xfrm>
        </p:grpSpPr>
        <p:sp>
          <p:nvSpPr>
            <p:cNvPr name="Freeform 20" id="20"/>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6">
                <a:alphaModFix amt="0"/>
              </a:blip>
              <a:stretch>
                <a:fillRect l="0" t="-181462" r="0" b="-155513"/>
              </a:stretch>
            </a:blipFill>
          </p:spPr>
        </p:sp>
        <p:sp>
          <p:nvSpPr>
            <p:cNvPr name="TextBox 21" id="21"/>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Tổng hợp mã cổ phiếu</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13162367" y="1284228"/>
            <a:ext cx="4974084" cy="7011994"/>
            <a:chOff x="0" y="0"/>
            <a:chExt cx="6632112" cy="9349325"/>
          </a:xfrm>
        </p:grpSpPr>
        <p:sp>
          <p:nvSpPr>
            <p:cNvPr name="Freeform 6" id="6"/>
            <p:cNvSpPr/>
            <p:nvPr/>
          </p:nvSpPr>
          <p:spPr>
            <a:xfrm flipH="false" flipV="false" rot="0">
              <a:off x="12114" y="8017"/>
              <a:ext cx="6607828" cy="9333375"/>
            </a:xfrm>
            <a:custGeom>
              <a:avLst/>
              <a:gdLst/>
              <a:ahLst/>
              <a:cxnLst/>
              <a:rect r="r" b="b" t="t" l="l"/>
              <a:pathLst>
                <a:path h="9333375" w="6607828">
                  <a:moveTo>
                    <a:pt x="184" y="89505"/>
                  </a:moveTo>
                  <a:cubicBezTo>
                    <a:pt x="184" y="40086"/>
                    <a:pt x="61488" y="0"/>
                    <a:pt x="137109" y="0"/>
                  </a:cubicBezTo>
                  <a:lnTo>
                    <a:pt x="6470720" y="0"/>
                  </a:lnTo>
                  <a:cubicBezTo>
                    <a:pt x="6546341" y="0"/>
                    <a:pt x="6607828" y="40086"/>
                    <a:pt x="6607828" y="89505"/>
                  </a:cubicBezTo>
                  <a:lnTo>
                    <a:pt x="6607828" y="9243870"/>
                  </a:lnTo>
                  <a:cubicBezTo>
                    <a:pt x="6607828" y="9293290"/>
                    <a:pt x="6546524" y="9333375"/>
                    <a:pt x="6470720" y="9333375"/>
                  </a:cubicBezTo>
                  <a:lnTo>
                    <a:pt x="137109" y="9333375"/>
                  </a:lnTo>
                  <a:cubicBezTo>
                    <a:pt x="61488" y="9333375"/>
                    <a:pt x="0" y="9293290"/>
                    <a:pt x="0" y="9243870"/>
                  </a:cubicBezTo>
                  <a:lnTo>
                    <a:pt x="184" y="89505"/>
                  </a:lnTo>
                  <a:close/>
                </a:path>
              </a:pathLst>
            </a:custGeom>
            <a:solidFill>
              <a:srgbClr val="F4F6FF"/>
            </a:solidFill>
          </p:spPr>
        </p:sp>
      </p:grpSp>
      <p:grpSp>
        <p:nvGrpSpPr>
          <p:cNvPr name="Group 7" id="7"/>
          <p:cNvGrpSpPr/>
          <p:nvPr/>
        </p:nvGrpSpPr>
        <p:grpSpPr>
          <a:xfrm rot="0">
            <a:off x="9071203" y="1097451"/>
            <a:ext cx="1143000" cy="47549"/>
            <a:chOff x="0" y="0"/>
            <a:chExt cx="1524000" cy="63398"/>
          </a:xfrm>
        </p:grpSpPr>
        <p:sp>
          <p:nvSpPr>
            <p:cNvPr name="Freeform 8" id="8"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9" id="9"/>
          <p:cNvGrpSpPr/>
          <p:nvPr/>
        </p:nvGrpSpPr>
        <p:grpSpPr>
          <a:xfrm rot="0">
            <a:off x="7227773" y="478403"/>
            <a:ext cx="4839005" cy="595523"/>
            <a:chOff x="0" y="0"/>
            <a:chExt cx="6452006" cy="794031"/>
          </a:xfrm>
        </p:grpSpPr>
        <p:sp>
          <p:nvSpPr>
            <p:cNvPr name="Freeform 10" id="10"/>
            <p:cNvSpPr/>
            <p:nvPr/>
          </p:nvSpPr>
          <p:spPr>
            <a:xfrm flipH="false" flipV="false" rot="0">
              <a:off x="0" y="0"/>
              <a:ext cx="6452007" cy="794031"/>
            </a:xfrm>
            <a:custGeom>
              <a:avLst/>
              <a:gdLst/>
              <a:ahLst/>
              <a:cxnLst/>
              <a:rect r="r" b="b" t="t" l="l"/>
              <a:pathLst>
                <a:path h="794031" w="6452007">
                  <a:moveTo>
                    <a:pt x="0" y="0"/>
                  </a:moveTo>
                  <a:lnTo>
                    <a:pt x="6452007" y="0"/>
                  </a:lnTo>
                  <a:lnTo>
                    <a:pt x="6452007" y="794031"/>
                  </a:lnTo>
                  <a:lnTo>
                    <a:pt x="0" y="794031"/>
                  </a:lnTo>
                  <a:close/>
                </a:path>
              </a:pathLst>
            </a:custGeom>
            <a:blipFill>
              <a:blip r:embed="rId5">
                <a:alphaModFix amt="0"/>
              </a:blip>
              <a:stretch>
                <a:fillRect l="0" t="-115872" r="0" b="-100783"/>
              </a:stretch>
            </a:blipFill>
          </p:spPr>
        </p:sp>
        <p:sp>
          <p:nvSpPr>
            <p:cNvPr name="TextBox 11" id="11"/>
            <p:cNvSpPr txBox="true"/>
            <p:nvPr/>
          </p:nvSpPr>
          <p:spPr>
            <a:xfrm>
              <a:off x="0" y="-19050"/>
              <a:ext cx="645200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DASHBOARD REALTIME</a:t>
              </a:r>
            </a:p>
          </p:txBody>
        </p:sp>
      </p:grpSp>
      <p:grpSp>
        <p:nvGrpSpPr>
          <p:cNvPr name="Group 12" id="12"/>
          <p:cNvGrpSpPr/>
          <p:nvPr/>
        </p:nvGrpSpPr>
        <p:grpSpPr>
          <a:xfrm rot="0">
            <a:off x="14210690" y="1302325"/>
            <a:ext cx="3048610" cy="424780"/>
            <a:chOff x="0" y="0"/>
            <a:chExt cx="4064813" cy="566373"/>
          </a:xfrm>
        </p:grpSpPr>
        <p:sp>
          <p:nvSpPr>
            <p:cNvPr name="Freeform 13" id="13"/>
            <p:cNvSpPr/>
            <p:nvPr/>
          </p:nvSpPr>
          <p:spPr>
            <a:xfrm flipH="false" flipV="false" rot="0">
              <a:off x="0" y="0"/>
              <a:ext cx="4064814" cy="566373"/>
            </a:xfrm>
            <a:custGeom>
              <a:avLst/>
              <a:gdLst/>
              <a:ahLst/>
              <a:cxnLst/>
              <a:rect r="r" b="b" t="t" l="l"/>
              <a:pathLst>
                <a:path h="566373" w="4064814">
                  <a:moveTo>
                    <a:pt x="0" y="0"/>
                  </a:moveTo>
                  <a:lnTo>
                    <a:pt x="4064814" y="0"/>
                  </a:lnTo>
                  <a:lnTo>
                    <a:pt x="4064814" y="566373"/>
                  </a:lnTo>
                  <a:lnTo>
                    <a:pt x="0" y="566373"/>
                  </a:lnTo>
                  <a:close/>
                </a:path>
              </a:pathLst>
            </a:custGeom>
            <a:blipFill>
              <a:blip r:embed="rId5">
                <a:alphaModFix amt="0"/>
              </a:blip>
              <a:stretch>
                <a:fillRect l="0" t="-106153" r="0" b="-73531"/>
              </a:stretch>
            </a:blipFill>
          </p:spPr>
        </p:sp>
        <p:sp>
          <p:nvSpPr>
            <p:cNvPr name="TextBox 14" id="14"/>
            <p:cNvSpPr txBox="true"/>
            <p:nvPr/>
          </p:nvSpPr>
          <p:spPr>
            <a:xfrm>
              <a:off x="0" y="-9525"/>
              <a:ext cx="4064813" cy="575898"/>
            </a:xfrm>
            <a:prstGeom prst="rect">
              <a:avLst/>
            </a:prstGeom>
          </p:spPr>
          <p:txBody>
            <a:bodyPr anchor="ctr" rtlCol="false" tIns="0" lIns="0" bIns="0" rIns="0"/>
            <a:lstStyle/>
            <a:p>
              <a:pPr algn="l">
                <a:lnSpc>
                  <a:spcPts val="2639"/>
                </a:lnSpc>
              </a:pPr>
              <a:r>
                <a:rPr lang="en-US" sz="2199" b="true">
                  <a:solidFill>
                    <a:srgbClr val="1A1F8E"/>
                  </a:solidFill>
                  <a:latin typeface="Roboto Bold"/>
                  <a:ea typeface="Roboto Bold"/>
                  <a:cs typeface="Roboto Bold"/>
                  <a:sym typeface="Roboto Bold"/>
                </a:rPr>
                <a:t>CÁC THÀNH PHẦN</a:t>
              </a:r>
            </a:p>
          </p:txBody>
        </p:sp>
      </p:grpSp>
      <p:sp>
        <p:nvSpPr>
          <p:cNvPr name="Freeform 15" id="15"/>
          <p:cNvSpPr/>
          <p:nvPr/>
        </p:nvSpPr>
        <p:spPr>
          <a:xfrm flipH="false" flipV="false" rot="0">
            <a:off x="210040" y="1866177"/>
            <a:ext cx="12820312" cy="6430045"/>
          </a:xfrm>
          <a:custGeom>
            <a:avLst/>
            <a:gdLst/>
            <a:ahLst/>
            <a:cxnLst/>
            <a:rect r="r" b="b" t="t" l="l"/>
            <a:pathLst>
              <a:path h="6430045" w="12820312">
                <a:moveTo>
                  <a:pt x="0" y="0"/>
                </a:moveTo>
                <a:lnTo>
                  <a:pt x="12820312" y="0"/>
                </a:lnTo>
                <a:lnTo>
                  <a:pt x="12820312" y="6430045"/>
                </a:lnTo>
                <a:lnTo>
                  <a:pt x="0" y="6430045"/>
                </a:lnTo>
                <a:lnTo>
                  <a:pt x="0" y="0"/>
                </a:lnTo>
                <a:close/>
              </a:path>
            </a:pathLst>
          </a:custGeom>
          <a:blipFill>
            <a:blip r:embed="rId6"/>
            <a:stretch>
              <a:fillRect l="0" t="0" r="-1068" b="0"/>
            </a:stretch>
          </a:blipFill>
        </p:spPr>
      </p:sp>
      <p:sp>
        <p:nvSpPr>
          <p:cNvPr name="TextBox 16" id="16"/>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7" id="17"/>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23</a:t>
            </a:r>
          </a:p>
        </p:txBody>
      </p:sp>
      <p:sp>
        <p:nvSpPr>
          <p:cNvPr name="TextBox 18" id="18"/>
          <p:cNvSpPr txBox="true"/>
          <p:nvPr/>
        </p:nvSpPr>
        <p:spPr>
          <a:xfrm rot="0">
            <a:off x="13648954" y="1856652"/>
            <a:ext cx="4194022" cy="62960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000000"/>
                </a:solidFill>
                <a:latin typeface="Roboto"/>
                <a:ea typeface="Roboto"/>
                <a:cs typeface="Roboto"/>
                <a:sym typeface="Roboto"/>
              </a:rPr>
              <a:t>C</a:t>
            </a:r>
            <a:r>
              <a:rPr lang="en-US" sz="2100">
                <a:solidFill>
                  <a:srgbClr val="000000"/>
                </a:solidFill>
                <a:latin typeface="Roboto"/>
                <a:ea typeface="Roboto"/>
                <a:cs typeface="Roboto"/>
                <a:sym typeface="Roboto"/>
              </a:rPr>
              <a:t>ác chỉ số: Mở cửa, Cao nhất, Thấp nhất, Khối lượng, VWAP, Sàn.</a:t>
            </a:r>
          </a:p>
          <a:p>
            <a:pPr algn="l" marL="453390" indent="-226695" lvl="1">
              <a:lnSpc>
                <a:spcPts val="2520"/>
              </a:lnSpc>
              <a:buFont typeface="Arial"/>
              <a:buChar char="•"/>
            </a:pPr>
            <a:r>
              <a:rPr lang="en-US" sz="2100">
                <a:solidFill>
                  <a:srgbClr val="000000"/>
                </a:solidFill>
                <a:latin typeface="Roboto"/>
                <a:ea typeface="Roboto"/>
                <a:cs typeface="Roboto"/>
                <a:sym typeface="Roboto"/>
              </a:rPr>
              <a:t>BOCPD các chỉ số:</a:t>
            </a:r>
          </a:p>
          <a:p>
            <a:pPr algn="l" marL="453390" indent="-226695" lvl="1">
              <a:lnSpc>
                <a:spcPts val="2520"/>
              </a:lnSpc>
              <a:buAutoNum type="arabicPeriod" startAt="1"/>
            </a:pPr>
            <a:r>
              <a:rPr lang="en-US" sz="2100">
                <a:solidFill>
                  <a:srgbClr val="000000"/>
                </a:solidFill>
                <a:latin typeface="Roboto"/>
                <a:ea typeface="Roboto"/>
                <a:cs typeface="Roboto"/>
                <a:sym typeface="Roboto"/>
              </a:rPr>
              <a:t>CP PROB: xác suất có change-point </a:t>
            </a:r>
          </a:p>
          <a:p>
            <a:pPr algn="l" marL="453390" indent="-226695" lvl="1">
              <a:lnSpc>
                <a:spcPts val="2520"/>
              </a:lnSpc>
              <a:buAutoNum type="arabicPeriod" startAt="1"/>
            </a:pPr>
            <a:r>
              <a:rPr lang="en-US" sz="2100">
                <a:solidFill>
                  <a:srgbClr val="000000"/>
                </a:solidFill>
                <a:latin typeface="Roboto"/>
                <a:ea typeface="Roboto"/>
                <a:cs typeface="Roboto"/>
                <a:sym typeface="Roboto"/>
              </a:rPr>
              <a:t>E[R_t] / Expected run length: kỳ vọng độ dài chuỗi hiện tại.</a:t>
            </a:r>
          </a:p>
          <a:p>
            <a:pPr algn="l" marL="453390" indent="-226695" lvl="1">
              <a:lnSpc>
                <a:spcPts val="2520"/>
              </a:lnSpc>
              <a:buAutoNum type="arabicPeriod" startAt="1"/>
            </a:pPr>
            <a:r>
              <a:rPr lang="en-US" sz="2100">
                <a:solidFill>
                  <a:srgbClr val="000000"/>
                </a:solidFill>
                <a:latin typeface="Roboto"/>
                <a:ea typeface="Roboto"/>
                <a:cs typeface="Roboto"/>
                <a:sym typeface="Roboto"/>
              </a:rPr>
              <a:t>MAP_R_T / MAP run length: run length có xác suất cao nhất theo mô hình.</a:t>
            </a:r>
          </a:p>
          <a:p>
            <a:pPr algn="l" marL="453390" indent="-226695" lvl="1">
              <a:lnSpc>
                <a:spcPts val="2520"/>
              </a:lnSpc>
              <a:buAutoNum type="arabicPeriod" startAt="1"/>
            </a:pPr>
            <a:r>
              <a:rPr lang="en-US" sz="2100">
                <a:solidFill>
                  <a:srgbClr val="000000"/>
                </a:solidFill>
                <a:latin typeface="Roboto"/>
                <a:ea typeface="Roboto"/>
                <a:cs typeface="Roboto"/>
                <a:sym typeface="Roboto"/>
              </a:rPr>
              <a:t>RETURN: return/biến động liên quan.</a:t>
            </a:r>
          </a:p>
          <a:p>
            <a:pPr algn="l" marL="453390" indent="-226695" lvl="1">
              <a:lnSpc>
                <a:spcPts val="2520"/>
              </a:lnSpc>
              <a:buAutoNum type="arabicPeriod" startAt="1"/>
            </a:pPr>
            <a:r>
              <a:rPr lang="en-US" sz="2100">
                <a:solidFill>
                  <a:srgbClr val="000000"/>
                </a:solidFill>
                <a:latin typeface="Roboto"/>
                <a:ea typeface="Roboto"/>
                <a:cs typeface="Roboto"/>
                <a:sym typeface="Roboto"/>
              </a:rPr>
              <a:t>PRED VOL: độ biến động dự báo.</a:t>
            </a:r>
          </a:p>
          <a:p>
            <a:pPr algn="l" marL="453390" indent="-226695" lvl="1">
              <a:lnSpc>
                <a:spcPts val="2520"/>
              </a:lnSpc>
              <a:buAutoNum type="arabicPeriod" startAt="1"/>
            </a:pPr>
            <a:r>
              <a:rPr lang="en-US" sz="2100">
                <a:solidFill>
                  <a:srgbClr val="000000"/>
                </a:solidFill>
                <a:latin typeface="Roboto"/>
                <a:ea typeface="Roboto"/>
                <a:cs typeface="Roboto"/>
                <a:sym typeface="Roboto"/>
              </a:rPr>
              <a:t>Z SCORE / WHALE SCORE: điểm z / thang đánh giá hành động giao dịch lớn.</a:t>
            </a:r>
          </a:p>
          <a:p>
            <a:pPr algn="l" marL="453390" indent="-226695" lvl="1">
              <a:lnSpc>
                <a:spcPts val="2520"/>
              </a:lnSpc>
              <a:buAutoNum type="arabicPeriod" startAt="1"/>
            </a:pPr>
            <a:r>
              <a:rPr lang="en-US" sz="2100">
                <a:solidFill>
                  <a:srgbClr val="000000"/>
                </a:solidFill>
                <a:latin typeface="Roboto"/>
                <a:ea typeface="Roboto"/>
                <a:cs typeface="Roboto"/>
                <a:sym typeface="Roboto"/>
              </a:rPr>
              <a:t>REGIME label: trạng thái/nhãn regime (stable, volatile).</a:t>
            </a:r>
          </a:p>
        </p:txBody>
      </p:sp>
      <p:grpSp>
        <p:nvGrpSpPr>
          <p:cNvPr name="Group 19" id="19"/>
          <p:cNvGrpSpPr/>
          <p:nvPr/>
        </p:nvGrpSpPr>
        <p:grpSpPr>
          <a:xfrm rot="0">
            <a:off x="296081" y="1284228"/>
            <a:ext cx="4763110" cy="424780"/>
            <a:chOff x="0" y="0"/>
            <a:chExt cx="6350813" cy="566374"/>
          </a:xfrm>
        </p:grpSpPr>
        <p:sp>
          <p:nvSpPr>
            <p:cNvPr name="Freeform 20" id="20"/>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5">
                <a:alphaModFix amt="0"/>
              </a:blip>
              <a:stretch>
                <a:fillRect l="0" t="-181462" r="0" b="-155513"/>
              </a:stretch>
            </a:blipFill>
          </p:spPr>
        </p:sp>
        <p:sp>
          <p:nvSpPr>
            <p:cNvPr name="TextBox 21" id="21"/>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Tin tức theo mã cổ phiếu</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Freeform 5" id="5"/>
          <p:cNvSpPr/>
          <p:nvPr/>
        </p:nvSpPr>
        <p:spPr>
          <a:xfrm flipH="false" flipV="false" rot="0">
            <a:off x="417910" y="1765509"/>
            <a:ext cx="8787020" cy="3042506"/>
          </a:xfrm>
          <a:custGeom>
            <a:avLst/>
            <a:gdLst/>
            <a:ahLst/>
            <a:cxnLst/>
            <a:rect r="r" b="b" t="t" l="l"/>
            <a:pathLst>
              <a:path h="3042506" w="8787020">
                <a:moveTo>
                  <a:pt x="0" y="0"/>
                </a:moveTo>
                <a:lnTo>
                  <a:pt x="8787020" y="0"/>
                </a:lnTo>
                <a:lnTo>
                  <a:pt x="8787020" y="3042505"/>
                </a:lnTo>
                <a:lnTo>
                  <a:pt x="0" y="3042505"/>
                </a:lnTo>
                <a:lnTo>
                  <a:pt x="0" y="0"/>
                </a:lnTo>
                <a:close/>
              </a:path>
            </a:pathLst>
          </a:custGeom>
          <a:blipFill>
            <a:blip r:embed="rId4"/>
            <a:stretch>
              <a:fillRect l="0" t="0" r="0" b="0"/>
            </a:stretch>
          </a:blipFill>
        </p:spPr>
      </p:sp>
      <p:sp>
        <p:nvSpPr>
          <p:cNvPr name="Freeform 6" id="6"/>
          <p:cNvSpPr/>
          <p:nvPr/>
        </p:nvSpPr>
        <p:spPr>
          <a:xfrm flipH="false" flipV="false" rot="0">
            <a:off x="9642703" y="1816861"/>
            <a:ext cx="8369540" cy="2939801"/>
          </a:xfrm>
          <a:custGeom>
            <a:avLst/>
            <a:gdLst/>
            <a:ahLst/>
            <a:cxnLst/>
            <a:rect r="r" b="b" t="t" l="l"/>
            <a:pathLst>
              <a:path h="2939801" w="8369540">
                <a:moveTo>
                  <a:pt x="0" y="0"/>
                </a:moveTo>
                <a:lnTo>
                  <a:pt x="8369541" y="0"/>
                </a:lnTo>
                <a:lnTo>
                  <a:pt x="8369541" y="2939801"/>
                </a:lnTo>
                <a:lnTo>
                  <a:pt x="0" y="2939801"/>
                </a:lnTo>
                <a:lnTo>
                  <a:pt x="0" y="0"/>
                </a:lnTo>
                <a:close/>
              </a:path>
            </a:pathLst>
          </a:custGeom>
          <a:blipFill>
            <a:blip r:embed="rId5"/>
            <a:stretch>
              <a:fillRect l="0" t="0" r="0" b="0"/>
            </a:stretch>
          </a:blipFill>
        </p:spPr>
      </p:sp>
      <p:sp>
        <p:nvSpPr>
          <p:cNvPr name="Freeform 7" id="7"/>
          <p:cNvSpPr/>
          <p:nvPr/>
        </p:nvSpPr>
        <p:spPr>
          <a:xfrm flipH="false" flipV="false" rot="0">
            <a:off x="356980" y="5519241"/>
            <a:ext cx="8787020" cy="3075457"/>
          </a:xfrm>
          <a:custGeom>
            <a:avLst/>
            <a:gdLst/>
            <a:ahLst/>
            <a:cxnLst/>
            <a:rect r="r" b="b" t="t" l="l"/>
            <a:pathLst>
              <a:path h="3075457" w="8787020">
                <a:moveTo>
                  <a:pt x="0" y="0"/>
                </a:moveTo>
                <a:lnTo>
                  <a:pt x="8787020" y="0"/>
                </a:lnTo>
                <a:lnTo>
                  <a:pt x="8787020" y="3075457"/>
                </a:lnTo>
                <a:lnTo>
                  <a:pt x="0" y="3075457"/>
                </a:lnTo>
                <a:lnTo>
                  <a:pt x="0" y="0"/>
                </a:lnTo>
                <a:close/>
              </a:path>
            </a:pathLst>
          </a:custGeom>
          <a:blipFill>
            <a:blip r:embed="rId6"/>
            <a:stretch>
              <a:fillRect l="0" t="0" r="0" b="0"/>
            </a:stretch>
          </a:blipFill>
        </p:spPr>
      </p:sp>
      <p:sp>
        <p:nvSpPr>
          <p:cNvPr name="Freeform 8" id="8"/>
          <p:cNvSpPr/>
          <p:nvPr/>
        </p:nvSpPr>
        <p:spPr>
          <a:xfrm flipH="false" flipV="false" rot="0">
            <a:off x="9787913" y="5519241"/>
            <a:ext cx="8030910" cy="3171225"/>
          </a:xfrm>
          <a:custGeom>
            <a:avLst/>
            <a:gdLst/>
            <a:ahLst/>
            <a:cxnLst/>
            <a:rect r="r" b="b" t="t" l="l"/>
            <a:pathLst>
              <a:path h="3171225" w="8030910">
                <a:moveTo>
                  <a:pt x="0" y="0"/>
                </a:moveTo>
                <a:lnTo>
                  <a:pt x="8030911" y="0"/>
                </a:lnTo>
                <a:lnTo>
                  <a:pt x="8030911" y="3171225"/>
                </a:lnTo>
                <a:lnTo>
                  <a:pt x="0" y="3171225"/>
                </a:lnTo>
                <a:lnTo>
                  <a:pt x="0" y="0"/>
                </a:lnTo>
                <a:close/>
              </a:path>
            </a:pathLst>
          </a:custGeom>
          <a:blipFill>
            <a:blip r:embed="rId7"/>
            <a:stretch>
              <a:fillRect l="0" t="-5238" r="0" b="-5238"/>
            </a:stretch>
          </a:blipFill>
        </p:spPr>
      </p:sp>
      <p:sp>
        <p:nvSpPr>
          <p:cNvPr name="TextBox 9" id="9"/>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0" id="10"/>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24</a:t>
            </a:r>
          </a:p>
        </p:txBody>
      </p:sp>
      <p:grpSp>
        <p:nvGrpSpPr>
          <p:cNvPr name="Group 11" id="11"/>
          <p:cNvGrpSpPr/>
          <p:nvPr/>
        </p:nvGrpSpPr>
        <p:grpSpPr>
          <a:xfrm rot="0">
            <a:off x="9071203" y="1097451"/>
            <a:ext cx="1143000" cy="47549"/>
            <a:chOff x="0" y="0"/>
            <a:chExt cx="1524000" cy="63398"/>
          </a:xfrm>
        </p:grpSpPr>
        <p:sp>
          <p:nvSpPr>
            <p:cNvPr name="Freeform 12" id="12"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8"/>
              <a:stretch>
                <a:fillRect l="80" t="0" r="79" b="-40"/>
              </a:stretch>
            </a:blipFill>
          </p:spPr>
        </p:sp>
      </p:grpSp>
      <p:grpSp>
        <p:nvGrpSpPr>
          <p:cNvPr name="Group 13" id="13"/>
          <p:cNvGrpSpPr/>
          <p:nvPr/>
        </p:nvGrpSpPr>
        <p:grpSpPr>
          <a:xfrm rot="0">
            <a:off x="7227773" y="478403"/>
            <a:ext cx="4839005" cy="595523"/>
            <a:chOff x="0" y="0"/>
            <a:chExt cx="6452006" cy="794031"/>
          </a:xfrm>
        </p:grpSpPr>
        <p:sp>
          <p:nvSpPr>
            <p:cNvPr name="Freeform 14" id="14"/>
            <p:cNvSpPr/>
            <p:nvPr/>
          </p:nvSpPr>
          <p:spPr>
            <a:xfrm flipH="false" flipV="false" rot="0">
              <a:off x="0" y="0"/>
              <a:ext cx="6452007" cy="794031"/>
            </a:xfrm>
            <a:custGeom>
              <a:avLst/>
              <a:gdLst/>
              <a:ahLst/>
              <a:cxnLst/>
              <a:rect r="r" b="b" t="t" l="l"/>
              <a:pathLst>
                <a:path h="794031" w="6452007">
                  <a:moveTo>
                    <a:pt x="0" y="0"/>
                  </a:moveTo>
                  <a:lnTo>
                    <a:pt x="6452007" y="0"/>
                  </a:lnTo>
                  <a:lnTo>
                    <a:pt x="6452007" y="794031"/>
                  </a:lnTo>
                  <a:lnTo>
                    <a:pt x="0" y="794031"/>
                  </a:lnTo>
                  <a:close/>
                </a:path>
              </a:pathLst>
            </a:custGeom>
            <a:blipFill>
              <a:blip r:embed="rId9">
                <a:alphaModFix amt="0"/>
              </a:blip>
              <a:stretch>
                <a:fillRect l="0" t="-115872" r="0" b="-100783"/>
              </a:stretch>
            </a:blipFill>
          </p:spPr>
        </p:sp>
        <p:sp>
          <p:nvSpPr>
            <p:cNvPr name="TextBox 15" id="15"/>
            <p:cNvSpPr txBox="true"/>
            <p:nvPr/>
          </p:nvSpPr>
          <p:spPr>
            <a:xfrm>
              <a:off x="0" y="-19050"/>
              <a:ext cx="645200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DASHBOARD REALTIME</a:t>
              </a:r>
            </a:p>
          </p:txBody>
        </p:sp>
      </p:grpSp>
      <p:grpSp>
        <p:nvGrpSpPr>
          <p:cNvPr name="Group 16" id="16"/>
          <p:cNvGrpSpPr/>
          <p:nvPr/>
        </p:nvGrpSpPr>
        <p:grpSpPr>
          <a:xfrm rot="0">
            <a:off x="417910" y="1302325"/>
            <a:ext cx="4763110" cy="424780"/>
            <a:chOff x="0" y="0"/>
            <a:chExt cx="6350813" cy="566374"/>
          </a:xfrm>
        </p:grpSpPr>
        <p:sp>
          <p:nvSpPr>
            <p:cNvPr name="Freeform 17" id="17"/>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9">
                <a:alphaModFix amt="0"/>
              </a:blip>
              <a:stretch>
                <a:fillRect l="0" t="-181462" r="0" b="-155513"/>
              </a:stretch>
            </a:blipFill>
          </p:spPr>
        </p:sp>
        <p:sp>
          <p:nvSpPr>
            <p:cNvPr name="TextBox 18" id="18"/>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Biều đồ thị trường</a:t>
              </a:r>
            </a:p>
          </p:txBody>
        </p:sp>
      </p:grpSp>
      <p:grpSp>
        <p:nvGrpSpPr>
          <p:cNvPr name="Group 19" id="19"/>
          <p:cNvGrpSpPr/>
          <p:nvPr/>
        </p:nvGrpSpPr>
        <p:grpSpPr>
          <a:xfrm rot="0">
            <a:off x="9642703" y="1387268"/>
            <a:ext cx="4763110" cy="758155"/>
            <a:chOff x="0" y="0"/>
            <a:chExt cx="6350813" cy="1010873"/>
          </a:xfrm>
        </p:grpSpPr>
        <p:sp>
          <p:nvSpPr>
            <p:cNvPr name="Freeform 20" id="20"/>
            <p:cNvSpPr/>
            <p:nvPr/>
          </p:nvSpPr>
          <p:spPr>
            <a:xfrm flipH="false" flipV="false" rot="0">
              <a:off x="0" y="0"/>
              <a:ext cx="6350814" cy="1010874"/>
            </a:xfrm>
            <a:custGeom>
              <a:avLst/>
              <a:gdLst/>
              <a:ahLst/>
              <a:cxnLst/>
              <a:rect r="r" b="b" t="t" l="l"/>
              <a:pathLst>
                <a:path h="1010874" w="6350814">
                  <a:moveTo>
                    <a:pt x="0" y="0"/>
                  </a:moveTo>
                  <a:lnTo>
                    <a:pt x="6350814" y="0"/>
                  </a:lnTo>
                  <a:lnTo>
                    <a:pt x="6350814" y="1010874"/>
                  </a:lnTo>
                  <a:lnTo>
                    <a:pt x="0" y="1010874"/>
                  </a:lnTo>
                  <a:close/>
                </a:path>
              </a:pathLst>
            </a:custGeom>
            <a:blipFill>
              <a:blip r:embed="rId9">
                <a:alphaModFix amt="0"/>
              </a:blip>
              <a:stretch>
                <a:fillRect l="0" t="-101670" r="0" b="-43159"/>
              </a:stretch>
            </a:blipFill>
          </p:spPr>
        </p:sp>
        <p:sp>
          <p:nvSpPr>
            <p:cNvPr name="TextBox 21" id="21"/>
            <p:cNvSpPr txBox="true"/>
            <p:nvPr/>
          </p:nvSpPr>
          <p:spPr>
            <a:xfrm>
              <a:off x="0" y="-9525"/>
              <a:ext cx="6350813" cy="1020398"/>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Biều đồ giao dịch và BOCPD</a:t>
              </a:r>
            </a:p>
            <a:p>
              <a:pPr algn="l">
                <a:lnSpc>
                  <a:spcPts val="2639"/>
                </a:lnSpc>
              </a:pPr>
            </a:p>
          </p:txBody>
        </p:sp>
      </p:grpSp>
      <p:grpSp>
        <p:nvGrpSpPr>
          <p:cNvPr name="Group 22" id="22"/>
          <p:cNvGrpSpPr/>
          <p:nvPr/>
        </p:nvGrpSpPr>
        <p:grpSpPr>
          <a:xfrm rot="0">
            <a:off x="417910" y="4986022"/>
            <a:ext cx="4763110" cy="424780"/>
            <a:chOff x="0" y="0"/>
            <a:chExt cx="6350813" cy="566374"/>
          </a:xfrm>
        </p:grpSpPr>
        <p:sp>
          <p:nvSpPr>
            <p:cNvPr name="Freeform 23" id="23"/>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9">
                <a:alphaModFix amt="0"/>
              </a:blip>
              <a:stretch>
                <a:fillRect l="0" t="-181462" r="0" b="-155513"/>
              </a:stretch>
            </a:blipFill>
          </p:spPr>
        </p:sp>
        <p:sp>
          <p:nvSpPr>
            <p:cNvPr name="TextBox 24" id="24"/>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Chỉ số BOCPD bất thường</a:t>
              </a:r>
            </a:p>
          </p:txBody>
        </p:sp>
      </p:grpSp>
      <p:grpSp>
        <p:nvGrpSpPr>
          <p:cNvPr name="Group 25" id="25"/>
          <p:cNvGrpSpPr/>
          <p:nvPr/>
        </p:nvGrpSpPr>
        <p:grpSpPr>
          <a:xfrm rot="0">
            <a:off x="9787913" y="5051937"/>
            <a:ext cx="4763110" cy="424780"/>
            <a:chOff x="0" y="0"/>
            <a:chExt cx="6350813" cy="566374"/>
          </a:xfrm>
        </p:grpSpPr>
        <p:sp>
          <p:nvSpPr>
            <p:cNvPr name="Freeform 26" id="26"/>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9">
                <a:alphaModFix amt="0"/>
              </a:blip>
              <a:stretch>
                <a:fillRect l="0" t="-181462" r="0" b="-155513"/>
              </a:stretch>
            </a:blipFill>
          </p:spPr>
        </p:sp>
        <p:sp>
          <p:nvSpPr>
            <p:cNvPr name="TextBox 27" id="27"/>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Tổng hợp tin tức cổ phiếu</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grpSp>
        <p:nvGrpSpPr>
          <p:cNvPr name="Group 5" id="5"/>
          <p:cNvGrpSpPr/>
          <p:nvPr/>
        </p:nvGrpSpPr>
        <p:grpSpPr>
          <a:xfrm rot="0">
            <a:off x="9071203" y="1097451"/>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7227773" y="478403"/>
            <a:ext cx="4839005" cy="595523"/>
            <a:chOff x="0" y="0"/>
            <a:chExt cx="6452006" cy="794031"/>
          </a:xfrm>
        </p:grpSpPr>
        <p:sp>
          <p:nvSpPr>
            <p:cNvPr name="Freeform 8" id="8"/>
            <p:cNvSpPr/>
            <p:nvPr/>
          </p:nvSpPr>
          <p:spPr>
            <a:xfrm flipH="false" flipV="false" rot="0">
              <a:off x="0" y="0"/>
              <a:ext cx="6452007" cy="794031"/>
            </a:xfrm>
            <a:custGeom>
              <a:avLst/>
              <a:gdLst/>
              <a:ahLst/>
              <a:cxnLst/>
              <a:rect r="r" b="b" t="t" l="l"/>
              <a:pathLst>
                <a:path h="794031" w="6452007">
                  <a:moveTo>
                    <a:pt x="0" y="0"/>
                  </a:moveTo>
                  <a:lnTo>
                    <a:pt x="6452007" y="0"/>
                  </a:lnTo>
                  <a:lnTo>
                    <a:pt x="6452007" y="794031"/>
                  </a:lnTo>
                  <a:lnTo>
                    <a:pt x="0" y="794031"/>
                  </a:lnTo>
                  <a:close/>
                </a:path>
              </a:pathLst>
            </a:custGeom>
            <a:blipFill>
              <a:blip r:embed="rId5">
                <a:alphaModFix amt="0"/>
              </a:blip>
              <a:stretch>
                <a:fillRect l="0" t="-115872" r="0" b="-100783"/>
              </a:stretch>
            </a:blipFill>
          </p:spPr>
        </p:sp>
        <p:sp>
          <p:nvSpPr>
            <p:cNvPr name="TextBox 9" id="9"/>
            <p:cNvSpPr txBox="true"/>
            <p:nvPr/>
          </p:nvSpPr>
          <p:spPr>
            <a:xfrm>
              <a:off x="0" y="-19050"/>
              <a:ext cx="645200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DASHBOARD REALTIME</a:t>
              </a:r>
            </a:p>
          </p:txBody>
        </p:sp>
      </p:grpSp>
      <p:sp>
        <p:nvSpPr>
          <p:cNvPr name="Freeform 10" id="10"/>
          <p:cNvSpPr/>
          <p:nvPr/>
        </p:nvSpPr>
        <p:spPr>
          <a:xfrm flipH="false" flipV="false" rot="0">
            <a:off x="1524029" y="2006339"/>
            <a:ext cx="11773068" cy="5798236"/>
          </a:xfrm>
          <a:custGeom>
            <a:avLst/>
            <a:gdLst/>
            <a:ahLst/>
            <a:cxnLst/>
            <a:rect r="r" b="b" t="t" l="l"/>
            <a:pathLst>
              <a:path h="5798236" w="11773068">
                <a:moveTo>
                  <a:pt x="0" y="0"/>
                </a:moveTo>
                <a:lnTo>
                  <a:pt x="11773068" y="0"/>
                </a:lnTo>
                <a:lnTo>
                  <a:pt x="11773068" y="5798236"/>
                </a:lnTo>
                <a:lnTo>
                  <a:pt x="0" y="5798236"/>
                </a:lnTo>
                <a:lnTo>
                  <a:pt x="0" y="0"/>
                </a:lnTo>
                <a:close/>
              </a:path>
            </a:pathLst>
          </a:custGeom>
          <a:blipFill>
            <a:blip r:embed="rId6"/>
            <a:stretch>
              <a:fillRect l="0" t="0" r="0" b="0"/>
            </a:stretch>
          </a:blipFill>
        </p:spPr>
      </p:sp>
      <p:sp>
        <p:nvSpPr>
          <p:cNvPr name="Freeform 11" id="11"/>
          <p:cNvSpPr/>
          <p:nvPr/>
        </p:nvSpPr>
        <p:spPr>
          <a:xfrm flipH="false" flipV="false" rot="0">
            <a:off x="13865787" y="5082390"/>
            <a:ext cx="3632852" cy="1444059"/>
          </a:xfrm>
          <a:custGeom>
            <a:avLst/>
            <a:gdLst/>
            <a:ahLst/>
            <a:cxnLst/>
            <a:rect r="r" b="b" t="t" l="l"/>
            <a:pathLst>
              <a:path h="1444059" w="3632852">
                <a:moveTo>
                  <a:pt x="0" y="0"/>
                </a:moveTo>
                <a:lnTo>
                  <a:pt x="3632852" y="0"/>
                </a:lnTo>
                <a:lnTo>
                  <a:pt x="3632852" y="1444059"/>
                </a:lnTo>
                <a:lnTo>
                  <a:pt x="0" y="1444059"/>
                </a:lnTo>
                <a:lnTo>
                  <a:pt x="0" y="0"/>
                </a:lnTo>
                <a:close/>
              </a:path>
            </a:pathLst>
          </a:custGeom>
          <a:blipFill>
            <a:blip r:embed="rId7"/>
            <a:stretch>
              <a:fillRect l="0" t="0" r="0" b="0"/>
            </a:stretch>
          </a:blipFill>
        </p:spPr>
      </p:sp>
      <p:sp>
        <p:nvSpPr>
          <p:cNvPr name="Freeform 12" id="12"/>
          <p:cNvSpPr/>
          <p:nvPr/>
        </p:nvSpPr>
        <p:spPr>
          <a:xfrm flipH="false" flipV="false" rot="0">
            <a:off x="14369098" y="2889613"/>
            <a:ext cx="2472512" cy="824858"/>
          </a:xfrm>
          <a:custGeom>
            <a:avLst/>
            <a:gdLst/>
            <a:ahLst/>
            <a:cxnLst/>
            <a:rect r="r" b="b" t="t" l="l"/>
            <a:pathLst>
              <a:path h="824858" w="2472512">
                <a:moveTo>
                  <a:pt x="0" y="0"/>
                </a:moveTo>
                <a:lnTo>
                  <a:pt x="2472512" y="0"/>
                </a:lnTo>
                <a:lnTo>
                  <a:pt x="2472512" y="824858"/>
                </a:lnTo>
                <a:lnTo>
                  <a:pt x="0" y="824858"/>
                </a:lnTo>
                <a:lnTo>
                  <a:pt x="0" y="0"/>
                </a:lnTo>
                <a:close/>
              </a:path>
            </a:pathLst>
          </a:custGeom>
          <a:blipFill>
            <a:blip r:embed="rId8"/>
            <a:stretch>
              <a:fillRect l="0" t="-24090" r="0" b="-32049"/>
            </a:stretch>
          </a:blipFill>
        </p:spPr>
      </p:sp>
      <p:sp>
        <p:nvSpPr>
          <p:cNvPr name="Freeform 13" id="13"/>
          <p:cNvSpPr/>
          <p:nvPr/>
        </p:nvSpPr>
        <p:spPr>
          <a:xfrm flipH="false" flipV="false" rot="-5400000">
            <a:off x="14980886" y="4072514"/>
            <a:ext cx="1402655" cy="739316"/>
          </a:xfrm>
          <a:custGeom>
            <a:avLst/>
            <a:gdLst/>
            <a:ahLst/>
            <a:cxnLst/>
            <a:rect r="r" b="b" t="t" l="l"/>
            <a:pathLst>
              <a:path h="739316" w="1402655">
                <a:moveTo>
                  <a:pt x="0" y="0"/>
                </a:moveTo>
                <a:lnTo>
                  <a:pt x="1402655" y="0"/>
                </a:lnTo>
                <a:lnTo>
                  <a:pt x="1402655" y="739317"/>
                </a:lnTo>
                <a:lnTo>
                  <a:pt x="0" y="739317"/>
                </a:lnTo>
                <a:lnTo>
                  <a:pt x="0" y="0"/>
                </a:lnTo>
                <a:close/>
              </a:path>
            </a:pathLst>
          </a:custGeom>
          <a:blipFill>
            <a:blip r:embed="rId9"/>
            <a:stretch>
              <a:fillRect l="0" t="0" r="0" b="0"/>
            </a:stretch>
          </a:blipFill>
        </p:spPr>
      </p:sp>
      <p:sp>
        <p:nvSpPr>
          <p:cNvPr name="TextBox 14" id="14"/>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5" id="15"/>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25</a:t>
            </a:r>
          </a:p>
        </p:txBody>
      </p:sp>
      <p:grpSp>
        <p:nvGrpSpPr>
          <p:cNvPr name="Group 16" id="16"/>
          <p:cNvGrpSpPr/>
          <p:nvPr/>
        </p:nvGrpSpPr>
        <p:grpSpPr>
          <a:xfrm rot="0">
            <a:off x="1524029" y="1465212"/>
            <a:ext cx="4763110" cy="424780"/>
            <a:chOff x="0" y="0"/>
            <a:chExt cx="6350813" cy="566374"/>
          </a:xfrm>
        </p:grpSpPr>
        <p:sp>
          <p:nvSpPr>
            <p:cNvPr name="Freeform 17" id="17"/>
            <p:cNvSpPr/>
            <p:nvPr/>
          </p:nvSpPr>
          <p:spPr>
            <a:xfrm flipH="false" flipV="false" rot="0">
              <a:off x="0" y="0"/>
              <a:ext cx="6350814" cy="566374"/>
            </a:xfrm>
            <a:custGeom>
              <a:avLst/>
              <a:gdLst/>
              <a:ahLst/>
              <a:cxnLst/>
              <a:rect r="r" b="b" t="t" l="l"/>
              <a:pathLst>
                <a:path h="566374" w="6350814">
                  <a:moveTo>
                    <a:pt x="0" y="0"/>
                  </a:moveTo>
                  <a:lnTo>
                    <a:pt x="6350814" y="0"/>
                  </a:lnTo>
                  <a:lnTo>
                    <a:pt x="6350814" y="566374"/>
                  </a:lnTo>
                  <a:lnTo>
                    <a:pt x="0" y="566374"/>
                  </a:lnTo>
                  <a:close/>
                </a:path>
              </a:pathLst>
            </a:custGeom>
            <a:blipFill>
              <a:blip r:embed="rId5">
                <a:alphaModFix amt="0"/>
              </a:blip>
              <a:stretch>
                <a:fillRect l="0" t="-181462" r="0" b="-155513"/>
              </a:stretch>
            </a:blipFill>
          </p:spPr>
        </p:sp>
        <p:sp>
          <p:nvSpPr>
            <p:cNvPr name="TextBox 18" id="18"/>
            <p:cNvSpPr txBox="true"/>
            <p:nvPr/>
          </p:nvSpPr>
          <p:spPr>
            <a:xfrm>
              <a:off x="0" y="-9525"/>
              <a:ext cx="6350813"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Biều đồ tổng thể DB SCYLLA</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Freeform 5" id="5"/>
          <p:cNvSpPr/>
          <p:nvPr/>
        </p:nvSpPr>
        <p:spPr>
          <a:xfrm flipH="false" flipV="false" rot="0">
            <a:off x="930241" y="1953843"/>
            <a:ext cx="11301259" cy="3588150"/>
          </a:xfrm>
          <a:custGeom>
            <a:avLst/>
            <a:gdLst/>
            <a:ahLst/>
            <a:cxnLst/>
            <a:rect r="r" b="b" t="t" l="l"/>
            <a:pathLst>
              <a:path h="3588150" w="11301259">
                <a:moveTo>
                  <a:pt x="0" y="0"/>
                </a:moveTo>
                <a:lnTo>
                  <a:pt x="11301259" y="0"/>
                </a:lnTo>
                <a:lnTo>
                  <a:pt x="11301259" y="3588150"/>
                </a:lnTo>
                <a:lnTo>
                  <a:pt x="0" y="3588150"/>
                </a:lnTo>
                <a:lnTo>
                  <a:pt x="0" y="0"/>
                </a:lnTo>
                <a:close/>
              </a:path>
            </a:pathLst>
          </a:custGeom>
          <a:blipFill>
            <a:blip r:embed="rId4"/>
            <a:stretch>
              <a:fillRect l="0" t="0" r="0" b="0"/>
            </a:stretch>
          </a:blipFill>
        </p:spPr>
      </p:sp>
      <p:sp>
        <p:nvSpPr>
          <p:cNvPr name="Freeform 6" id="6"/>
          <p:cNvSpPr/>
          <p:nvPr/>
        </p:nvSpPr>
        <p:spPr>
          <a:xfrm flipH="false" flipV="false" rot="0">
            <a:off x="6062590" y="6067833"/>
            <a:ext cx="11301259" cy="2260252"/>
          </a:xfrm>
          <a:custGeom>
            <a:avLst/>
            <a:gdLst/>
            <a:ahLst/>
            <a:cxnLst/>
            <a:rect r="r" b="b" t="t" l="l"/>
            <a:pathLst>
              <a:path h="2260252" w="11301259">
                <a:moveTo>
                  <a:pt x="0" y="0"/>
                </a:moveTo>
                <a:lnTo>
                  <a:pt x="11301259" y="0"/>
                </a:lnTo>
                <a:lnTo>
                  <a:pt x="11301259" y="2260252"/>
                </a:lnTo>
                <a:lnTo>
                  <a:pt x="0" y="2260252"/>
                </a:lnTo>
                <a:lnTo>
                  <a:pt x="0" y="0"/>
                </a:lnTo>
                <a:close/>
              </a:path>
            </a:pathLst>
          </a:custGeom>
          <a:blipFill>
            <a:blip r:embed="rId5"/>
            <a:stretch>
              <a:fillRect l="0" t="0" r="0" b="0"/>
            </a:stretch>
          </a:blipFill>
        </p:spPr>
      </p:sp>
      <p:sp>
        <p:nvSpPr>
          <p:cNvPr name="TextBox 7" id="7"/>
          <p:cNvSpPr txBox="true"/>
          <p:nvPr/>
        </p:nvSpPr>
        <p:spPr>
          <a:xfrm rot="0">
            <a:off x="14953999" y="9477375"/>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8" id="8"/>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26</a:t>
            </a:r>
          </a:p>
        </p:txBody>
      </p:sp>
      <p:grpSp>
        <p:nvGrpSpPr>
          <p:cNvPr name="Group 9" id="9"/>
          <p:cNvGrpSpPr/>
          <p:nvPr/>
        </p:nvGrpSpPr>
        <p:grpSpPr>
          <a:xfrm rot="0">
            <a:off x="9071203" y="1097451"/>
            <a:ext cx="1143000" cy="47549"/>
            <a:chOff x="0" y="0"/>
            <a:chExt cx="1524000" cy="63398"/>
          </a:xfrm>
        </p:grpSpPr>
        <p:sp>
          <p:nvSpPr>
            <p:cNvPr name="Freeform 10" id="10"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6"/>
              <a:stretch>
                <a:fillRect l="80" t="0" r="79" b="-40"/>
              </a:stretch>
            </a:blipFill>
          </p:spPr>
        </p:sp>
      </p:grpSp>
      <p:grpSp>
        <p:nvGrpSpPr>
          <p:cNvPr name="Group 11" id="11"/>
          <p:cNvGrpSpPr/>
          <p:nvPr/>
        </p:nvGrpSpPr>
        <p:grpSpPr>
          <a:xfrm rot="0">
            <a:off x="7227773" y="478403"/>
            <a:ext cx="4839005" cy="595523"/>
            <a:chOff x="0" y="0"/>
            <a:chExt cx="6452006" cy="794031"/>
          </a:xfrm>
        </p:grpSpPr>
        <p:sp>
          <p:nvSpPr>
            <p:cNvPr name="Freeform 12" id="12"/>
            <p:cNvSpPr/>
            <p:nvPr/>
          </p:nvSpPr>
          <p:spPr>
            <a:xfrm flipH="false" flipV="false" rot="0">
              <a:off x="0" y="0"/>
              <a:ext cx="6452007" cy="794031"/>
            </a:xfrm>
            <a:custGeom>
              <a:avLst/>
              <a:gdLst/>
              <a:ahLst/>
              <a:cxnLst/>
              <a:rect r="r" b="b" t="t" l="l"/>
              <a:pathLst>
                <a:path h="794031" w="6452007">
                  <a:moveTo>
                    <a:pt x="0" y="0"/>
                  </a:moveTo>
                  <a:lnTo>
                    <a:pt x="6452007" y="0"/>
                  </a:lnTo>
                  <a:lnTo>
                    <a:pt x="6452007" y="794031"/>
                  </a:lnTo>
                  <a:lnTo>
                    <a:pt x="0" y="794031"/>
                  </a:lnTo>
                  <a:close/>
                </a:path>
              </a:pathLst>
            </a:custGeom>
            <a:blipFill>
              <a:blip r:embed="rId7">
                <a:alphaModFix amt="0"/>
              </a:blip>
              <a:stretch>
                <a:fillRect l="0" t="-115872" r="0" b="-100783"/>
              </a:stretch>
            </a:blipFill>
          </p:spPr>
        </p:sp>
        <p:sp>
          <p:nvSpPr>
            <p:cNvPr name="TextBox 13" id="13"/>
            <p:cNvSpPr txBox="true"/>
            <p:nvPr/>
          </p:nvSpPr>
          <p:spPr>
            <a:xfrm>
              <a:off x="0" y="-19050"/>
              <a:ext cx="645200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DASHBOARD REALTIME</a:t>
              </a:r>
            </a:p>
          </p:txBody>
        </p:sp>
      </p:grpSp>
      <p:grpSp>
        <p:nvGrpSpPr>
          <p:cNvPr name="Group 14" id="14"/>
          <p:cNvGrpSpPr/>
          <p:nvPr/>
        </p:nvGrpSpPr>
        <p:grpSpPr>
          <a:xfrm rot="0">
            <a:off x="922621" y="1367138"/>
            <a:ext cx="6411540" cy="424780"/>
            <a:chOff x="0" y="0"/>
            <a:chExt cx="8548719" cy="566374"/>
          </a:xfrm>
        </p:grpSpPr>
        <p:sp>
          <p:nvSpPr>
            <p:cNvPr name="Freeform 15" id="15"/>
            <p:cNvSpPr/>
            <p:nvPr/>
          </p:nvSpPr>
          <p:spPr>
            <a:xfrm flipH="false" flipV="false" rot="0">
              <a:off x="0" y="0"/>
              <a:ext cx="8548720" cy="566374"/>
            </a:xfrm>
            <a:custGeom>
              <a:avLst/>
              <a:gdLst/>
              <a:ahLst/>
              <a:cxnLst/>
              <a:rect r="r" b="b" t="t" l="l"/>
              <a:pathLst>
                <a:path h="566374" w="8548720">
                  <a:moveTo>
                    <a:pt x="0" y="0"/>
                  </a:moveTo>
                  <a:lnTo>
                    <a:pt x="8548720" y="0"/>
                  </a:lnTo>
                  <a:lnTo>
                    <a:pt x="8548720" y="566374"/>
                  </a:lnTo>
                  <a:lnTo>
                    <a:pt x="0" y="566374"/>
                  </a:lnTo>
                  <a:close/>
                </a:path>
              </a:pathLst>
            </a:custGeom>
            <a:blipFill>
              <a:blip r:embed="rId7">
                <a:alphaModFix amt="0"/>
              </a:blip>
              <a:stretch>
                <a:fillRect l="0" t="-181462" r="25710" b="-155513"/>
              </a:stretch>
            </a:blipFill>
          </p:spPr>
        </p:sp>
        <p:sp>
          <p:nvSpPr>
            <p:cNvPr name="TextBox 16" id="16"/>
            <p:cNvSpPr txBox="true"/>
            <p:nvPr/>
          </p:nvSpPr>
          <p:spPr>
            <a:xfrm>
              <a:off x="0" y="-9525"/>
              <a:ext cx="8548719"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Quản lý container Docker thông qua PORTAINER</a:t>
              </a:r>
            </a:p>
          </p:txBody>
        </p:sp>
      </p:grpSp>
      <p:grpSp>
        <p:nvGrpSpPr>
          <p:cNvPr name="Group 17" id="17"/>
          <p:cNvGrpSpPr/>
          <p:nvPr/>
        </p:nvGrpSpPr>
        <p:grpSpPr>
          <a:xfrm rot="0">
            <a:off x="6062590" y="5541993"/>
            <a:ext cx="5555201" cy="424780"/>
            <a:chOff x="0" y="0"/>
            <a:chExt cx="7406935" cy="566374"/>
          </a:xfrm>
        </p:grpSpPr>
        <p:sp>
          <p:nvSpPr>
            <p:cNvPr name="Freeform 18" id="18"/>
            <p:cNvSpPr/>
            <p:nvPr/>
          </p:nvSpPr>
          <p:spPr>
            <a:xfrm flipH="false" flipV="false" rot="0">
              <a:off x="0" y="0"/>
              <a:ext cx="7406935" cy="566374"/>
            </a:xfrm>
            <a:custGeom>
              <a:avLst/>
              <a:gdLst/>
              <a:ahLst/>
              <a:cxnLst/>
              <a:rect r="r" b="b" t="t" l="l"/>
              <a:pathLst>
                <a:path h="566374" w="7406935">
                  <a:moveTo>
                    <a:pt x="0" y="0"/>
                  </a:moveTo>
                  <a:lnTo>
                    <a:pt x="7406935" y="0"/>
                  </a:lnTo>
                  <a:lnTo>
                    <a:pt x="7406935" y="566374"/>
                  </a:lnTo>
                  <a:lnTo>
                    <a:pt x="0" y="566374"/>
                  </a:lnTo>
                  <a:close/>
                </a:path>
              </a:pathLst>
            </a:custGeom>
            <a:blipFill>
              <a:blip r:embed="rId7">
                <a:alphaModFix amt="0"/>
              </a:blip>
              <a:stretch>
                <a:fillRect l="0" t="-181462" r="14258" b="-155513"/>
              </a:stretch>
            </a:blipFill>
          </p:spPr>
        </p:sp>
        <p:sp>
          <p:nvSpPr>
            <p:cNvPr name="TextBox 19" id="19"/>
            <p:cNvSpPr txBox="true"/>
            <p:nvPr/>
          </p:nvSpPr>
          <p:spPr>
            <a:xfrm>
              <a:off x="0" y="-9525"/>
              <a:ext cx="7406935" cy="575899"/>
            </a:xfrm>
            <a:prstGeom prst="rect">
              <a:avLst/>
            </a:prstGeom>
          </p:spPr>
          <p:txBody>
            <a:bodyPr anchor="ctr" rtlCol="false" tIns="0" lIns="0" bIns="0" rIns="0"/>
            <a:lstStyle/>
            <a:p>
              <a:pPr algn="l">
                <a:lnSpc>
                  <a:spcPts val="2639"/>
                </a:lnSpc>
              </a:pPr>
              <a:r>
                <a:rPr lang="en-US" sz="2199" b="true">
                  <a:solidFill>
                    <a:srgbClr val="000000"/>
                  </a:solidFill>
                  <a:latin typeface="Roboto Bold"/>
                  <a:ea typeface="Roboto Bold"/>
                  <a:cs typeface="Roboto Bold"/>
                  <a:sym typeface="Roboto Bold"/>
                </a:rPr>
                <a:t>Quản lý Kafka Message</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81892" y="321078"/>
            <a:ext cx="3443430" cy="981246"/>
            <a:chOff x="0" y="0"/>
            <a:chExt cx="4591240" cy="1308329"/>
          </a:xfrm>
        </p:grpSpPr>
        <p:sp>
          <p:nvSpPr>
            <p:cNvPr name="Freeform 4" id="4" descr="Blue text on a black background  AI-generated content may be incorrect."/>
            <p:cNvSpPr/>
            <p:nvPr/>
          </p:nvSpPr>
          <p:spPr>
            <a:xfrm flipH="false" flipV="false" rot="0">
              <a:off x="0" y="0"/>
              <a:ext cx="4591177" cy="1308354"/>
            </a:xfrm>
            <a:custGeom>
              <a:avLst/>
              <a:gdLst/>
              <a:ahLst/>
              <a:cxnLst/>
              <a:rect r="r" b="b" t="t" l="l"/>
              <a:pathLst>
                <a:path h="1308354" w="4591177">
                  <a:moveTo>
                    <a:pt x="0" y="0"/>
                  </a:moveTo>
                  <a:lnTo>
                    <a:pt x="4591177" y="0"/>
                  </a:lnTo>
                  <a:lnTo>
                    <a:pt x="4591177" y="1308354"/>
                  </a:lnTo>
                  <a:lnTo>
                    <a:pt x="0" y="1308354"/>
                  </a:lnTo>
                  <a:lnTo>
                    <a:pt x="0" y="0"/>
                  </a:lnTo>
                  <a:close/>
                </a:path>
              </a:pathLst>
            </a:custGeom>
            <a:blipFill>
              <a:blip r:embed="rId3"/>
              <a:stretch>
                <a:fillRect l="0" t="-4" r="-1" b="-3"/>
              </a:stretch>
            </a:blipFill>
          </p:spPr>
        </p:sp>
      </p:grpSp>
      <p:sp>
        <p:nvSpPr>
          <p:cNvPr name="Freeform 5" id="5"/>
          <p:cNvSpPr/>
          <p:nvPr/>
        </p:nvSpPr>
        <p:spPr>
          <a:xfrm flipH="false" flipV="false" rot="0">
            <a:off x="1818337" y="1567142"/>
            <a:ext cx="7231262" cy="3498123"/>
          </a:xfrm>
          <a:custGeom>
            <a:avLst/>
            <a:gdLst/>
            <a:ahLst/>
            <a:cxnLst/>
            <a:rect r="r" b="b" t="t" l="l"/>
            <a:pathLst>
              <a:path h="3498123" w="7231262">
                <a:moveTo>
                  <a:pt x="0" y="0"/>
                </a:moveTo>
                <a:lnTo>
                  <a:pt x="7231262" y="0"/>
                </a:lnTo>
                <a:lnTo>
                  <a:pt x="7231262" y="3498123"/>
                </a:lnTo>
                <a:lnTo>
                  <a:pt x="0" y="3498123"/>
                </a:lnTo>
                <a:lnTo>
                  <a:pt x="0" y="0"/>
                </a:lnTo>
                <a:close/>
              </a:path>
            </a:pathLst>
          </a:custGeom>
          <a:blipFill>
            <a:blip r:embed="rId4"/>
            <a:stretch>
              <a:fillRect l="0" t="0" r="0" b="0"/>
            </a:stretch>
          </a:blipFill>
        </p:spPr>
      </p:sp>
      <p:sp>
        <p:nvSpPr>
          <p:cNvPr name="Freeform 6" id="6"/>
          <p:cNvSpPr/>
          <p:nvPr/>
        </p:nvSpPr>
        <p:spPr>
          <a:xfrm flipH="false" flipV="false" rot="0">
            <a:off x="9799636" y="1535731"/>
            <a:ext cx="7334095" cy="3529533"/>
          </a:xfrm>
          <a:custGeom>
            <a:avLst/>
            <a:gdLst/>
            <a:ahLst/>
            <a:cxnLst/>
            <a:rect r="r" b="b" t="t" l="l"/>
            <a:pathLst>
              <a:path h="3529533" w="7334095">
                <a:moveTo>
                  <a:pt x="0" y="0"/>
                </a:moveTo>
                <a:lnTo>
                  <a:pt x="7334095" y="0"/>
                </a:lnTo>
                <a:lnTo>
                  <a:pt x="7334095" y="3529534"/>
                </a:lnTo>
                <a:lnTo>
                  <a:pt x="0" y="3529534"/>
                </a:lnTo>
                <a:lnTo>
                  <a:pt x="0" y="0"/>
                </a:lnTo>
                <a:close/>
              </a:path>
            </a:pathLst>
          </a:custGeom>
          <a:blipFill>
            <a:blip r:embed="rId5"/>
            <a:stretch>
              <a:fillRect l="0" t="0" r="0" b="0"/>
            </a:stretch>
          </a:blipFill>
        </p:spPr>
      </p:sp>
      <p:sp>
        <p:nvSpPr>
          <p:cNvPr name="Freeform 7" id="7"/>
          <p:cNvSpPr/>
          <p:nvPr/>
        </p:nvSpPr>
        <p:spPr>
          <a:xfrm flipH="false" flipV="false" rot="0">
            <a:off x="1818337" y="5315487"/>
            <a:ext cx="7231262" cy="3489084"/>
          </a:xfrm>
          <a:custGeom>
            <a:avLst/>
            <a:gdLst/>
            <a:ahLst/>
            <a:cxnLst/>
            <a:rect r="r" b="b" t="t" l="l"/>
            <a:pathLst>
              <a:path h="3489084" w="7231262">
                <a:moveTo>
                  <a:pt x="0" y="0"/>
                </a:moveTo>
                <a:lnTo>
                  <a:pt x="7231262" y="0"/>
                </a:lnTo>
                <a:lnTo>
                  <a:pt x="7231262" y="3489084"/>
                </a:lnTo>
                <a:lnTo>
                  <a:pt x="0" y="3489084"/>
                </a:lnTo>
                <a:lnTo>
                  <a:pt x="0" y="0"/>
                </a:lnTo>
                <a:close/>
              </a:path>
            </a:pathLst>
          </a:custGeom>
          <a:blipFill>
            <a:blip r:embed="rId6"/>
            <a:stretch>
              <a:fillRect l="0" t="0" r="0" b="0"/>
            </a:stretch>
          </a:blipFill>
        </p:spPr>
      </p:sp>
      <p:sp>
        <p:nvSpPr>
          <p:cNvPr name="Freeform 8" id="8"/>
          <p:cNvSpPr/>
          <p:nvPr/>
        </p:nvSpPr>
        <p:spPr>
          <a:xfrm flipH="false" flipV="false" rot="0">
            <a:off x="9799636" y="5356375"/>
            <a:ext cx="7250822" cy="3407308"/>
          </a:xfrm>
          <a:custGeom>
            <a:avLst/>
            <a:gdLst/>
            <a:ahLst/>
            <a:cxnLst/>
            <a:rect r="r" b="b" t="t" l="l"/>
            <a:pathLst>
              <a:path h="3407308" w="7250822">
                <a:moveTo>
                  <a:pt x="0" y="0"/>
                </a:moveTo>
                <a:lnTo>
                  <a:pt x="7250822" y="0"/>
                </a:lnTo>
                <a:lnTo>
                  <a:pt x="7250822" y="3407308"/>
                </a:lnTo>
                <a:lnTo>
                  <a:pt x="0" y="3407308"/>
                </a:lnTo>
                <a:lnTo>
                  <a:pt x="0" y="0"/>
                </a:lnTo>
                <a:close/>
              </a:path>
            </a:pathLst>
          </a:custGeom>
          <a:blipFill>
            <a:blip r:embed="rId7"/>
            <a:stretch>
              <a:fillRect l="0" t="-1604" r="0" b="-1604"/>
            </a:stretch>
          </a:blipFill>
        </p:spPr>
      </p:sp>
      <p:sp>
        <p:nvSpPr>
          <p:cNvPr name="TextBox 9" id="9"/>
          <p:cNvSpPr txBox="true"/>
          <p:nvPr/>
        </p:nvSpPr>
        <p:spPr>
          <a:xfrm rot="0">
            <a:off x="14953999" y="9367837"/>
            <a:ext cx="2655411" cy="276225"/>
          </a:xfrm>
          <a:prstGeom prst="rect">
            <a:avLst/>
          </a:prstGeom>
        </p:spPr>
        <p:txBody>
          <a:bodyPr anchor="t" rtlCol="false" tIns="0" lIns="0" bIns="0" rIns="0">
            <a:spAutoFit/>
          </a:bodyPr>
          <a:lstStyle/>
          <a:p>
            <a:pPr algn="r">
              <a:lnSpc>
                <a:spcPts val="2100"/>
              </a:lnSpc>
              <a:spcBef>
                <a:spcPct val="0"/>
              </a:spcBef>
            </a:pPr>
            <a:r>
              <a:rPr lang="en-US" sz="1500">
                <a:solidFill>
                  <a:srgbClr val="FFFFFF"/>
                </a:solidFill>
                <a:latin typeface="Roboto"/>
                <a:ea typeface="Roboto"/>
                <a:cs typeface="Roboto"/>
                <a:sym typeface="Roboto"/>
              </a:rPr>
              <a:t>ĐỒ ÁN TỐT NGHIỆP 2025-2026</a:t>
            </a:r>
          </a:p>
        </p:txBody>
      </p:sp>
      <p:sp>
        <p:nvSpPr>
          <p:cNvPr name="TextBox 10" id="10"/>
          <p:cNvSpPr txBox="true"/>
          <p:nvPr/>
        </p:nvSpPr>
        <p:spPr>
          <a:xfrm rot="0">
            <a:off x="494631" y="9239249"/>
            <a:ext cx="152400" cy="219075"/>
          </a:xfrm>
          <a:prstGeom prst="rect">
            <a:avLst/>
          </a:prstGeom>
        </p:spPr>
        <p:txBody>
          <a:bodyPr anchor="t" rtlCol="false" tIns="0" lIns="0" bIns="0" rIns="0" wrap="none">
            <a:spAutoFit/>
          </a:bodyPr>
          <a:lstStyle/>
          <a:p>
            <a:pPr algn="ctr">
              <a:lnSpc>
                <a:spcPts val="4199"/>
              </a:lnSpc>
              <a:spcBef>
                <a:spcPct val="0"/>
              </a:spcBef>
            </a:pPr>
            <a:r>
              <a:rPr lang="en-US" sz="2999">
                <a:solidFill>
                  <a:srgbClr val="FFFFFF"/>
                </a:solidFill>
                <a:latin typeface="Roboto"/>
                <a:ea typeface="Roboto"/>
                <a:cs typeface="Roboto"/>
                <a:sym typeface="Roboto"/>
              </a:rPr>
              <a:t>27</a:t>
            </a:r>
          </a:p>
        </p:txBody>
      </p:sp>
      <p:grpSp>
        <p:nvGrpSpPr>
          <p:cNvPr name="Group 11" id="11"/>
          <p:cNvGrpSpPr/>
          <p:nvPr/>
        </p:nvGrpSpPr>
        <p:grpSpPr>
          <a:xfrm rot="0">
            <a:off x="8930345" y="1097451"/>
            <a:ext cx="1143000" cy="47549"/>
            <a:chOff x="0" y="0"/>
            <a:chExt cx="1524000" cy="63398"/>
          </a:xfrm>
        </p:grpSpPr>
        <p:sp>
          <p:nvSpPr>
            <p:cNvPr name="Freeform 12" id="12"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8"/>
              <a:stretch>
                <a:fillRect l="80" t="0" r="79" b="-40"/>
              </a:stretch>
            </a:blipFill>
          </p:spPr>
        </p:sp>
      </p:grpSp>
      <p:grpSp>
        <p:nvGrpSpPr>
          <p:cNvPr name="Group 13" id="13"/>
          <p:cNvGrpSpPr/>
          <p:nvPr/>
        </p:nvGrpSpPr>
        <p:grpSpPr>
          <a:xfrm rot="0">
            <a:off x="5297858" y="321078"/>
            <a:ext cx="8849211" cy="595523"/>
            <a:chOff x="0" y="0"/>
            <a:chExt cx="11798948" cy="794031"/>
          </a:xfrm>
        </p:grpSpPr>
        <p:sp>
          <p:nvSpPr>
            <p:cNvPr name="Freeform 14" id="14"/>
            <p:cNvSpPr/>
            <p:nvPr/>
          </p:nvSpPr>
          <p:spPr>
            <a:xfrm flipH="false" flipV="false" rot="0">
              <a:off x="0" y="0"/>
              <a:ext cx="11798949" cy="794031"/>
            </a:xfrm>
            <a:custGeom>
              <a:avLst/>
              <a:gdLst/>
              <a:ahLst/>
              <a:cxnLst/>
              <a:rect r="r" b="b" t="t" l="l"/>
              <a:pathLst>
                <a:path h="794031" w="11798949">
                  <a:moveTo>
                    <a:pt x="0" y="0"/>
                  </a:moveTo>
                  <a:lnTo>
                    <a:pt x="11798949" y="0"/>
                  </a:lnTo>
                  <a:lnTo>
                    <a:pt x="11798949" y="794031"/>
                  </a:lnTo>
                  <a:lnTo>
                    <a:pt x="0" y="794031"/>
                  </a:lnTo>
                  <a:close/>
                </a:path>
              </a:pathLst>
            </a:custGeom>
            <a:blipFill>
              <a:blip r:embed="rId9">
                <a:alphaModFix amt="0"/>
              </a:blip>
              <a:stretch>
                <a:fillRect l="0" t="-216847" r="10442" b="-201758"/>
              </a:stretch>
            </a:blipFill>
          </p:spPr>
        </p:sp>
        <p:sp>
          <p:nvSpPr>
            <p:cNvPr name="TextBox 15" id="15"/>
            <p:cNvSpPr txBox="true"/>
            <p:nvPr/>
          </p:nvSpPr>
          <p:spPr>
            <a:xfrm>
              <a:off x="0" y="-19050"/>
              <a:ext cx="11798948"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MONITORING EXPERIMENTS BY MLFLOW</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73819" y="134195"/>
            <a:ext cx="15340362" cy="8628954"/>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5" id="5"/>
          <p:cNvGrpSpPr/>
          <p:nvPr/>
        </p:nvGrpSpPr>
        <p:grpSpPr>
          <a:xfrm rot="0">
            <a:off x="8553298" y="1285646"/>
            <a:ext cx="1143000" cy="47549"/>
            <a:chOff x="0" y="0"/>
            <a:chExt cx="1524000" cy="63398"/>
          </a:xfrm>
        </p:grpSpPr>
        <p:sp>
          <p:nvSpPr>
            <p:cNvPr name="Freeform 6" id="6"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4"/>
              <a:stretch>
                <a:fillRect l="80" t="0" r="79" b="-40"/>
              </a:stretch>
            </a:blipFill>
          </p:spPr>
        </p:sp>
      </p:grpSp>
      <p:grpSp>
        <p:nvGrpSpPr>
          <p:cNvPr name="Group 7" id="7"/>
          <p:cNvGrpSpPr/>
          <p:nvPr/>
        </p:nvGrpSpPr>
        <p:grpSpPr>
          <a:xfrm rot="0">
            <a:off x="1028700" y="9506102"/>
            <a:ext cx="8097012" cy="215472"/>
            <a:chOff x="0" y="0"/>
            <a:chExt cx="10796016" cy="287296"/>
          </a:xfrm>
        </p:grpSpPr>
        <p:sp>
          <p:nvSpPr>
            <p:cNvPr name="Freeform 8" id="8"/>
            <p:cNvSpPr/>
            <p:nvPr/>
          </p:nvSpPr>
          <p:spPr>
            <a:xfrm flipH="false" flipV="false" rot="0">
              <a:off x="0" y="0"/>
              <a:ext cx="10796016" cy="287296"/>
            </a:xfrm>
            <a:custGeom>
              <a:avLst/>
              <a:gdLst/>
              <a:ahLst/>
              <a:cxnLst/>
              <a:rect r="r" b="b" t="t" l="l"/>
              <a:pathLst>
                <a:path h="287296" w="10796016">
                  <a:moveTo>
                    <a:pt x="0" y="0"/>
                  </a:moveTo>
                  <a:lnTo>
                    <a:pt x="10796016" y="0"/>
                  </a:lnTo>
                  <a:lnTo>
                    <a:pt x="10796016" y="287296"/>
                  </a:lnTo>
                  <a:lnTo>
                    <a:pt x="0" y="287296"/>
                  </a:lnTo>
                  <a:close/>
                </a:path>
              </a:pathLst>
            </a:custGeom>
            <a:blipFill>
              <a:blip r:embed="rId5">
                <a:alphaModFix amt="0"/>
              </a:blip>
              <a:stretch>
                <a:fillRect l="0" t="-690196" r="0" b="-674222"/>
              </a:stretch>
            </a:blipFill>
          </p:spPr>
        </p:sp>
        <p:sp>
          <p:nvSpPr>
            <p:cNvPr name="TextBox 9" id="9"/>
            <p:cNvSpPr txBox="true"/>
            <p:nvPr/>
          </p:nvSpPr>
          <p:spPr>
            <a:xfrm>
              <a:off x="0" y="-19050"/>
              <a:ext cx="10796016" cy="306346"/>
            </a:xfrm>
            <a:prstGeom prst="rect">
              <a:avLst/>
            </a:prstGeom>
          </p:spPr>
          <p:txBody>
            <a:bodyPr anchor="ctr" rtlCol="false" tIns="0" lIns="0" bIns="0" rIns="0"/>
            <a:lstStyle/>
            <a:p>
              <a:pPr algn="l">
                <a:lnSpc>
                  <a:spcPts val="1320"/>
                </a:lnSpc>
              </a:pPr>
              <a:r>
                <a:rPr lang="en-US" sz="1100">
                  <a:solidFill>
                    <a:srgbClr val="FFFFFF"/>
                  </a:solidFill>
                  <a:latin typeface="Times New Roman"/>
                  <a:ea typeface="Times New Roman"/>
                  <a:cs typeface="Times New Roman"/>
                  <a:sym typeface="Times New Roman"/>
                </a:rPr>
                <a:t>HỆ THỐNG MLOPS &amp; DATA ENGINEERING CHO THỊ TRƯỜNG CHỨNG KHOÁN THỜI GIAN THỰC</a:t>
              </a:r>
            </a:p>
          </p:txBody>
        </p:sp>
      </p:grpSp>
      <p:grpSp>
        <p:nvGrpSpPr>
          <p:cNvPr name="Group 10" id="10"/>
          <p:cNvGrpSpPr/>
          <p:nvPr/>
        </p:nvGrpSpPr>
        <p:grpSpPr>
          <a:xfrm rot="0">
            <a:off x="14287500" y="9506102"/>
            <a:ext cx="3238805" cy="215472"/>
            <a:chOff x="0" y="0"/>
            <a:chExt cx="4318406" cy="287296"/>
          </a:xfrm>
        </p:grpSpPr>
        <p:sp>
          <p:nvSpPr>
            <p:cNvPr name="Freeform 11" id="11"/>
            <p:cNvSpPr/>
            <p:nvPr/>
          </p:nvSpPr>
          <p:spPr>
            <a:xfrm flipH="false" flipV="false" rot="0">
              <a:off x="0" y="0"/>
              <a:ext cx="4318407" cy="287296"/>
            </a:xfrm>
            <a:custGeom>
              <a:avLst/>
              <a:gdLst/>
              <a:ahLst/>
              <a:cxnLst/>
              <a:rect r="r" b="b" t="t" l="l"/>
              <a:pathLst>
                <a:path h="287296" w="4318407">
                  <a:moveTo>
                    <a:pt x="0" y="0"/>
                  </a:moveTo>
                  <a:lnTo>
                    <a:pt x="4318407" y="0"/>
                  </a:lnTo>
                  <a:lnTo>
                    <a:pt x="4318407" y="287296"/>
                  </a:lnTo>
                  <a:lnTo>
                    <a:pt x="0" y="287296"/>
                  </a:lnTo>
                  <a:close/>
                </a:path>
              </a:pathLst>
            </a:custGeom>
            <a:blipFill>
              <a:blip r:embed="rId5">
                <a:alphaModFix amt="0"/>
              </a:blip>
              <a:stretch>
                <a:fillRect l="0" t="-250871" r="0" b="-234896"/>
              </a:stretch>
            </a:blipFill>
          </p:spPr>
        </p:sp>
        <p:sp>
          <p:nvSpPr>
            <p:cNvPr name="TextBox 12" id="12"/>
            <p:cNvSpPr txBox="true"/>
            <p:nvPr/>
          </p:nvSpPr>
          <p:spPr>
            <a:xfrm>
              <a:off x="0" y="-19050"/>
              <a:ext cx="4318406" cy="306346"/>
            </a:xfrm>
            <a:prstGeom prst="rect">
              <a:avLst/>
            </a:prstGeom>
          </p:spPr>
          <p:txBody>
            <a:bodyPr anchor="ctr" rtlCol="false" tIns="0" lIns="0" bIns="0" rIns="0"/>
            <a:lstStyle/>
            <a:p>
              <a:pPr algn="r">
                <a:lnSpc>
                  <a:spcPts val="1320"/>
                </a:lnSpc>
              </a:pPr>
              <a:r>
                <a:rPr lang="en-US" sz="1100">
                  <a:solidFill>
                    <a:srgbClr val="FFFFFF"/>
                  </a:solidFill>
                  <a:latin typeface="Times New Roman"/>
                  <a:ea typeface="Times New Roman"/>
                  <a:cs typeface="Times New Roman"/>
                  <a:sym typeface="Times New Roman"/>
                </a:rPr>
                <a:t>ĐỒ ÁN TỐT NGHIỆP 2025-2026</a:t>
              </a:r>
            </a:p>
          </p:txBody>
        </p:sp>
      </p:grpSp>
      <p:grpSp>
        <p:nvGrpSpPr>
          <p:cNvPr name="Group 13" id="13"/>
          <p:cNvGrpSpPr/>
          <p:nvPr/>
        </p:nvGrpSpPr>
        <p:grpSpPr>
          <a:xfrm rot="0">
            <a:off x="383134" y="9620402"/>
            <a:ext cx="381305" cy="440469"/>
            <a:chOff x="0" y="0"/>
            <a:chExt cx="508406" cy="587292"/>
          </a:xfrm>
        </p:grpSpPr>
        <p:sp>
          <p:nvSpPr>
            <p:cNvPr name="Freeform 14" id="14"/>
            <p:cNvSpPr/>
            <p:nvPr/>
          </p:nvSpPr>
          <p:spPr>
            <a:xfrm flipH="false" flipV="false" rot="0">
              <a:off x="0" y="0"/>
              <a:ext cx="508407" cy="587292"/>
            </a:xfrm>
            <a:custGeom>
              <a:avLst/>
              <a:gdLst/>
              <a:ahLst/>
              <a:cxnLst/>
              <a:rect r="r" b="b" t="t" l="l"/>
              <a:pathLst>
                <a:path h="587292" w="508407">
                  <a:moveTo>
                    <a:pt x="0" y="0"/>
                  </a:moveTo>
                  <a:lnTo>
                    <a:pt x="508407" y="0"/>
                  </a:lnTo>
                  <a:lnTo>
                    <a:pt x="508407" y="587292"/>
                  </a:lnTo>
                  <a:lnTo>
                    <a:pt x="0" y="587292"/>
                  </a:lnTo>
                  <a:close/>
                </a:path>
              </a:pathLst>
            </a:custGeom>
            <a:blipFill>
              <a:blip r:embed="rId5">
                <a:alphaModFix amt="0"/>
              </a:blip>
              <a:stretch>
                <a:fillRect l="-71842" t="0" r="-71842" b="17791"/>
              </a:stretch>
            </a:blipFill>
          </p:spPr>
        </p:sp>
        <p:sp>
          <p:nvSpPr>
            <p:cNvPr name="TextBox 15" id="15"/>
            <p:cNvSpPr txBox="true"/>
            <p:nvPr/>
          </p:nvSpPr>
          <p:spPr>
            <a:xfrm>
              <a:off x="0" y="-19050"/>
              <a:ext cx="508406" cy="606342"/>
            </a:xfrm>
            <a:prstGeom prst="rect">
              <a:avLst/>
            </a:prstGeom>
          </p:spPr>
          <p:txBody>
            <a:bodyPr anchor="ctr" rtlCol="false" tIns="0" lIns="0" bIns="0" rIns="0"/>
            <a:lstStyle/>
            <a:p>
              <a:pPr algn="ctr">
                <a:lnSpc>
                  <a:spcPts val="2640"/>
                </a:lnSpc>
              </a:pPr>
              <a:r>
                <a:rPr lang="en-US" sz="2200">
                  <a:solidFill>
                    <a:srgbClr val="FFFFFF"/>
                  </a:solidFill>
                  <a:latin typeface="Times New Roman"/>
                  <a:ea typeface="Times New Roman"/>
                  <a:cs typeface="Times New Roman"/>
                  <a:sym typeface="Times New Roman"/>
                </a:rPr>
                <a:t>33</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125" b="0"/>
              </a:stretch>
            </a:blipFill>
          </p:spPr>
        </p:sp>
      </p:grpSp>
      <p:grpSp>
        <p:nvGrpSpPr>
          <p:cNvPr name="Group 4" id="4"/>
          <p:cNvGrpSpPr/>
          <p:nvPr/>
        </p:nvGrpSpPr>
        <p:grpSpPr>
          <a:xfrm rot="0">
            <a:off x="666598" y="495605"/>
            <a:ext cx="3448202" cy="981151"/>
            <a:chOff x="0" y="0"/>
            <a:chExt cx="4597603" cy="1308202"/>
          </a:xfrm>
        </p:grpSpPr>
        <p:sp>
          <p:nvSpPr>
            <p:cNvPr name="Freeform 5" id="5"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3"/>
              <a:stretch>
                <a:fillRect l="0" t="0" r="1" b="-117"/>
              </a:stretch>
            </a:blipFill>
          </p:spPr>
        </p:sp>
      </p:grpSp>
      <p:grpSp>
        <p:nvGrpSpPr>
          <p:cNvPr name="Group 6" id="6"/>
          <p:cNvGrpSpPr/>
          <p:nvPr/>
        </p:nvGrpSpPr>
        <p:grpSpPr>
          <a:xfrm rot="0">
            <a:off x="7803490" y="3238805"/>
            <a:ext cx="2686507" cy="715702"/>
            <a:chOff x="0" y="0"/>
            <a:chExt cx="3582010" cy="954269"/>
          </a:xfrm>
        </p:grpSpPr>
        <p:sp>
          <p:nvSpPr>
            <p:cNvPr name="Freeform 7" id="7"/>
            <p:cNvSpPr/>
            <p:nvPr/>
          </p:nvSpPr>
          <p:spPr>
            <a:xfrm flipH="false" flipV="false" rot="0">
              <a:off x="0" y="0"/>
              <a:ext cx="3582009" cy="954270"/>
            </a:xfrm>
            <a:custGeom>
              <a:avLst/>
              <a:gdLst/>
              <a:ahLst/>
              <a:cxnLst/>
              <a:rect r="r" b="b" t="t" l="l"/>
              <a:pathLst>
                <a:path h="954270" w="3582009">
                  <a:moveTo>
                    <a:pt x="0" y="0"/>
                  </a:moveTo>
                  <a:lnTo>
                    <a:pt x="3582009" y="0"/>
                  </a:lnTo>
                  <a:lnTo>
                    <a:pt x="3582009" y="954270"/>
                  </a:lnTo>
                  <a:lnTo>
                    <a:pt x="0" y="954270"/>
                  </a:lnTo>
                  <a:close/>
                </a:path>
              </a:pathLst>
            </a:custGeom>
            <a:blipFill>
              <a:blip r:embed="rId4">
                <a:alphaModFix amt="0"/>
              </a:blip>
              <a:stretch>
                <a:fillRect l="0" t="-31170" r="0" b="-15110"/>
              </a:stretch>
            </a:blipFill>
          </p:spPr>
        </p:sp>
        <p:sp>
          <p:nvSpPr>
            <p:cNvPr name="TextBox 8" id="8"/>
            <p:cNvSpPr txBox="true"/>
            <p:nvPr/>
          </p:nvSpPr>
          <p:spPr>
            <a:xfrm>
              <a:off x="0" y="0"/>
              <a:ext cx="3582010" cy="954269"/>
            </a:xfrm>
            <a:prstGeom prst="rect">
              <a:avLst/>
            </a:prstGeom>
          </p:spPr>
          <p:txBody>
            <a:bodyPr anchor="ctr" rtlCol="false" tIns="0" lIns="0" bIns="0" rIns="0"/>
            <a:lstStyle/>
            <a:p>
              <a:pPr algn="ctr">
                <a:lnSpc>
                  <a:spcPts val="4440"/>
                </a:lnSpc>
              </a:pPr>
              <a:r>
                <a:rPr lang="en-US" b="true" sz="3700" spc="600">
                  <a:solidFill>
                    <a:srgbClr val="F5B82E"/>
                  </a:solidFill>
                  <a:latin typeface="Roboto Bold"/>
                  <a:ea typeface="Roboto Bold"/>
                  <a:cs typeface="Roboto Bold"/>
                  <a:sym typeface="Roboto Bold"/>
                </a:rPr>
                <a:t>PHẦN 05</a:t>
              </a:r>
            </a:p>
          </p:txBody>
        </p:sp>
      </p:grpSp>
      <p:grpSp>
        <p:nvGrpSpPr>
          <p:cNvPr name="Group 9" id="9"/>
          <p:cNvGrpSpPr/>
          <p:nvPr/>
        </p:nvGrpSpPr>
        <p:grpSpPr>
          <a:xfrm rot="0">
            <a:off x="2376526" y="4190695"/>
            <a:ext cx="13545007" cy="1588467"/>
            <a:chOff x="0" y="0"/>
            <a:chExt cx="18060010" cy="2117957"/>
          </a:xfrm>
        </p:grpSpPr>
        <p:sp>
          <p:nvSpPr>
            <p:cNvPr name="Freeform 10" id="10"/>
            <p:cNvSpPr/>
            <p:nvPr/>
          </p:nvSpPr>
          <p:spPr>
            <a:xfrm flipH="false" flipV="false" rot="0">
              <a:off x="0" y="0"/>
              <a:ext cx="18060009" cy="2117956"/>
            </a:xfrm>
            <a:custGeom>
              <a:avLst/>
              <a:gdLst/>
              <a:ahLst/>
              <a:cxnLst/>
              <a:rect r="r" b="b" t="t" l="l"/>
              <a:pathLst>
                <a:path h="2117956" w="18060009">
                  <a:moveTo>
                    <a:pt x="0" y="0"/>
                  </a:moveTo>
                  <a:lnTo>
                    <a:pt x="18060009" y="0"/>
                  </a:lnTo>
                  <a:lnTo>
                    <a:pt x="18060009" y="2117956"/>
                  </a:lnTo>
                  <a:lnTo>
                    <a:pt x="0" y="2117956"/>
                  </a:lnTo>
                  <a:close/>
                </a:path>
              </a:pathLst>
            </a:custGeom>
            <a:blipFill>
              <a:blip r:embed="rId4">
                <a:alphaModFix amt="0"/>
              </a:blip>
              <a:stretch>
                <a:fillRect l="0" t="-124473" r="0" b="-107827"/>
              </a:stretch>
            </a:blipFill>
          </p:spPr>
        </p:sp>
        <p:sp>
          <p:nvSpPr>
            <p:cNvPr name="TextBox 11" id="11"/>
            <p:cNvSpPr txBox="true"/>
            <p:nvPr/>
          </p:nvSpPr>
          <p:spPr>
            <a:xfrm>
              <a:off x="0" y="0"/>
              <a:ext cx="18060010" cy="2117957"/>
            </a:xfrm>
            <a:prstGeom prst="rect">
              <a:avLst/>
            </a:prstGeom>
          </p:spPr>
          <p:txBody>
            <a:bodyPr anchor="ctr" rtlCol="false" tIns="0" lIns="0" bIns="0" rIns="0"/>
            <a:lstStyle/>
            <a:p>
              <a:pPr algn="ctr">
                <a:lnSpc>
                  <a:spcPts val="9840"/>
                </a:lnSpc>
              </a:pPr>
              <a:r>
                <a:rPr lang="en-US" b="true" sz="8200" spc="150">
                  <a:solidFill>
                    <a:srgbClr val="FFFFFF"/>
                  </a:solidFill>
                  <a:latin typeface="Roboto Bold"/>
                  <a:ea typeface="Roboto Bold"/>
                  <a:cs typeface="Roboto Bold"/>
                  <a:sym typeface="Roboto Bold"/>
                </a:rPr>
                <a:t>KẾT LUẬN</a:t>
              </a:r>
            </a:p>
          </p:txBody>
        </p:sp>
      </p:grpSp>
      <p:grpSp>
        <p:nvGrpSpPr>
          <p:cNvPr name="Group 12" id="12"/>
          <p:cNvGrpSpPr/>
          <p:nvPr/>
        </p:nvGrpSpPr>
        <p:grpSpPr>
          <a:xfrm rot="0">
            <a:off x="396850" y="9620402"/>
            <a:ext cx="355702" cy="424780"/>
            <a:chOff x="0" y="0"/>
            <a:chExt cx="474269" cy="566374"/>
          </a:xfrm>
        </p:grpSpPr>
        <p:sp>
          <p:nvSpPr>
            <p:cNvPr name="Freeform 13" id="13"/>
            <p:cNvSpPr/>
            <p:nvPr/>
          </p:nvSpPr>
          <p:spPr>
            <a:xfrm flipH="false" flipV="false" rot="0">
              <a:off x="0" y="0"/>
              <a:ext cx="474269" cy="566373"/>
            </a:xfrm>
            <a:custGeom>
              <a:avLst/>
              <a:gdLst/>
              <a:ahLst/>
              <a:cxnLst/>
              <a:rect r="r" b="b" t="t" l="l"/>
              <a:pathLst>
                <a:path h="566373" w="474269">
                  <a:moveTo>
                    <a:pt x="0" y="0"/>
                  </a:moveTo>
                  <a:lnTo>
                    <a:pt x="474269" y="0"/>
                  </a:lnTo>
                  <a:lnTo>
                    <a:pt x="474269" y="566373"/>
                  </a:lnTo>
                  <a:lnTo>
                    <a:pt x="0" y="566373"/>
                  </a:lnTo>
                  <a:close/>
                </a:path>
              </a:pathLst>
            </a:custGeom>
            <a:blipFill>
              <a:blip r:embed="rId4">
                <a:alphaModFix amt="0"/>
              </a:blip>
              <a:stretch>
                <a:fillRect l="-80612" t="0" r="-80612" b="14755"/>
              </a:stretch>
            </a:blipFill>
          </p:spPr>
        </p:sp>
        <p:sp>
          <p:nvSpPr>
            <p:cNvPr name="TextBox 14" id="14"/>
            <p:cNvSpPr txBox="true"/>
            <p:nvPr/>
          </p:nvSpPr>
          <p:spPr>
            <a:xfrm>
              <a:off x="0" y="-9525"/>
              <a:ext cx="474269"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31</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53" y="-6353"/>
            <a:ext cx="18300697" cy="10299697"/>
            <a:chOff x="0" y="0"/>
            <a:chExt cx="24400929" cy="13732929"/>
          </a:xfrm>
        </p:grpSpPr>
        <p:sp>
          <p:nvSpPr>
            <p:cNvPr name="Freeform 3" id="3"/>
            <p:cNvSpPr/>
            <p:nvPr/>
          </p:nvSpPr>
          <p:spPr>
            <a:xfrm flipH="false" flipV="false" rot="0">
              <a:off x="8509" y="8509"/>
              <a:ext cx="24384001" cy="13716001"/>
            </a:xfrm>
            <a:custGeom>
              <a:avLst/>
              <a:gdLst/>
              <a:ahLst/>
              <a:cxnLst/>
              <a:rect r="r" b="b" t="t" l="l"/>
              <a:pathLst>
                <a:path h="13716001" w="24384001">
                  <a:moveTo>
                    <a:pt x="0" y="0"/>
                  </a:moveTo>
                  <a:lnTo>
                    <a:pt x="24384001" y="0"/>
                  </a:lnTo>
                  <a:lnTo>
                    <a:pt x="24384001" y="13716001"/>
                  </a:lnTo>
                  <a:lnTo>
                    <a:pt x="0" y="13716001"/>
                  </a:lnTo>
                  <a:close/>
                </a:path>
              </a:pathLst>
            </a:custGeom>
            <a:solidFill>
              <a:srgbClr val="FFFFFF"/>
            </a:solidFill>
          </p:spPr>
        </p:sp>
      </p:grpSp>
      <p:grpSp>
        <p:nvGrpSpPr>
          <p:cNvPr name="Group 4" id="4"/>
          <p:cNvGrpSpPr/>
          <p:nvPr/>
        </p:nvGrpSpPr>
        <p:grpSpPr>
          <a:xfrm rot="0">
            <a:off x="0" y="0"/>
            <a:ext cx="18288000" cy="10287000"/>
            <a:chOff x="0" y="0"/>
            <a:chExt cx="24384000" cy="13716000"/>
          </a:xfrm>
        </p:grpSpPr>
        <p:sp>
          <p:nvSpPr>
            <p:cNvPr name="Freeform 5" id="5" descr="gen-dedup-30e60e427f20ca5c648f5f877cdb2037.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54" b="0"/>
              </a:stretch>
            </a:blipFill>
          </p:spPr>
        </p:sp>
      </p:grpSp>
      <p:grpSp>
        <p:nvGrpSpPr>
          <p:cNvPr name="Group 6" id="6"/>
          <p:cNvGrpSpPr/>
          <p:nvPr/>
        </p:nvGrpSpPr>
        <p:grpSpPr>
          <a:xfrm rot="0">
            <a:off x="8553298" y="1285646"/>
            <a:ext cx="1143000" cy="47549"/>
            <a:chOff x="0" y="0"/>
            <a:chExt cx="1524000" cy="63398"/>
          </a:xfrm>
        </p:grpSpPr>
        <p:sp>
          <p:nvSpPr>
            <p:cNvPr name="Freeform 7" id="7"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3"/>
              <a:stretch>
                <a:fillRect l="80" t="0" r="79" b="-40"/>
              </a:stretch>
            </a:blipFill>
          </p:spPr>
        </p:sp>
      </p:grpSp>
      <p:grpSp>
        <p:nvGrpSpPr>
          <p:cNvPr name="Group 8" id="8"/>
          <p:cNvGrpSpPr/>
          <p:nvPr/>
        </p:nvGrpSpPr>
        <p:grpSpPr>
          <a:xfrm rot="0">
            <a:off x="7021678" y="666598"/>
            <a:ext cx="4210812" cy="595523"/>
            <a:chOff x="0" y="0"/>
            <a:chExt cx="5614416" cy="794031"/>
          </a:xfrm>
        </p:grpSpPr>
        <p:sp>
          <p:nvSpPr>
            <p:cNvPr name="Freeform 9" id="9"/>
            <p:cNvSpPr/>
            <p:nvPr/>
          </p:nvSpPr>
          <p:spPr>
            <a:xfrm flipH="false" flipV="false" rot="0">
              <a:off x="0" y="0"/>
              <a:ext cx="5614416" cy="794031"/>
            </a:xfrm>
            <a:custGeom>
              <a:avLst/>
              <a:gdLst/>
              <a:ahLst/>
              <a:cxnLst/>
              <a:rect r="r" b="b" t="t" l="l"/>
              <a:pathLst>
                <a:path h="794031" w="5614416">
                  <a:moveTo>
                    <a:pt x="0" y="0"/>
                  </a:moveTo>
                  <a:lnTo>
                    <a:pt x="5614416" y="0"/>
                  </a:lnTo>
                  <a:lnTo>
                    <a:pt x="5614416" y="794031"/>
                  </a:lnTo>
                  <a:lnTo>
                    <a:pt x="0" y="794031"/>
                  </a:lnTo>
                  <a:close/>
                </a:path>
              </a:pathLst>
            </a:custGeom>
            <a:blipFill>
              <a:blip r:embed="rId4">
                <a:alphaModFix amt="0"/>
              </a:blip>
              <a:stretch>
                <a:fillRect l="0" t="-95319" r="0" b="-80229"/>
              </a:stretch>
            </a:blipFill>
          </p:spPr>
        </p:sp>
        <p:sp>
          <p:nvSpPr>
            <p:cNvPr name="TextBox 10" id="10"/>
            <p:cNvSpPr txBox="true"/>
            <p:nvPr/>
          </p:nvSpPr>
          <p:spPr>
            <a:xfrm>
              <a:off x="0" y="-19050"/>
              <a:ext cx="5614416"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KẾT QUẢ ĐẠT ĐƯỢC</a:t>
              </a:r>
            </a:p>
          </p:txBody>
        </p:sp>
      </p:grpSp>
      <p:grpSp>
        <p:nvGrpSpPr>
          <p:cNvPr name="Group 11" id="11"/>
          <p:cNvGrpSpPr/>
          <p:nvPr/>
        </p:nvGrpSpPr>
        <p:grpSpPr>
          <a:xfrm rot="0">
            <a:off x="14287500" y="9506102"/>
            <a:ext cx="3238805" cy="207628"/>
            <a:chOff x="0" y="0"/>
            <a:chExt cx="4318406" cy="276837"/>
          </a:xfrm>
        </p:grpSpPr>
        <p:sp>
          <p:nvSpPr>
            <p:cNvPr name="Freeform 12" id="12"/>
            <p:cNvSpPr/>
            <p:nvPr/>
          </p:nvSpPr>
          <p:spPr>
            <a:xfrm flipH="false" flipV="false" rot="0">
              <a:off x="0" y="0"/>
              <a:ext cx="4318407" cy="276837"/>
            </a:xfrm>
            <a:custGeom>
              <a:avLst/>
              <a:gdLst/>
              <a:ahLst/>
              <a:cxnLst/>
              <a:rect r="r" b="b" t="t" l="l"/>
              <a:pathLst>
                <a:path h="276837" w="4318407">
                  <a:moveTo>
                    <a:pt x="0" y="0"/>
                  </a:moveTo>
                  <a:lnTo>
                    <a:pt x="4318407" y="0"/>
                  </a:lnTo>
                  <a:lnTo>
                    <a:pt x="4318407" y="276837"/>
                  </a:lnTo>
                  <a:lnTo>
                    <a:pt x="0" y="276837"/>
                  </a:lnTo>
                  <a:close/>
                </a:path>
              </a:pathLst>
            </a:custGeom>
            <a:blipFill>
              <a:blip r:embed="rId4">
                <a:alphaModFix amt="0"/>
              </a:blip>
              <a:stretch>
                <a:fillRect l="0" t="-260349" r="0" b="-247549"/>
              </a:stretch>
            </a:blipFill>
          </p:spPr>
        </p:sp>
        <p:sp>
          <p:nvSpPr>
            <p:cNvPr name="TextBox 13" id="13"/>
            <p:cNvSpPr txBox="true"/>
            <p:nvPr/>
          </p:nvSpPr>
          <p:spPr>
            <a:xfrm>
              <a:off x="0" y="-9525"/>
              <a:ext cx="4318406" cy="286362"/>
            </a:xfrm>
            <a:prstGeom prst="rect">
              <a:avLst/>
            </a:prstGeom>
          </p:spPr>
          <p:txBody>
            <a:bodyPr anchor="ctr" rtlCol="false" tIns="0" lIns="0" bIns="0" rIns="0"/>
            <a:lstStyle/>
            <a:p>
              <a:pPr algn="r">
                <a:lnSpc>
                  <a:spcPts val="1320"/>
                </a:lnSpc>
              </a:pPr>
              <a:r>
                <a:rPr lang="en-US" sz="1100">
                  <a:solidFill>
                    <a:srgbClr val="FFFFFF"/>
                  </a:solidFill>
                  <a:latin typeface="Roboto"/>
                  <a:ea typeface="Roboto"/>
                  <a:cs typeface="Roboto"/>
                  <a:sym typeface="Roboto"/>
                </a:rPr>
                <a:t>ĐỒ ÁN TỐT NGHIỆP 2025-2026</a:t>
              </a:r>
            </a:p>
          </p:txBody>
        </p:sp>
      </p:grpSp>
      <p:grpSp>
        <p:nvGrpSpPr>
          <p:cNvPr name="Group 14" id="14"/>
          <p:cNvGrpSpPr/>
          <p:nvPr/>
        </p:nvGrpSpPr>
        <p:grpSpPr>
          <a:xfrm rot="0">
            <a:off x="384048" y="9620402"/>
            <a:ext cx="381305" cy="424780"/>
            <a:chOff x="0" y="0"/>
            <a:chExt cx="508406" cy="566374"/>
          </a:xfrm>
        </p:grpSpPr>
        <p:sp>
          <p:nvSpPr>
            <p:cNvPr name="Freeform 15" id="15"/>
            <p:cNvSpPr/>
            <p:nvPr/>
          </p:nvSpPr>
          <p:spPr>
            <a:xfrm flipH="false" flipV="false" rot="0">
              <a:off x="0" y="0"/>
              <a:ext cx="508407" cy="566373"/>
            </a:xfrm>
            <a:custGeom>
              <a:avLst/>
              <a:gdLst/>
              <a:ahLst/>
              <a:cxnLst/>
              <a:rect r="r" b="b" t="t" l="l"/>
              <a:pathLst>
                <a:path h="566373" w="508407">
                  <a:moveTo>
                    <a:pt x="0" y="0"/>
                  </a:moveTo>
                  <a:lnTo>
                    <a:pt x="508407" y="0"/>
                  </a:lnTo>
                  <a:lnTo>
                    <a:pt x="508407" y="566373"/>
                  </a:lnTo>
                  <a:lnTo>
                    <a:pt x="0" y="566373"/>
                  </a:lnTo>
                  <a:close/>
                </a:path>
              </a:pathLst>
            </a:custGeom>
            <a:blipFill>
              <a:blip r:embed="rId4">
                <a:alphaModFix amt="0"/>
              </a:blip>
              <a:stretch>
                <a:fillRect l="-71842" t="0" r="-71842" b="14755"/>
              </a:stretch>
            </a:blipFill>
          </p:spPr>
        </p:sp>
        <p:sp>
          <p:nvSpPr>
            <p:cNvPr name="TextBox 16" id="16"/>
            <p:cNvSpPr txBox="true"/>
            <p:nvPr/>
          </p:nvSpPr>
          <p:spPr>
            <a:xfrm>
              <a:off x="0" y="-9525"/>
              <a:ext cx="508406"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32</a:t>
              </a:r>
            </a:p>
          </p:txBody>
        </p:sp>
      </p:grpSp>
      <p:sp>
        <p:nvSpPr>
          <p:cNvPr name="Freeform 17" id="17"/>
          <p:cNvSpPr/>
          <p:nvPr/>
        </p:nvSpPr>
        <p:spPr>
          <a:xfrm flipH="false" flipV="false" rot="0">
            <a:off x="9696298" y="2032317"/>
            <a:ext cx="8034440" cy="5880851"/>
          </a:xfrm>
          <a:custGeom>
            <a:avLst/>
            <a:gdLst/>
            <a:ahLst/>
            <a:cxnLst/>
            <a:rect r="r" b="b" t="t" l="l"/>
            <a:pathLst>
              <a:path h="5880851" w="8034440">
                <a:moveTo>
                  <a:pt x="0" y="0"/>
                </a:moveTo>
                <a:lnTo>
                  <a:pt x="8034439" y="0"/>
                </a:lnTo>
                <a:lnTo>
                  <a:pt x="8034439" y="5880851"/>
                </a:lnTo>
                <a:lnTo>
                  <a:pt x="0" y="5880851"/>
                </a:lnTo>
                <a:lnTo>
                  <a:pt x="0" y="0"/>
                </a:lnTo>
                <a:close/>
              </a:path>
            </a:pathLst>
          </a:custGeom>
          <a:blipFill>
            <a:blip r:embed="rId5"/>
            <a:stretch>
              <a:fillRect l="-74424" t="0" r="-29963" b="0"/>
            </a:stretch>
          </a:blipFill>
        </p:spPr>
      </p:sp>
      <p:sp>
        <p:nvSpPr>
          <p:cNvPr name="TextBox 18" id="18"/>
          <p:cNvSpPr txBox="true"/>
          <p:nvPr/>
        </p:nvSpPr>
        <p:spPr>
          <a:xfrm rot="0">
            <a:off x="2450885" y="2209869"/>
            <a:ext cx="13576218" cy="4685824"/>
          </a:xfrm>
          <a:prstGeom prst="rect">
            <a:avLst/>
          </a:prstGeom>
        </p:spPr>
        <p:txBody>
          <a:bodyPr anchor="t" rtlCol="false" tIns="0" lIns="0" bIns="0" rIns="0">
            <a:spAutoFit/>
          </a:bodyPr>
          <a:lstStyle/>
          <a:p>
            <a:pPr algn="just" marL="579005" indent="-289502" lvl="1">
              <a:lnSpc>
                <a:spcPts val="3218"/>
              </a:lnSpc>
              <a:buFont typeface="Arial"/>
              <a:buChar char="•"/>
            </a:pPr>
            <a:r>
              <a:rPr lang="en-US" sz="2681">
                <a:solidFill>
                  <a:srgbClr val="000000"/>
                </a:solidFill>
                <a:latin typeface="Roboto"/>
                <a:ea typeface="Roboto"/>
                <a:cs typeface="Roboto"/>
                <a:sym typeface="Roboto"/>
              </a:rPr>
              <a:t>Xây dựng hệ thống streaming realtime vận hành liên tục 24/7.</a:t>
            </a:r>
          </a:p>
          <a:p>
            <a:pPr algn="just">
              <a:lnSpc>
                <a:spcPts val="3218"/>
              </a:lnSpc>
            </a:pPr>
          </a:p>
          <a:p>
            <a:pPr algn="just" marL="579005" indent="-289502" lvl="1">
              <a:lnSpc>
                <a:spcPts val="3218"/>
              </a:lnSpc>
              <a:buFont typeface="Arial"/>
              <a:buChar char="•"/>
            </a:pPr>
            <a:r>
              <a:rPr lang="en-US" sz="2681">
                <a:solidFill>
                  <a:srgbClr val="000000"/>
                </a:solidFill>
                <a:latin typeface="Roboto"/>
                <a:ea typeface="Roboto"/>
                <a:cs typeface="Roboto"/>
                <a:sym typeface="Roboto"/>
              </a:rPr>
              <a:t>BOCPD hỗ trợ phát hiện sớm biến động bất thường theo từng mã cổ phiếu.</a:t>
            </a:r>
          </a:p>
          <a:p>
            <a:pPr algn="just">
              <a:lnSpc>
                <a:spcPts val="3218"/>
              </a:lnSpc>
            </a:pPr>
          </a:p>
          <a:p>
            <a:pPr algn="just" marL="579005" indent="-289502" lvl="1">
              <a:lnSpc>
                <a:spcPts val="4156"/>
              </a:lnSpc>
              <a:buFont typeface="Arial"/>
              <a:buChar char="•"/>
            </a:pPr>
            <a:r>
              <a:rPr lang="en-US" sz="2681">
                <a:solidFill>
                  <a:srgbClr val="000000"/>
                </a:solidFill>
                <a:latin typeface="Roboto"/>
                <a:ea typeface="Roboto"/>
                <a:cs typeface="Roboto"/>
                <a:sym typeface="Roboto"/>
              </a:rPr>
              <a:t>Pipeline MLOps tự động hóa train, deploy và retrain mô hình ML.</a:t>
            </a:r>
          </a:p>
          <a:p>
            <a:pPr algn="just">
              <a:lnSpc>
                <a:spcPts val="4156"/>
              </a:lnSpc>
            </a:pPr>
          </a:p>
          <a:p>
            <a:pPr algn="just" marL="579005" indent="-289502" lvl="1">
              <a:lnSpc>
                <a:spcPts val="3218"/>
              </a:lnSpc>
              <a:buFont typeface="Arial"/>
              <a:buChar char="•"/>
            </a:pPr>
            <a:r>
              <a:rPr lang="en-US" sz="2681">
                <a:solidFill>
                  <a:srgbClr val="000000"/>
                </a:solidFill>
                <a:latin typeface="Roboto"/>
                <a:ea typeface="Roboto"/>
                <a:cs typeface="Roboto"/>
                <a:sym typeface="Roboto"/>
              </a:rPr>
              <a:t>ClickHouse hỗ trợ truy vấn dữ liệu lớn với độ trễ thấp phục vụ dashboard và ML.</a:t>
            </a:r>
          </a:p>
          <a:p>
            <a:pPr algn="just">
              <a:lnSpc>
                <a:spcPts val="3218"/>
              </a:lnSpc>
            </a:pPr>
          </a:p>
          <a:p>
            <a:pPr algn="just" marL="579005" indent="-289502" lvl="1">
              <a:lnSpc>
                <a:spcPts val="3218"/>
              </a:lnSpc>
              <a:buFont typeface="Arial"/>
              <a:buChar char="•"/>
            </a:pPr>
            <a:r>
              <a:rPr lang="en-US" sz="2681">
                <a:solidFill>
                  <a:srgbClr val="000000"/>
                </a:solidFill>
                <a:latin typeface="Roboto"/>
                <a:ea typeface="Roboto"/>
                <a:cs typeface="Roboto"/>
                <a:sym typeface="Roboto"/>
              </a:rPr>
              <a:t>Hệ thống monitoring bằng Prometheus, Grafana và Loki giúp giám sát toàn bộ service.</a:t>
            </a:r>
          </a:p>
          <a:p>
            <a:pPr algn="just">
              <a:lnSpc>
                <a:spcPts val="3218"/>
              </a:lnSpc>
            </a:pPr>
          </a:p>
          <a:p>
            <a:pPr algn="just" marL="579005" indent="-289502" lvl="1">
              <a:lnSpc>
                <a:spcPts val="3218"/>
              </a:lnSpc>
              <a:buFont typeface="Arial"/>
              <a:buChar char="•"/>
            </a:pPr>
            <a:r>
              <a:rPr lang="en-US" sz="2681">
                <a:solidFill>
                  <a:srgbClr val="000000"/>
                </a:solidFill>
                <a:latin typeface="Roboto"/>
                <a:ea typeface="Roboto"/>
                <a:cs typeface="Roboto"/>
                <a:sym typeface="Roboto"/>
              </a:rPr>
              <a:t>FinBERT phân tích sentiment tin tức VI/EN để bổ sung tín hiệu thị trường.</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53" y="-6353"/>
            <a:ext cx="18300697" cy="10299697"/>
            <a:chOff x="0" y="0"/>
            <a:chExt cx="24400929" cy="13732929"/>
          </a:xfrm>
        </p:grpSpPr>
        <p:sp>
          <p:nvSpPr>
            <p:cNvPr name="Freeform 3" id="3"/>
            <p:cNvSpPr/>
            <p:nvPr/>
          </p:nvSpPr>
          <p:spPr>
            <a:xfrm flipH="false" flipV="false" rot="0">
              <a:off x="8509" y="8509"/>
              <a:ext cx="24384001" cy="13716001"/>
            </a:xfrm>
            <a:custGeom>
              <a:avLst/>
              <a:gdLst/>
              <a:ahLst/>
              <a:cxnLst/>
              <a:rect r="r" b="b" t="t" l="l"/>
              <a:pathLst>
                <a:path h="13716001" w="24384001">
                  <a:moveTo>
                    <a:pt x="0" y="0"/>
                  </a:moveTo>
                  <a:lnTo>
                    <a:pt x="24384001" y="0"/>
                  </a:lnTo>
                  <a:lnTo>
                    <a:pt x="24384001" y="13716001"/>
                  </a:lnTo>
                  <a:lnTo>
                    <a:pt x="0" y="13716001"/>
                  </a:lnTo>
                  <a:close/>
                </a:path>
              </a:pathLst>
            </a:custGeom>
            <a:solidFill>
              <a:srgbClr val="FFFFFF"/>
            </a:solidFill>
          </p:spPr>
        </p:sp>
      </p:grpSp>
      <p:grpSp>
        <p:nvGrpSpPr>
          <p:cNvPr name="Group 4" id="4"/>
          <p:cNvGrpSpPr/>
          <p:nvPr/>
        </p:nvGrpSpPr>
        <p:grpSpPr>
          <a:xfrm rot="0">
            <a:off x="0" y="0"/>
            <a:ext cx="18288000" cy="10287000"/>
            <a:chOff x="0" y="0"/>
            <a:chExt cx="24384000" cy="13716000"/>
          </a:xfrm>
        </p:grpSpPr>
        <p:sp>
          <p:nvSpPr>
            <p:cNvPr name="Freeform 5" id="5" descr="gen-dedup-30e60e427f20ca5c648f5f877cdb2037.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54" b="0"/>
              </a:stretch>
            </a:blipFill>
          </p:spPr>
        </p:sp>
      </p:grpSp>
      <p:grpSp>
        <p:nvGrpSpPr>
          <p:cNvPr name="Group 6" id="6"/>
          <p:cNvGrpSpPr/>
          <p:nvPr/>
        </p:nvGrpSpPr>
        <p:grpSpPr>
          <a:xfrm rot="0">
            <a:off x="760324" y="1463455"/>
            <a:ext cx="8364474" cy="6812986"/>
            <a:chOff x="0" y="0"/>
            <a:chExt cx="11765408" cy="9583096"/>
          </a:xfrm>
        </p:grpSpPr>
        <p:sp>
          <p:nvSpPr>
            <p:cNvPr name="Freeform 7" id="7"/>
            <p:cNvSpPr/>
            <p:nvPr/>
          </p:nvSpPr>
          <p:spPr>
            <a:xfrm flipH="false" flipV="false" rot="0">
              <a:off x="0" y="0"/>
              <a:ext cx="11765408" cy="9583122"/>
            </a:xfrm>
            <a:custGeom>
              <a:avLst/>
              <a:gdLst/>
              <a:ahLst/>
              <a:cxnLst/>
              <a:rect r="r" b="b" t="t" l="l"/>
              <a:pathLst>
                <a:path h="9583122" w="11765408">
                  <a:moveTo>
                    <a:pt x="0" y="45868"/>
                  </a:moveTo>
                  <a:cubicBezTo>
                    <a:pt x="0" y="20570"/>
                    <a:pt x="21331" y="0"/>
                    <a:pt x="47565" y="0"/>
                  </a:cubicBezTo>
                  <a:lnTo>
                    <a:pt x="11717843" y="0"/>
                  </a:lnTo>
                  <a:cubicBezTo>
                    <a:pt x="11744077" y="0"/>
                    <a:pt x="11765408" y="20570"/>
                    <a:pt x="11765408" y="45868"/>
                  </a:cubicBezTo>
                  <a:lnTo>
                    <a:pt x="11765408" y="9537254"/>
                  </a:lnTo>
                  <a:cubicBezTo>
                    <a:pt x="11765408" y="9562551"/>
                    <a:pt x="11744077" y="9583122"/>
                    <a:pt x="11717843" y="9583122"/>
                  </a:cubicBezTo>
                  <a:lnTo>
                    <a:pt x="47565" y="9583122"/>
                  </a:lnTo>
                  <a:cubicBezTo>
                    <a:pt x="21331" y="9583122"/>
                    <a:pt x="0" y="9562551"/>
                    <a:pt x="0" y="9537254"/>
                  </a:cubicBezTo>
                  <a:close/>
                </a:path>
              </a:pathLst>
            </a:custGeom>
            <a:solidFill>
              <a:srgbClr val="FFF4F0"/>
            </a:solidFill>
          </p:spPr>
        </p:sp>
      </p:grpSp>
      <p:grpSp>
        <p:nvGrpSpPr>
          <p:cNvPr name="Group 8" id="8"/>
          <p:cNvGrpSpPr/>
          <p:nvPr/>
        </p:nvGrpSpPr>
        <p:grpSpPr>
          <a:xfrm rot="0">
            <a:off x="9372600" y="1463455"/>
            <a:ext cx="8458200" cy="6812986"/>
            <a:chOff x="0" y="0"/>
            <a:chExt cx="11277600" cy="9083981"/>
          </a:xfrm>
        </p:grpSpPr>
        <p:sp>
          <p:nvSpPr>
            <p:cNvPr name="Freeform 9" id="9"/>
            <p:cNvSpPr/>
            <p:nvPr/>
          </p:nvSpPr>
          <p:spPr>
            <a:xfrm flipH="false" flipV="false" rot="0">
              <a:off x="0" y="0"/>
              <a:ext cx="11277600" cy="9084007"/>
            </a:xfrm>
            <a:custGeom>
              <a:avLst/>
              <a:gdLst/>
              <a:ahLst/>
              <a:cxnLst/>
              <a:rect r="r" b="b" t="t" l="l"/>
              <a:pathLst>
                <a:path h="9084007" w="11277600">
                  <a:moveTo>
                    <a:pt x="0" y="43479"/>
                  </a:moveTo>
                  <a:cubicBezTo>
                    <a:pt x="0" y="19499"/>
                    <a:pt x="20447" y="0"/>
                    <a:pt x="45593" y="0"/>
                  </a:cubicBezTo>
                  <a:lnTo>
                    <a:pt x="11232007" y="0"/>
                  </a:lnTo>
                  <a:cubicBezTo>
                    <a:pt x="11257153" y="0"/>
                    <a:pt x="11277600" y="19499"/>
                    <a:pt x="11277600" y="43479"/>
                  </a:cubicBezTo>
                  <a:lnTo>
                    <a:pt x="11277600" y="9040526"/>
                  </a:lnTo>
                  <a:cubicBezTo>
                    <a:pt x="11277600" y="9064506"/>
                    <a:pt x="11257153" y="9084007"/>
                    <a:pt x="11232007" y="9084007"/>
                  </a:cubicBezTo>
                  <a:lnTo>
                    <a:pt x="45593" y="9084007"/>
                  </a:lnTo>
                  <a:cubicBezTo>
                    <a:pt x="20447" y="9084007"/>
                    <a:pt x="0" y="9064506"/>
                    <a:pt x="0" y="9040526"/>
                  </a:cubicBezTo>
                  <a:close/>
                </a:path>
              </a:pathLst>
            </a:custGeom>
            <a:solidFill>
              <a:srgbClr val="F0FCF6"/>
            </a:solidFill>
          </p:spPr>
        </p:sp>
      </p:grpSp>
      <p:grpSp>
        <p:nvGrpSpPr>
          <p:cNvPr name="Group 10" id="10"/>
          <p:cNvGrpSpPr/>
          <p:nvPr/>
        </p:nvGrpSpPr>
        <p:grpSpPr>
          <a:xfrm rot="0">
            <a:off x="8553298" y="1285646"/>
            <a:ext cx="1143000" cy="47549"/>
            <a:chOff x="0" y="0"/>
            <a:chExt cx="1524000" cy="63398"/>
          </a:xfrm>
        </p:grpSpPr>
        <p:sp>
          <p:nvSpPr>
            <p:cNvPr name="Freeform 11" id="11" descr="gen-dedup-7f8257250c29ae4edf93f118f9821b44.png"/>
            <p:cNvSpPr/>
            <p:nvPr/>
          </p:nvSpPr>
          <p:spPr>
            <a:xfrm flipH="false" flipV="false" rot="0">
              <a:off x="0" y="0"/>
              <a:ext cx="1524000" cy="63373"/>
            </a:xfrm>
            <a:custGeom>
              <a:avLst/>
              <a:gdLst/>
              <a:ahLst/>
              <a:cxnLst/>
              <a:rect r="r" b="b" t="t" l="l"/>
              <a:pathLst>
                <a:path h="63373" w="1524000">
                  <a:moveTo>
                    <a:pt x="0" y="0"/>
                  </a:moveTo>
                  <a:lnTo>
                    <a:pt x="1524000" y="0"/>
                  </a:lnTo>
                  <a:lnTo>
                    <a:pt x="1524000" y="63373"/>
                  </a:lnTo>
                  <a:lnTo>
                    <a:pt x="0" y="63373"/>
                  </a:lnTo>
                  <a:lnTo>
                    <a:pt x="0" y="0"/>
                  </a:lnTo>
                  <a:close/>
                </a:path>
              </a:pathLst>
            </a:custGeom>
            <a:blipFill>
              <a:blip r:embed="rId3"/>
              <a:stretch>
                <a:fillRect l="80" t="0" r="79" b="-40"/>
              </a:stretch>
            </a:blipFill>
          </p:spPr>
        </p:sp>
      </p:grpSp>
      <p:grpSp>
        <p:nvGrpSpPr>
          <p:cNvPr name="Group 12" id="12"/>
          <p:cNvGrpSpPr/>
          <p:nvPr/>
        </p:nvGrpSpPr>
        <p:grpSpPr>
          <a:xfrm rot="0">
            <a:off x="5892394" y="666598"/>
            <a:ext cx="6467551" cy="595523"/>
            <a:chOff x="0" y="0"/>
            <a:chExt cx="8623402" cy="794031"/>
          </a:xfrm>
        </p:grpSpPr>
        <p:sp>
          <p:nvSpPr>
            <p:cNvPr name="Freeform 13" id="13"/>
            <p:cNvSpPr/>
            <p:nvPr/>
          </p:nvSpPr>
          <p:spPr>
            <a:xfrm flipH="false" flipV="false" rot="0">
              <a:off x="0" y="0"/>
              <a:ext cx="8623402" cy="794031"/>
            </a:xfrm>
            <a:custGeom>
              <a:avLst/>
              <a:gdLst/>
              <a:ahLst/>
              <a:cxnLst/>
              <a:rect r="r" b="b" t="t" l="l"/>
              <a:pathLst>
                <a:path h="794031" w="8623402">
                  <a:moveTo>
                    <a:pt x="0" y="0"/>
                  </a:moveTo>
                  <a:lnTo>
                    <a:pt x="8623402" y="0"/>
                  </a:lnTo>
                  <a:lnTo>
                    <a:pt x="8623402" y="794031"/>
                  </a:lnTo>
                  <a:lnTo>
                    <a:pt x="0" y="794031"/>
                  </a:lnTo>
                  <a:close/>
                </a:path>
              </a:pathLst>
            </a:custGeom>
            <a:blipFill>
              <a:blip r:embed="rId4">
                <a:alphaModFix amt="0"/>
              </a:blip>
              <a:stretch>
                <a:fillRect l="0" t="-169157" r="0" b="-154068"/>
              </a:stretch>
            </a:blipFill>
          </p:spPr>
        </p:sp>
        <p:sp>
          <p:nvSpPr>
            <p:cNvPr name="TextBox 14" id="14"/>
            <p:cNvSpPr txBox="true"/>
            <p:nvPr/>
          </p:nvSpPr>
          <p:spPr>
            <a:xfrm>
              <a:off x="0" y="-19050"/>
              <a:ext cx="8623402" cy="813081"/>
            </a:xfrm>
            <a:prstGeom prst="rect">
              <a:avLst/>
            </a:prstGeom>
          </p:spPr>
          <p:txBody>
            <a:bodyPr anchor="ctr" rtlCol="false" tIns="0" lIns="0" bIns="0" rIns="0"/>
            <a:lstStyle/>
            <a:p>
              <a:pPr algn="ctr">
                <a:lnSpc>
                  <a:spcPts val="3719"/>
                </a:lnSpc>
              </a:pPr>
              <a:r>
                <a:rPr lang="en-US" sz="3099" b="true">
                  <a:solidFill>
                    <a:srgbClr val="1A1F8E"/>
                  </a:solidFill>
                  <a:latin typeface="Roboto Bold"/>
                  <a:ea typeface="Roboto Bold"/>
                  <a:cs typeface="Roboto Bold"/>
                  <a:sym typeface="Roboto Bold"/>
                </a:rPr>
                <a:t>HẠN CHẾ &amp; HƯỚNG PHÁT TRIỂN</a:t>
              </a:r>
            </a:p>
          </p:txBody>
        </p:sp>
      </p:grpSp>
      <p:grpSp>
        <p:nvGrpSpPr>
          <p:cNvPr name="Group 15" id="15"/>
          <p:cNvGrpSpPr/>
          <p:nvPr/>
        </p:nvGrpSpPr>
        <p:grpSpPr>
          <a:xfrm rot="0">
            <a:off x="1094080" y="1723889"/>
            <a:ext cx="7810805" cy="498549"/>
            <a:chOff x="0" y="0"/>
            <a:chExt cx="10414406" cy="664732"/>
          </a:xfrm>
        </p:grpSpPr>
        <p:sp>
          <p:nvSpPr>
            <p:cNvPr name="Freeform 16" id="16"/>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0883" r="0" b="-239663"/>
              </a:stretch>
            </a:blipFill>
          </p:spPr>
        </p:sp>
        <p:sp>
          <p:nvSpPr>
            <p:cNvPr name="TextBox 17" id="17"/>
            <p:cNvSpPr txBox="true"/>
            <p:nvPr/>
          </p:nvSpPr>
          <p:spPr>
            <a:xfrm>
              <a:off x="0" y="-9525"/>
              <a:ext cx="10414406" cy="674257"/>
            </a:xfrm>
            <a:prstGeom prst="rect">
              <a:avLst/>
            </a:prstGeom>
          </p:spPr>
          <p:txBody>
            <a:bodyPr anchor="ctr" rtlCol="false" tIns="0" lIns="0" bIns="0" rIns="0"/>
            <a:lstStyle/>
            <a:p>
              <a:pPr algn="l">
                <a:lnSpc>
                  <a:spcPts val="3119"/>
                </a:lnSpc>
              </a:pPr>
              <a:r>
                <a:rPr lang="en-US" sz="2599" b="true">
                  <a:solidFill>
                    <a:srgbClr val="FF6B35"/>
                  </a:solidFill>
                  <a:latin typeface="Roboto Bold"/>
                  <a:ea typeface="Roboto Bold"/>
                  <a:cs typeface="Roboto Bold"/>
                  <a:sym typeface="Roboto Bold"/>
                </a:rPr>
                <a:t>HẠN CHẾ HIỆN TẠI</a:t>
              </a:r>
            </a:p>
          </p:txBody>
        </p:sp>
      </p:grpSp>
      <p:grpSp>
        <p:nvGrpSpPr>
          <p:cNvPr name="Group 18" id="18"/>
          <p:cNvGrpSpPr/>
          <p:nvPr/>
        </p:nvGrpSpPr>
        <p:grpSpPr>
          <a:xfrm rot="0">
            <a:off x="1232734" y="2412945"/>
            <a:ext cx="7810805" cy="498548"/>
            <a:chOff x="0" y="0"/>
            <a:chExt cx="10414406" cy="664731"/>
          </a:xfrm>
        </p:grpSpPr>
        <p:sp>
          <p:nvSpPr>
            <p:cNvPr name="Freeform 19" id="19"/>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20" id="20"/>
            <p:cNvSpPr txBox="true"/>
            <p:nvPr/>
          </p:nvSpPr>
          <p:spPr>
            <a:xfrm>
              <a:off x="0" y="-9525"/>
              <a:ext cx="10414406" cy="674256"/>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Dữ liệu </a:t>
              </a:r>
            </a:p>
          </p:txBody>
        </p:sp>
      </p:grpSp>
      <p:grpSp>
        <p:nvGrpSpPr>
          <p:cNvPr name="Group 21" id="21"/>
          <p:cNvGrpSpPr/>
          <p:nvPr/>
        </p:nvGrpSpPr>
        <p:grpSpPr>
          <a:xfrm rot="0">
            <a:off x="1439358" y="2930543"/>
            <a:ext cx="7323761" cy="889073"/>
            <a:chOff x="0" y="0"/>
            <a:chExt cx="9765015" cy="1185431"/>
          </a:xfrm>
        </p:grpSpPr>
        <p:sp>
          <p:nvSpPr>
            <p:cNvPr name="Freeform 22" id="22"/>
            <p:cNvSpPr/>
            <p:nvPr/>
          </p:nvSpPr>
          <p:spPr>
            <a:xfrm flipH="false" flipV="false" rot="0">
              <a:off x="0" y="0"/>
              <a:ext cx="9765016" cy="1185431"/>
            </a:xfrm>
            <a:custGeom>
              <a:avLst/>
              <a:gdLst/>
              <a:ahLst/>
              <a:cxnLst/>
              <a:rect r="r" b="b" t="t" l="l"/>
              <a:pathLst>
                <a:path h="1185431" w="9765016">
                  <a:moveTo>
                    <a:pt x="0" y="0"/>
                  </a:moveTo>
                  <a:lnTo>
                    <a:pt x="9765016" y="0"/>
                  </a:lnTo>
                  <a:lnTo>
                    <a:pt x="9765016" y="1185431"/>
                  </a:lnTo>
                  <a:lnTo>
                    <a:pt x="0" y="1185431"/>
                  </a:lnTo>
                  <a:close/>
                </a:path>
              </a:pathLst>
            </a:custGeom>
            <a:blipFill>
              <a:blip r:embed="rId4">
                <a:alphaModFix amt="0"/>
              </a:blip>
              <a:stretch>
                <a:fillRect l="0" t="-136882" r="-6650" b="-105482"/>
              </a:stretch>
            </a:blipFill>
          </p:spPr>
        </p:sp>
        <p:sp>
          <p:nvSpPr>
            <p:cNvPr name="TextBox 23" id="23"/>
            <p:cNvSpPr txBox="true"/>
            <p:nvPr/>
          </p:nvSpPr>
          <p:spPr>
            <a:xfrm>
              <a:off x="0" y="-9525"/>
              <a:ext cx="9765015"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Dữ</a:t>
              </a:r>
              <a:r>
                <a:rPr lang="en-US" sz="2599">
                  <a:solidFill>
                    <a:srgbClr val="000000"/>
                  </a:solidFill>
                  <a:latin typeface="Roboto"/>
                  <a:ea typeface="Roboto"/>
                  <a:cs typeface="Roboto"/>
                  <a:sym typeface="Roboto"/>
                </a:rPr>
                <a:t> liệu hiện còn phụ thuộc nhiều vào Yahoo Finance và chưa tích hợp nguồn trả phí.</a:t>
              </a:r>
            </a:p>
          </p:txBody>
        </p:sp>
      </p:grpSp>
      <p:grpSp>
        <p:nvGrpSpPr>
          <p:cNvPr name="Group 24" id="24"/>
          <p:cNvGrpSpPr/>
          <p:nvPr/>
        </p:nvGrpSpPr>
        <p:grpSpPr>
          <a:xfrm rot="0">
            <a:off x="1232734" y="4037880"/>
            <a:ext cx="7810805" cy="498548"/>
            <a:chOff x="0" y="0"/>
            <a:chExt cx="10414406" cy="664731"/>
          </a:xfrm>
        </p:grpSpPr>
        <p:sp>
          <p:nvSpPr>
            <p:cNvPr name="Freeform 25" id="25"/>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26" id="26"/>
            <p:cNvSpPr txBox="true"/>
            <p:nvPr/>
          </p:nvSpPr>
          <p:spPr>
            <a:xfrm>
              <a:off x="0" y="-9525"/>
              <a:ext cx="10414406" cy="674256"/>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Mô hình ML </a:t>
              </a:r>
            </a:p>
          </p:txBody>
        </p:sp>
      </p:grpSp>
      <p:grpSp>
        <p:nvGrpSpPr>
          <p:cNvPr name="Group 27" id="27"/>
          <p:cNvGrpSpPr/>
          <p:nvPr/>
        </p:nvGrpSpPr>
        <p:grpSpPr>
          <a:xfrm rot="0">
            <a:off x="1439358" y="4555478"/>
            <a:ext cx="7113939" cy="889073"/>
            <a:chOff x="0" y="0"/>
            <a:chExt cx="9485252" cy="1185431"/>
          </a:xfrm>
        </p:grpSpPr>
        <p:sp>
          <p:nvSpPr>
            <p:cNvPr name="Freeform 28" id="28"/>
            <p:cNvSpPr/>
            <p:nvPr/>
          </p:nvSpPr>
          <p:spPr>
            <a:xfrm flipH="false" flipV="false" rot="0">
              <a:off x="0" y="0"/>
              <a:ext cx="9485253" cy="1185431"/>
            </a:xfrm>
            <a:custGeom>
              <a:avLst/>
              <a:gdLst/>
              <a:ahLst/>
              <a:cxnLst/>
              <a:rect r="r" b="b" t="t" l="l"/>
              <a:pathLst>
                <a:path h="1185431" w="9485253">
                  <a:moveTo>
                    <a:pt x="0" y="0"/>
                  </a:moveTo>
                  <a:lnTo>
                    <a:pt x="9485253" y="0"/>
                  </a:lnTo>
                  <a:lnTo>
                    <a:pt x="9485253" y="1185431"/>
                  </a:lnTo>
                  <a:lnTo>
                    <a:pt x="0" y="1185431"/>
                  </a:lnTo>
                  <a:close/>
                </a:path>
              </a:pathLst>
            </a:custGeom>
            <a:blipFill>
              <a:blip r:embed="rId4">
                <a:alphaModFix amt="0"/>
              </a:blip>
              <a:stretch>
                <a:fillRect l="0" t="-136882" r="-9795" b="-105482"/>
              </a:stretch>
            </a:blipFill>
          </p:spPr>
        </p:sp>
        <p:sp>
          <p:nvSpPr>
            <p:cNvPr name="TextBox 29" id="29"/>
            <p:cNvSpPr txBox="true"/>
            <p:nvPr/>
          </p:nvSpPr>
          <p:spPr>
            <a:xfrm>
              <a:off x="0" y="-9525"/>
              <a:ext cx="9485252"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Mô hình ML còn đơn giản, chủ yếu dựa trên dữ liệu giá và BOCPD.</a:t>
              </a:r>
            </a:p>
          </p:txBody>
        </p:sp>
      </p:grpSp>
      <p:grpSp>
        <p:nvGrpSpPr>
          <p:cNvPr name="Group 30" id="30"/>
          <p:cNvGrpSpPr/>
          <p:nvPr/>
        </p:nvGrpSpPr>
        <p:grpSpPr>
          <a:xfrm rot="0">
            <a:off x="1170432" y="5812385"/>
            <a:ext cx="7810805" cy="498548"/>
            <a:chOff x="0" y="0"/>
            <a:chExt cx="10414406" cy="664731"/>
          </a:xfrm>
        </p:grpSpPr>
        <p:sp>
          <p:nvSpPr>
            <p:cNvPr name="Freeform 31" id="31"/>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32" id="32"/>
            <p:cNvSpPr txBox="true"/>
            <p:nvPr/>
          </p:nvSpPr>
          <p:spPr>
            <a:xfrm>
              <a:off x="0" y="-9525"/>
              <a:ext cx="10414406" cy="674256"/>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Single region / single cluster</a:t>
              </a:r>
            </a:p>
          </p:txBody>
        </p:sp>
      </p:grpSp>
      <p:grpSp>
        <p:nvGrpSpPr>
          <p:cNvPr name="Group 33" id="33"/>
          <p:cNvGrpSpPr/>
          <p:nvPr/>
        </p:nvGrpSpPr>
        <p:grpSpPr>
          <a:xfrm rot="0">
            <a:off x="1439358" y="6530008"/>
            <a:ext cx="6925271" cy="889073"/>
            <a:chOff x="0" y="0"/>
            <a:chExt cx="9233694" cy="1185431"/>
          </a:xfrm>
        </p:grpSpPr>
        <p:sp>
          <p:nvSpPr>
            <p:cNvPr name="Freeform 34" id="34"/>
            <p:cNvSpPr/>
            <p:nvPr/>
          </p:nvSpPr>
          <p:spPr>
            <a:xfrm flipH="false" flipV="false" rot="0">
              <a:off x="0" y="0"/>
              <a:ext cx="9233695" cy="1185431"/>
            </a:xfrm>
            <a:custGeom>
              <a:avLst/>
              <a:gdLst/>
              <a:ahLst/>
              <a:cxnLst/>
              <a:rect r="r" b="b" t="t" l="l"/>
              <a:pathLst>
                <a:path h="1185431" w="9233695">
                  <a:moveTo>
                    <a:pt x="0" y="0"/>
                  </a:moveTo>
                  <a:lnTo>
                    <a:pt x="9233695" y="0"/>
                  </a:lnTo>
                  <a:lnTo>
                    <a:pt x="9233695" y="1185431"/>
                  </a:lnTo>
                  <a:lnTo>
                    <a:pt x="0" y="1185431"/>
                  </a:lnTo>
                  <a:close/>
                </a:path>
              </a:pathLst>
            </a:custGeom>
            <a:blipFill>
              <a:blip r:embed="rId4">
                <a:alphaModFix amt="0"/>
              </a:blip>
              <a:stretch>
                <a:fillRect l="0" t="-136882" r="-12786" b="-105482"/>
              </a:stretch>
            </a:blipFill>
          </p:spPr>
        </p:sp>
        <p:sp>
          <p:nvSpPr>
            <p:cNvPr name="TextBox 35" id="35"/>
            <p:cNvSpPr txBox="true"/>
            <p:nvPr/>
          </p:nvSpPr>
          <p:spPr>
            <a:xfrm>
              <a:off x="0" y="-9525"/>
              <a:ext cx="9233694" cy="1194956"/>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Hệ thố</a:t>
              </a:r>
              <a:r>
                <a:rPr lang="en-US" sz="2599">
                  <a:solidFill>
                    <a:srgbClr val="000000"/>
                  </a:solidFill>
                  <a:latin typeface="Roboto"/>
                  <a:ea typeface="Roboto"/>
                  <a:cs typeface="Roboto"/>
                  <a:sym typeface="Roboto"/>
                </a:rPr>
                <a:t>ng hiện chạy trên single cluster, chưa triển khai đa node thực tế.</a:t>
              </a:r>
            </a:p>
          </p:txBody>
        </p:sp>
      </p:grpSp>
      <p:grpSp>
        <p:nvGrpSpPr>
          <p:cNvPr name="Group 36" id="36"/>
          <p:cNvGrpSpPr/>
          <p:nvPr/>
        </p:nvGrpSpPr>
        <p:grpSpPr>
          <a:xfrm rot="0">
            <a:off x="9657893" y="1621536"/>
            <a:ext cx="7810805" cy="498549"/>
            <a:chOff x="0" y="0"/>
            <a:chExt cx="10414406" cy="664732"/>
          </a:xfrm>
        </p:grpSpPr>
        <p:sp>
          <p:nvSpPr>
            <p:cNvPr name="Freeform 37" id="37"/>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1800" r="0" b="-238746"/>
              </a:stretch>
            </a:blipFill>
          </p:spPr>
        </p:sp>
        <p:sp>
          <p:nvSpPr>
            <p:cNvPr name="TextBox 38" id="38"/>
            <p:cNvSpPr txBox="true"/>
            <p:nvPr/>
          </p:nvSpPr>
          <p:spPr>
            <a:xfrm>
              <a:off x="0" y="-9525"/>
              <a:ext cx="10414406" cy="674257"/>
            </a:xfrm>
            <a:prstGeom prst="rect">
              <a:avLst/>
            </a:prstGeom>
          </p:spPr>
          <p:txBody>
            <a:bodyPr anchor="ctr" rtlCol="false" tIns="0" lIns="0" bIns="0" rIns="0"/>
            <a:lstStyle/>
            <a:p>
              <a:pPr algn="l">
                <a:lnSpc>
                  <a:spcPts val="3119"/>
                </a:lnSpc>
              </a:pPr>
              <a:r>
                <a:rPr lang="en-US" sz="2599" b="true">
                  <a:solidFill>
                    <a:srgbClr val="0F7A5A"/>
                  </a:solidFill>
                  <a:latin typeface="Roboto Bold"/>
                  <a:ea typeface="Roboto Bold"/>
                  <a:cs typeface="Roboto Bold"/>
                  <a:sym typeface="Roboto Bold"/>
                </a:rPr>
                <a:t>HƯỚNG PHÁT TRIỂN</a:t>
              </a:r>
            </a:p>
          </p:txBody>
        </p:sp>
      </p:grpSp>
      <p:grpSp>
        <p:nvGrpSpPr>
          <p:cNvPr name="Group 39" id="39"/>
          <p:cNvGrpSpPr/>
          <p:nvPr/>
        </p:nvGrpSpPr>
        <p:grpSpPr>
          <a:xfrm rot="0">
            <a:off x="9657893" y="2482035"/>
            <a:ext cx="7810805" cy="498549"/>
            <a:chOff x="0" y="0"/>
            <a:chExt cx="10414406" cy="664732"/>
          </a:xfrm>
        </p:grpSpPr>
        <p:sp>
          <p:nvSpPr>
            <p:cNvPr name="Freeform 40" id="40"/>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41" id="41"/>
            <p:cNvSpPr txBox="true"/>
            <p:nvPr/>
          </p:nvSpPr>
          <p:spPr>
            <a:xfrm>
              <a:off x="0" y="-9525"/>
              <a:ext cx="10414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Mở rộng nguồn dữ liệu</a:t>
              </a:r>
            </a:p>
          </p:txBody>
        </p:sp>
      </p:grpSp>
      <p:grpSp>
        <p:nvGrpSpPr>
          <p:cNvPr name="Group 42" id="42"/>
          <p:cNvGrpSpPr/>
          <p:nvPr/>
        </p:nvGrpSpPr>
        <p:grpSpPr>
          <a:xfrm rot="0">
            <a:off x="9806895" y="2911493"/>
            <a:ext cx="7452405" cy="889074"/>
            <a:chOff x="0" y="0"/>
            <a:chExt cx="9936540" cy="1185432"/>
          </a:xfrm>
        </p:grpSpPr>
        <p:sp>
          <p:nvSpPr>
            <p:cNvPr name="Freeform 43" id="43"/>
            <p:cNvSpPr/>
            <p:nvPr/>
          </p:nvSpPr>
          <p:spPr>
            <a:xfrm flipH="false" flipV="false" rot="0">
              <a:off x="0" y="0"/>
              <a:ext cx="9936540" cy="1185432"/>
            </a:xfrm>
            <a:custGeom>
              <a:avLst/>
              <a:gdLst/>
              <a:ahLst/>
              <a:cxnLst/>
              <a:rect r="r" b="b" t="t" l="l"/>
              <a:pathLst>
                <a:path h="1185432" w="9936540">
                  <a:moveTo>
                    <a:pt x="0" y="0"/>
                  </a:moveTo>
                  <a:lnTo>
                    <a:pt x="9936540" y="0"/>
                  </a:lnTo>
                  <a:lnTo>
                    <a:pt x="9936540" y="1185432"/>
                  </a:lnTo>
                  <a:lnTo>
                    <a:pt x="0" y="1185432"/>
                  </a:lnTo>
                  <a:close/>
                </a:path>
              </a:pathLst>
            </a:custGeom>
            <a:blipFill>
              <a:blip r:embed="rId4">
                <a:alphaModFix amt="0"/>
              </a:blip>
              <a:stretch>
                <a:fillRect l="0" t="-136882" r="-4809" b="-105482"/>
              </a:stretch>
            </a:blipFill>
          </p:spPr>
        </p:sp>
        <p:sp>
          <p:nvSpPr>
            <p:cNvPr name="TextBox 44" id="44"/>
            <p:cNvSpPr txBox="true"/>
            <p:nvPr/>
          </p:nvSpPr>
          <p:spPr>
            <a:xfrm>
              <a:off x="0" y="-9525"/>
              <a:ext cx="9936540" cy="1194957"/>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Mở</a:t>
              </a:r>
              <a:r>
                <a:rPr lang="en-US" sz="2599">
                  <a:solidFill>
                    <a:srgbClr val="000000"/>
                  </a:solidFill>
                  <a:latin typeface="Roboto"/>
                  <a:ea typeface="Roboto"/>
                  <a:cs typeface="Roboto"/>
                  <a:sym typeface="Roboto"/>
                </a:rPr>
                <a:t> rộng thêm nguồn dữ liệu chứng khoán và crypto.</a:t>
              </a:r>
            </a:p>
          </p:txBody>
        </p:sp>
      </p:grpSp>
      <p:grpSp>
        <p:nvGrpSpPr>
          <p:cNvPr name="Group 45" id="45"/>
          <p:cNvGrpSpPr/>
          <p:nvPr/>
        </p:nvGrpSpPr>
        <p:grpSpPr>
          <a:xfrm rot="0">
            <a:off x="9657893" y="4051507"/>
            <a:ext cx="7810805" cy="498549"/>
            <a:chOff x="0" y="0"/>
            <a:chExt cx="10414406" cy="664732"/>
          </a:xfrm>
        </p:grpSpPr>
        <p:sp>
          <p:nvSpPr>
            <p:cNvPr name="Freeform 46" id="46"/>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47" id="47"/>
            <p:cNvSpPr txBox="true"/>
            <p:nvPr/>
          </p:nvSpPr>
          <p:spPr>
            <a:xfrm>
              <a:off x="0" y="-9525"/>
              <a:ext cx="10414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Nâng cấp mô hình ML</a:t>
              </a:r>
            </a:p>
          </p:txBody>
        </p:sp>
      </p:grpSp>
      <p:grpSp>
        <p:nvGrpSpPr>
          <p:cNvPr name="Group 48" id="48"/>
          <p:cNvGrpSpPr/>
          <p:nvPr/>
        </p:nvGrpSpPr>
        <p:grpSpPr>
          <a:xfrm rot="0">
            <a:off x="9806895" y="4536428"/>
            <a:ext cx="7810805" cy="889074"/>
            <a:chOff x="0" y="0"/>
            <a:chExt cx="10414406" cy="1185432"/>
          </a:xfrm>
        </p:grpSpPr>
        <p:sp>
          <p:nvSpPr>
            <p:cNvPr name="Freeform 49" id="49"/>
            <p:cNvSpPr/>
            <p:nvPr/>
          </p:nvSpPr>
          <p:spPr>
            <a:xfrm flipH="false" flipV="false" rot="0">
              <a:off x="0" y="0"/>
              <a:ext cx="10414407" cy="1185432"/>
            </a:xfrm>
            <a:custGeom>
              <a:avLst/>
              <a:gdLst/>
              <a:ahLst/>
              <a:cxnLst/>
              <a:rect r="r" b="b" t="t" l="l"/>
              <a:pathLst>
                <a:path h="1185432" w="10414407">
                  <a:moveTo>
                    <a:pt x="0" y="0"/>
                  </a:moveTo>
                  <a:lnTo>
                    <a:pt x="10414407" y="0"/>
                  </a:lnTo>
                  <a:lnTo>
                    <a:pt x="10414407" y="1185432"/>
                  </a:lnTo>
                  <a:lnTo>
                    <a:pt x="0" y="1185432"/>
                  </a:lnTo>
                  <a:close/>
                </a:path>
              </a:pathLst>
            </a:custGeom>
            <a:blipFill>
              <a:blip r:embed="rId4">
                <a:alphaModFix amt="0"/>
              </a:blip>
              <a:stretch>
                <a:fillRect l="0" t="-136882" r="0" b="-105482"/>
              </a:stretch>
            </a:blipFill>
          </p:spPr>
        </p:sp>
        <p:sp>
          <p:nvSpPr>
            <p:cNvPr name="TextBox 50" id="50"/>
            <p:cNvSpPr txBox="true"/>
            <p:nvPr/>
          </p:nvSpPr>
          <p:spPr>
            <a:xfrm>
              <a:off x="0" y="-9525"/>
              <a:ext cx="10414406" cy="1194957"/>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Nâ</a:t>
              </a:r>
              <a:r>
                <a:rPr lang="en-US" sz="2599">
                  <a:solidFill>
                    <a:srgbClr val="000000"/>
                  </a:solidFill>
                  <a:latin typeface="Roboto"/>
                  <a:ea typeface="Roboto"/>
                  <a:cs typeface="Roboto"/>
                  <a:sym typeface="Roboto"/>
                </a:rPr>
                <a:t>ng cấp mô hình ML với nhiều đặc trưng và deep learning.</a:t>
              </a:r>
            </a:p>
          </p:txBody>
        </p:sp>
      </p:grpSp>
      <p:grpSp>
        <p:nvGrpSpPr>
          <p:cNvPr name="Group 51" id="51"/>
          <p:cNvGrpSpPr/>
          <p:nvPr/>
        </p:nvGrpSpPr>
        <p:grpSpPr>
          <a:xfrm rot="0">
            <a:off x="9657893" y="5812384"/>
            <a:ext cx="7810805" cy="498549"/>
            <a:chOff x="0" y="0"/>
            <a:chExt cx="10414406" cy="664732"/>
          </a:xfrm>
        </p:grpSpPr>
        <p:sp>
          <p:nvSpPr>
            <p:cNvPr name="Freeform 52" id="52"/>
            <p:cNvSpPr/>
            <p:nvPr/>
          </p:nvSpPr>
          <p:spPr>
            <a:xfrm flipH="false" flipV="false" rot="0">
              <a:off x="0" y="0"/>
              <a:ext cx="10414407" cy="664732"/>
            </a:xfrm>
            <a:custGeom>
              <a:avLst/>
              <a:gdLst/>
              <a:ahLst/>
              <a:cxnLst/>
              <a:rect r="r" b="b" t="t" l="l"/>
              <a:pathLst>
                <a:path h="664732" w="10414407">
                  <a:moveTo>
                    <a:pt x="0" y="0"/>
                  </a:moveTo>
                  <a:lnTo>
                    <a:pt x="10414407" y="0"/>
                  </a:lnTo>
                  <a:lnTo>
                    <a:pt x="10414407" y="664732"/>
                  </a:lnTo>
                  <a:lnTo>
                    <a:pt x="0" y="664732"/>
                  </a:lnTo>
                  <a:close/>
                </a:path>
              </a:pathLst>
            </a:custGeom>
            <a:blipFill>
              <a:blip r:embed="rId4">
                <a:alphaModFix amt="0"/>
              </a:blip>
              <a:stretch>
                <a:fillRect l="0" t="-274643" r="0" b="-235903"/>
              </a:stretch>
            </a:blipFill>
          </p:spPr>
        </p:sp>
        <p:sp>
          <p:nvSpPr>
            <p:cNvPr name="TextBox 53" id="53"/>
            <p:cNvSpPr txBox="true"/>
            <p:nvPr/>
          </p:nvSpPr>
          <p:spPr>
            <a:xfrm>
              <a:off x="0" y="-9525"/>
              <a:ext cx="10414406" cy="674257"/>
            </a:xfrm>
            <a:prstGeom prst="rect">
              <a:avLst/>
            </a:prstGeom>
          </p:spPr>
          <p:txBody>
            <a:bodyPr anchor="ctr" rtlCol="false" tIns="0" lIns="0" bIns="0" rIns="0"/>
            <a:lstStyle/>
            <a:p>
              <a:pPr algn="l">
                <a:lnSpc>
                  <a:spcPts val="3119"/>
                </a:lnSpc>
              </a:pPr>
              <a:r>
                <a:rPr lang="en-US" b="true" sz="2599">
                  <a:solidFill>
                    <a:srgbClr val="000000"/>
                  </a:solidFill>
                  <a:latin typeface="Roboto Bold"/>
                  <a:ea typeface="Roboto Bold"/>
                  <a:cs typeface="Roboto Bold"/>
                  <a:sym typeface="Roboto Bold"/>
                </a:rPr>
                <a:t>Triển khai Kubernetes/Docker swarm</a:t>
              </a:r>
            </a:p>
          </p:txBody>
        </p:sp>
      </p:grpSp>
      <p:grpSp>
        <p:nvGrpSpPr>
          <p:cNvPr name="Group 54" id="54"/>
          <p:cNvGrpSpPr/>
          <p:nvPr/>
        </p:nvGrpSpPr>
        <p:grpSpPr>
          <a:xfrm rot="0">
            <a:off x="9806895" y="6377608"/>
            <a:ext cx="7661802" cy="889074"/>
            <a:chOff x="0" y="0"/>
            <a:chExt cx="10215737" cy="1185432"/>
          </a:xfrm>
        </p:grpSpPr>
        <p:sp>
          <p:nvSpPr>
            <p:cNvPr name="Freeform 55" id="55"/>
            <p:cNvSpPr/>
            <p:nvPr/>
          </p:nvSpPr>
          <p:spPr>
            <a:xfrm flipH="false" flipV="false" rot="0">
              <a:off x="0" y="0"/>
              <a:ext cx="10215737" cy="1185432"/>
            </a:xfrm>
            <a:custGeom>
              <a:avLst/>
              <a:gdLst/>
              <a:ahLst/>
              <a:cxnLst/>
              <a:rect r="r" b="b" t="t" l="l"/>
              <a:pathLst>
                <a:path h="1185432" w="10215737">
                  <a:moveTo>
                    <a:pt x="0" y="0"/>
                  </a:moveTo>
                  <a:lnTo>
                    <a:pt x="10215737" y="0"/>
                  </a:lnTo>
                  <a:lnTo>
                    <a:pt x="10215737" y="1185432"/>
                  </a:lnTo>
                  <a:lnTo>
                    <a:pt x="0" y="1185432"/>
                  </a:lnTo>
                  <a:close/>
                </a:path>
              </a:pathLst>
            </a:custGeom>
            <a:blipFill>
              <a:blip r:embed="rId4">
                <a:alphaModFix amt="0"/>
              </a:blip>
              <a:stretch>
                <a:fillRect l="0" t="-136882" r="-1944" b="-105482"/>
              </a:stretch>
            </a:blipFill>
          </p:spPr>
        </p:sp>
        <p:sp>
          <p:nvSpPr>
            <p:cNvPr name="TextBox 56" id="56"/>
            <p:cNvSpPr txBox="true"/>
            <p:nvPr/>
          </p:nvSpPr>
          <p:spPr>
            <a:xfrm>
              <a:off x="0" y="-9525"/>
              <a:ext cx="10215737" cy="1194957"/>
            </a:xfrm>
            <a:prstGeom prst="rect">
              <a:avLst/>
            </a:prstGeom>
          </p:spPr>
          <p:txBody>
            <a:bodyPr anchor="ctr" rtlCol="false" tIns="0" lIns="0" bIns="0" rIns="0"/>
            <a:lstStyle/>
            <a:p>
              <a:pPr algn="l">
                <a:lnSpc>
                  <a:spcPts val="3119"/>
                </a:lnSpc>
              </a:pPr>
              <a:r>
                <a:rPr lang="en-US" sz="2599">
                  <a:solidFill>
                    <a:srgbClr val="000000"/>
                  </a:solidFill>
                  <a:latin typeface="Roboto"/>
                  <a:ea typeface="Roboto"/>
                  <a:cs typeface="Roboto"/>
                  <a:sym typeface="Roboto"/>
                </a:rPr>
                <a:t>Tri</a:t>
              </a:r>
              <a:r>
                <a:rPr lang="en-US" sz="2599">
                  <a:solidFill>
                    <a:srgbClr val="000000"/>
                  </a:solidFill>
                  <a:latin typeface="Roboto"/>
                  <a:ea typeface="Roboto"/>
                  <a:cs typeface="Roboto"/>
                  <a:sym typeface="Roboto"/>
                </a:rPr>
                <a:t>ển khai Kubernetes để tăng khả năng scale và chịu tải hệ thống.</a:t>
              </a:r>
            </a:p>
          </p:txBody>
        </p:sp>
      </p:grpSp>
      <p:grpSp>
        <p:nvGrpSpPr>
          <p:cNvPr name="Group 57" id="57"/>
          <p:cNvGrpSpPr/>
          <p:nvPr/>
        </p:nvGrpSpPr>
        <p:grpSpPr>
          <a:xfrm rot="0">
            <a:off x="1028700" y="9506102"/>
            <a:ext cx="8097012" cy="207628"/>
            <a:chOff x="0" y="0"/>
            <a:chExt cx="10796016" cy="276837"/>
          </a:xfrm>
        </p:grpSpPr>
        <p:sp>
          <p:nvSpPr>
            <p:cNvPr name="Freeform 58" id="58"/>
            <p:cNvSpPr/>
            <p:nvPr/>
          </p:nvSpPr>
          <p:spPr>
            <a:xfrm flipH="false" flipV="false" rot="0">
              <a:off x="0" y="0"/>
              <a:ext cx="10796016" cy="276837"/>
            </a:xfrm>
            <a:custGeom>
              <a:avLst/>
              <a:gdLst/>
              <a:ahLst/>
              <a:cxnLst/>
              <a:rect r="r" b="b" t="t" l="l"/>
              <a:pathLst>
                <a:path h="276837" w="10796016">
                  <a:moveTo>
                    <a:pt x="0" y="0"/>
                  </a:moveTo>
                  <a:lnTo>
                    <a:pt x="10796016" y="0"/>
                  </a:lnTo>
                  <a:lnTo>
                    <a:pt x="10796016" y="276837"/>
                  </a:lnTo>
                  <a:lnTo>
                    <a:pt x="0" y="276837"/>
                  </a:lnTo>
                  <a:close/>
                </a:path>
              </a:pathLst>
            </a:custGeom>
            <a:blipFill>
              <a:blip r:embed="rId4">
                <a:alphaModFix amt="0"/>
              </a:blip>
              <a:stretch>
                <a:fillRect l="0" t="-716273" r="0" b="-703473"/>
              </a:stretch>
            </a:blipFill>
          </p:spPr>
        </p:sp>
        <p:sp>
          <p:nvSpPr>
            <p:cNvPr name="TextBox 59" id="59"/>
            <p:cNvSpPr txBox="true"/>
            <p:nvPr/>
          </p:nvSpPr>
          <p:spPr>
            <a:xfrm>
              <a:off x="0" y="-9525"/>
              <a:ext cx="10796016" cy="286362"/>
            </a:xfrm>
            <a:prstGeom prst="rect">
              <a:avLst/>
            </a:prstGeom>
          </p:spPr>
          <p:txBody>
            <a:bodyPr anchor="ctr" rtlCol="false" tIns="0" lIns="0" bIns="0" rIns="0"/>
            <a:lstStyle/>
            <a:p>
              <a:pPr algn="l">
                <a:lnSpc>
                  <a:spcPts val="1320"/>
                </a:lnSpc>
              </a:pPr>
              <a:r>
                <a:rPr lang="en-US" sz="1100">
                  <a:solidFill>
                    <a:srgbClr val="FFFFFF"/>
                  </a:solidFill>
                  <a:latin typeface="Roboto"/>
                  <a:ea typeface="Roboto"/>
                  <a:cs typeface="Roboto"/>
                  <a:sym typeface="Roboto"/>
                </a:rPr>
                <a:t>HỆ THỐNG MLOPS &amp; DATA ENGINEERING CHO THỊ TRƯỜNG CHỨNG KHOÁN THỜI GIAN THỰC</a:t>
              </a:r>
            </a:p>
          </p:txBody>
        </p:sp>
      </p:grpSp>
      <p:grpSp>
        <p:nvGrpSpPr>
          <p:cNvPr name="Group 60" id="60"/>
          <p:cNvGrpSpPr/>
          <p:nvPr/>
        </p:nvGrpSpPr>
        <p:grpSpPr>
          <a:xfrm rot="0">
            <a:off x="14287500" y="9506102"/>
            <a:ext cx="3238805" cy="207628"/>
            <a:chOff x="0" y="0"/>
            <a:chExt cx="4318406" cy="276837"/>
          </a:xfrm>
        </p:grpSpPr>
        <p:sp>
          <p:nvSpPr>
            <p:cNvPr name="Freeform 61" id="61"/>
            <p:cNvSpPr/>
            <p:nvPr/>
          </p:nvSpPr>
          <p:spPr>
            <a:xfrm flipH="false" flipV="false" rot="0">
              <a:off x="0" y="0"/>
              <a:ext cx="4318407" cy="276837"/>
            </a:xfrm>
            <a:custGeom>
              <a:avLst/>
              <a:gdLst/>
              <a:ahLst/>
              <a:cxnLst/>
              <a:rect r="r" b="b" t="t" l="l"/>
              <a:pathLst>
                <a:path h="276837" w="4318407">
                  <a:moveTo>
                    <a:pt x="0" y="0"/>
                  </a:moveTo>
                  <a:lnTo>
                    <a:pt x="4318407" y="0"/>
                  </a:lnTo>
                  <a:lnTo>
                    <a:pt x="4318407" y="276837"/>
                  </a:lnTo>
                  <a:lnTo>
                    <a:pt x="0" y="276837"/>
                  </a:lnTo>
                  <a:close/>
                </a:path>
              </a:pathLst>
            </a:custGeom>
            <a:blipFill>
              <a:blip r:embed="rId4">
                <a:alphaModFix amt="0"/>
              </a:blip>
              <a:stretch>
                <a:fillRect l="0" t="-260349" r="0" b="-247549"/>
              </a:stretch>
            </a:blipFill>
          </p:spPr>
        </p:sp>
        <p:sp>
          <p:nvSpPr>
            <p:cNvPr name="TextBox 62" id="62"/>
            <p:cNvSpPr txBox="true"/>
            <p:nvPr/>
          </p:nvSpPr>
          <p:spPr>
            <a:xfrm>
              <a:off x="0" y="-9525"/>
              <a:ext cx="4318406" cy="286362"/>
            </a:xfrm>
            <a:prstGeom prst="rect">
              <a:avLst/>
            </a:prstGeom>
          </p:spPr>
          <p:txBody>
            <a:bodyPr anchor="ctr" rtlCol="false" tIns="0" lIns="0" bIns="0" rIns="0"/>
            <a:lstStyle/>
            <a:p>
              <a:pPr algn="r">
                <a:lnSpc>
                  <a:spcPts val="1320"/>
                </a:lnSpc>
              </a:pPr>
              <a:r>
                <a:rPr lang="en-US" sz="1100">
                  <a:solidFill>
                    <a:srgbClr val="FFFFFF"/>
                  </a:solidFill>
                  <a:latin typeface="Roboto"/>
                  <a:ea typeface="Roboto"/>
                  <a:cs typeface="Roboto"/>
                  <a:sym typeface="Roboto"/>
                </a:rPr>
                <a:t>ĐỒ ÁN TỐT NGHIỆP 2025-2026</a:t>
              </a:r>
            </a:p>
          </p:txBody>
        </p:sp>
      </p:grpSp>
      <p:grpSp>
        <p:nvGrpSpPr>
          <p:cNvPr name="Group 63" id="63"/>
          <p:cNvGrpSpPr/>
          <p:nvPr/>
        </p:nvGrpSpPr>
        <p:grpSpPr>
          <a:xfrm rot="0">
            <a:off x="383134" y="9620402"/>
            <a:ext cx="381305" cy="424780"/>
            <a:chOff x="0" y="0"/>
            <a:chExt cx="508406" cy="566374"/>
          </a:xfrm>
        </p:grpSpPr>
        <p:sp>
          <p:nvSpPr>
            <p:cNvPr name="Freeform 64" id="64"/>
            <p:cNvSpPr/>
            <p:nvPr/>
          </p:nvSpPr>
          <p:spPr>
            <a:xfrm flipH="false" flipV="false" rot="0">
              <a:off x="0" y="0"/>
              <a:ext cx="508407" cy="566373"/>
            </a:xfrm>
            <a:custGeom>
              <a:avLst/>
              <a:gdLst/>
              <a:ahLst/>
              <a:cxnLst/>
              <a:rect r="r" b="b" t="t" l="l"/>
              <a:pathLst>
                <a:path h="566373" w="508407">
                  <a:moveTo>
                    <a:pt x="0" y="0"/>
                  </a:moveTo>
                  <a:lnTo>
                    <a:pt x="508407" y="0"/>
                  </a:lnTo>
                  <a:lnTo>
                    <a:pt x="508407" y="566373"/>
                  </a:lnTo>
                  <a:lnTo>
                    <a:pt x="0" y="566373"/>
                  </a:lnTo>
                  <a:close/>
                </a:path>
              </a:pathLst>
            </a:custGeom>
            <a:blipFill>
              <a:blip r:embed="rId4">
                <a:alphaModFix amt="0"/>
              </a:blip>
              <a:stretch>
                <a:fillRect l="-71842" t="0" r="-71842" b="14755"/>
              </a:stretch>
            </a:blipFill>
          </p:spPr>
        </p:sp>
        <p:sp>
          <p:nvSpPr>
            <p:cNvPr name="TextBox 65" id="65"/>
            <p:cNvSpPr txBox="true"/>
            <p:nvPr/>
          </p:nvSpPr>
          <p:spPr>
            <a:xfrm>
              <a:off x="0" y="-9525"/>
              <a:ext cx="508406"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33</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53" y="-6353"/>
            <a:ext cx="18300697" cy="10299697"/>
            <a:chOff x="0" y="0"/>
            <a:chExt cx="24400929" cy="13732929"/>
          </a:xfrm>
        </p:grpSpPr>
        <p:sp>
          <p:nvSpPr>
            <p:cNvPr name="Freeform 3" id="3"/>
            <p:cNvSpPr/>
            <p:nvPr/>
          </p:nvSpPr>
          <p:spPr>
            <a:xfrm flipH="false" flipV="false" rot="0">
              <a:off x="8509" y="8509"/>
              <a:ext cx="24384001" cy="13716001"/>
            </a:xfrm>
            <a:custGeom>
              <a:avLst/>
              <a:gdLst/>
              <a:ahLst/>
              <a:cxnLst/>
              <a:rect r="r" b="b" t="t" l="l"/>
              <a:pathLst>
                <a:path h="13716001" w="24384001">
                  <a:moveTo>
                    <a:pt x="0" y="0"/>
                  </a:moveTo>
                  <a:lnTo>
                    <a:pt x="24384001" y="0"/>
                  </a:lnTo>
                  <a:lnTo>
                    <a:pt x="24384001" y="13716001"/>
                  </a:lnTo>
                  <a:lnTo>
                    <a:pt x="0" y="13716001"/>
                  </a:lnTo>
                  <a:close/>
                </a:path>
              </a:pathLst>
            </a:custGeom>
            <a:solidFill>
              <a:srgbClr val="1A1F8E"/>
            </a:solidFill>
          </p:spPr>
        </p:sp>
      </p:grpSp>
      <p:grpSp>
        <p:nvGrpSpPr>
          <p:cNvPr name="Group 4" id="4"/>
          <p:cNvGrpSpPr/>
          <p:nvPr/>
        </p:nvGrpSpPr>
        <p:grpSpPr>
          <a:xfrm rot="0">
            <a:off x="0" y="0"/>
            <a:ext cx="18288000" cy="10287000"/>
            <a:chOff x="0" y="0"/>
            <a:chExt cx="24384000" cy="13716000"/>
          </a:xfrm>
        </p:grpSpPr>
        <p:sp>
          <p:nvSpPr>
            <p:cNvPr name="Freeform 5" id="5" descr="gen-dedup-c257543e517e588ddffb8e0d0db664fa.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125" b="0"/>
              </a:stretch>
            </a:blipFill>
          </p:spPr>
        </p:sp>
      </p:grpSp>
      <p:grpSp>
        <p:nvGrpSpPr>
          <p:cNvPr name="Group 6" id="6"/>
          <p:cNvGrpSpPr/>
          <p:nvPr/>
        </p:nvGrpSpPr>
        <p:grpSpPr>
          <a:xfrm rot="0">
            <a:off x="666598" y="495605"/>
            <a:ext cx="3448202" cy="981151"/>
            <a:chOff x="0" y="0"/>
            <a:chExt cx="4597603" cy="1308202"/>
          </a:xfrm>
        </p:grpSpPr>
        <p:sp>
          <p:nvSpPr>
            <p:cNvPr name="Freeform 7" id="7" descr="gen-dedup-596add0bb1ac5a222a6e798dcc57ce67.png"/>
            <p:cNvSpPr/>
            <p:nvPr/>
          </p:nvSpPr>
          <p:spPr>
            <a:xfrm flipH="false" flipV="false" rot="0">
              <a:off x="0" y="0"/>
              <a:ext cx="4597654" cy="1308227"/>
            </a:xfrm>
            <a:custGeom>
              <a:avLst/>
              <a:gdLst/>
              <a:ahLst/>
              <a:cxnLst/>
              <a:rect r="r" b="b" t="t" l="l"/>
              <a:pathLst>
                <a:path h="1308227" w="4597654">
                  <a:moveTo>
                    <a:pt x="0" y="0"/>
                  </a:moveTo>
                  <a:lnTo>
                    <a:pt x="4597654" y="0"/>
                  </a:lnTo>
                  <a:lnTo>
                    <a:pt x="4597654" y="1308227"/>
                  </a:lnTo>
                  <a:lnTo>
                    <a:pt x="0" y="1308227"/>
                  </a:lnTo>
                  <a:lnTo>
                    <a:pt x="0" y="0"/>
                  </a:lnTo>
                  <a:close/>
                </a:path>
              </a:pathLst>
            </a:custGeom>
            <a:blipFill>
              <a:blip r:embed="rId3"/>
              <a:stretch>
                <a:fillRect l="0" t="0" r="1" b="-117"/>
              </a:stretch>
            </a:blipFill>
          </p:spPr>
        </p:sp>
      </p:grpSp>
      <p:grpSp>
        <p:nvGrpSpPr>
          <p:cNvPr name="Group 8" id="8"/>
          <p:cNvGrpSpPr/>
          <p:nvPr/>
        </p:nvGrpSpPr>
        <p:grpSpPr>
          <a:xfrm rot="0">
            <a:off x="571500" y="3143707"/>
            <a:ext cx="17145000" cy="2327374"/>
            <a:chOff x="0" y="0"/>
            <a:chExt cx="22860000" cy="3103166"/>
          </a:xfrm>
        </p:grpSpPr>
        <p:sp>
          <p:nvSpPr>
            <p:cNvPr name="Freeform 9" id="9"/>
            <p:cNvSpPr/>
            <p:nvPr/>
          </p:nvSpPr>
          <p:spPr>
            <a:xfrm flipH="false" flipV="false" rot="0">
              <a:off x="0" y="0"/>
              <a:ext cx="22860000" cy="3103166"/>
            </a:xfrm>
            <a:custGeom>
              <a:avLst/>
              <a:gdLst/>
              <a:ahLst/>
              <a:cxnLst/>
              <a:rect r="r" b="b" t="t" l="l"/>
              <a:pathLst>
                <a:path h="3103166" w="22860000">
                  <a:moveTo>
                    <a:pt x="0" y="0"/>
                  </a:moveTo>
                  <a:lnTo>
                    <a:pt x="22860000" y="0"/>
                  </a:lnTo>
                  <a:lnTo>
                    <a:pt x="22860000" y="3103166"/>
                  </a:lnTo>
                  <a:lnTo>
                    <a:pt x="0" y="3103166"/>
                  </a:lnTo>
                  <a:close/>
                </a:path>
              </a:pathLst>
            </a:custGeom>
            <a:blipFill>
              <a:blip r:embed="rId4">
                <a:alphaModFix amt="0"/>
              </a:blip>
              <a:stretch>
                <a:fillRect l="0" t="-110792" r="0" b="-76287"/>
              </a:stretch>
            </a:blipFill>
          </p:spPr>
        </p:sp>
        <p:sp>
          <p:nvSpPr>
            <p:cNvPr name="TextBox 10" id="10"/>
            <p:cNvSpPr txBox="true"/>
            <p:nvPr/>
          </p:nvSpPr>
          <p:spPr>
            <a:xfrm>
              <a:off x="0" y="-9525"/>
              <a:ext cx="22860000" cy="3112691"/>
            </a:xfrm>
            <a:prstGeom prst="rect">
              <a:avLst/>
            </a:prstGeom>
          </p:spPr>
          <p:txBody>
            <a:bodyPr anchor="ctr" rtlCol="false" tIns="0" lIns="0" bIns="0" rIns="0"/>
            <a:lstStyle/>
            <a:p>
              <a:pPr algn="ctr">
                <a:lnSpc>
                  <a:spcPts val="14400"/>
                </a:lnSpc>
              </a:pPr>
              <a:r>
                <a:rPr lang="en-US" b="true" sz="12000" spc="300">
                  <a:solidFill>
                    <a:srgbClr val="FFFFFF"/>
                  </a:solidFill>
                  <a:latin typeface="Roboto Bold"/>
                  <a:ea typeface="Roboto Bold"/>
                  <a:cs typeface="Roboto Bold"/>
                  <a:sym typeface="Roboto Bold"/>
                </a:rPr>
                <a:t>CẢM ƠN</a:t>
              </a:r>
            </a:p>
          </p:txBody>
        </p:sp>
      </p:grpSp>
      <p:grpSp>
        <p:nvGrpSpPr>
          <p:cNvPr name="Group 11" id="11"/>
          <p:cNvGrpSpPr/>
          <p:nvPr/>
        </p:nvGrpSpPr>
        <p:grpSpPr>
          <a:xfrm rot="0">
            <a:off x="581558" y="5378415"/>
            <a:ext cx="17145000" cy="872765"/>
            <a:chOff x="0" y="0"/>
            <a:chExt cx="22860000" cy="1163687"/>
          </a:xfrm>
        </p:grpSpPr>
        <p:sp>
          <p:nvSpPr>
            <p:cNvPr name="Freeform 12" id="12"/>
            <p:cNvSpPr/>
            <p:nvPr/>
          </p:nvSpPr>
          <p:spPr>
            <a:xfrm flipH="false" flipV="false" rot="0">
              <a:off x="0" y="0"/>
              <a:ext cx="22860000" cy="1163687"/>
            </a:xfrm>
            <a:custGeom>
              <a:avLst/>
              <a:gdLst/>
              <a:ahLst/>
              <a:cxnLst/>
              <a:rect r="r" b="b" t="t" l="l"/>
              <a:pathLst>
                <a:path h="1163687" w="22860000">
                  <a:moveTo>
                    <a:pt x="0" y="0"/>
                  </a:moveTo>
                  <a:lnTo>
                    <a:pt x="22860000" y="0"/>
                  </a:lnTo>
                  <a:lnTo>
                    <a:pt x="22860000" y="1163687"/>
                  </a:lnTo>
                  <a:lnTo>
                    <a:pt x="0" y="1163687"/>
                  </a:lnTo>
                  <a:close/>
                </a:path>
              </a:pathLst>
            </a:custGeom>
            <a:blipFill>
              <a:blip r:embed="rId4">
                <a:alphaModFix amt="0"/>
              </a:blip>
              <a:stretch>
                <a:fillRect l="0" t="-341283" r="0" b="-324261"/>
              </a:stretch>
            </a:blipFill>
          </p:spPr>
        </p:sp>
        <p:sp>
          <p:nvSpPr>
            <p:cNvPr name="TextBox 13" id="13"/>
            <p:cNvSpPr txBox="true"/>
            <p:nvPr/>
          </p:nvSpPr>
          <p:spPr>
            <a:xfrm>
              <a:off x="0" y="-19050"/>
              <a:ext cx="22860000" cy="1182737"/>
            </a:xfrm>
            <a:prstGeom prst="rect">
              <a:avLst/>
            </a:prstGeom>
          </p:spPr>
          <p:txBody>
            <a:bodyPr anchor="ctr" rtlCol="false" tIns="0" lIns="0" bIns="0" rIns="0"/>
            <a:lstStyle/>
            <a:p>
              <a:pPr algn="ctr">
                <a:lnSpc>
                  <a:spcPts val="5400"/>
                </a:lnSpc>
              </a:pPr>
              <a:r>
                <a:rPr lang="en-US" b="true" sz="4500" spc="600">
                  <a:solidFill>
                    <a:srgbClr val="F5B82E"/>
                  </a:solidFill>
                  <a:latin typeface="Roboto Bold"/>
                  <a:ea typeface="Roboto Bold"/>
                  <a:cs typeface="Roboto Bold"/>
                  <a:sym typeface="Roboto Bold"/>
                </a:rPr>
                <a:t>QUÝ THẦY CÔ ĐÃ LẮNG NGHE</a:t>
              </a:r>
            </a:p>
          </p:txBody>
        </p:sp>
      </p:grpSp>
      <p:grpSp>
        <p:nvGrpSpPr>
          <p:cNvPr name="Group 14" id="14"/>
          <p:cNvGrpSpPr/>
          <p:nvPr/>
        </p:nvGrpSpPr>
        <p:grpSpPr>
          <a:xfrm rot="0">
            <a:off x="381305" y="9620402"/>
            <a:ext cx="400507" cy="424780"/>
            <a:chOff x="0" y="0"/>
            <a:chExt cx="534010" cy="566374"/>
          </a:xfrm>
        </p:grpSpPr>
        <p:sp>
          <p:nvSpPr>
            <p:cNvPr name="Freeform 15" id="15"/>
            <p:cNvSpPr/>
            <p:nvPr/>
          </p:nvSpPr>
          <p:spPr>
            <a:xfrm flipH="false" flipV="false" rot="0">
              <a:off x="0" y="0"/>
              <a:ext cx="534009" cy="566373"/>
            </a:xfrm>
            <a:custGeom>
              <a:avLst/>
              <a:gdLst/>
              <a:ahLst/>
              <a:cxnLst/>
              <a:rect r="r" b="b" t="t" l="l"/>
              <a:pathLst>
                <a:path h="566373" w="534009">
                  <a:moveTo>
                    <a:pt x="0" y="0"/>
                  </a:moveTo>
                  <a:lnTo>
                    <a:pt x="534009" y="0"/>
                  </a:lnTo>
                  <a:lnTo>
                    <a:pt x="534009" y="566373"/>
                  </a:lnTo>
                  <a:lnTo>
                    <a:pt x="0" y="566373"/>
                  </a:lnTo>
                  <a:close/>
                </a:path>
              </a:pathLst>
            </a:custGeom>
            <a:blipFill>
              <a:blip r:embed="rId4">
                <a:alphaModFix amt="0"/>
              </a:blip>
              <a:stretch>
                <a:fillRect l="-66000" t="0" r="-66000" b="14755"/>
              </a:stretch>
            </a:blipFill>
          </p:spPr>
        </p:sp>
        <p:sp>
          <p:nvSpPr>
            <p:cNvPr name="TextBox 16" id="16"/>
            <p:cNvSpPr txBox="true"/>
            <p:nvPr/>
          </p:nvSpPr>
          <p:spPr>
            <a:xfrm>
              <a:off x="0" y="-9525"/>
              <a:ext cx="534010" cy="575899"/>
            </a:xfrm>
            <a:prstGeom prst="rect">
              <a:avLst/>
            </a:prstGeom>
          </p:spPr>
          <p:txBody>
            <a:bodyPr anchor="ctr" rtlCol="false" tIns="0" lIns="0" bIns="0" rIns="0"/>
            <a:lstStyle/>
            <a:p>
              <a:pPr algn="ctr">
                <a:lnSpc>
                  <a:spcPts val="2640"/>
                </a:lnSpc>
              </a:pPr>
              <a:r>
                <a:rPr lang="en-US" sz="2200">
                  <a:solidFill>
                    <a:srgbClr val="FFFFFF"/>
                  </a:solidFill>
                  <a:latin typeface="Roboto"/>
                  <a:ea typeface="Roboto"/>
                  <a:cs typeface="Roboto"/>
                  <a:sym typeface="Roboto"/>
                </a:rPr>
                <a:t>34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DAHKTlcRWLE</dc:identifier>
  <dcterms:modified xsi:type="dcterms:W3CDTF">2011-08-01T06:04:30Z</dcterms:modified>
  <cp:revision>1</cp:revision>
  <dc:title>SSRC_build_data_platform_stock_market</dc:title>
</cp:coreProperties>
</file>